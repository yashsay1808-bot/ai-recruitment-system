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2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48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59AC9-30A0-440B-AF41-94819212A48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88E1B2-F8F7-41C2-BFC5-B9ECD75AD5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405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37CAD-416E-9C48-752A-F5526ACAF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D98932-B00C-D8A0-A513-DC92F6723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BEB39-25E5-2CC0-3713-7C65ED771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4AEF8-2A01-6551-7454-FB7DB2BED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8E1B2-F8F7-41C2-BFC5-B9ECD75AD53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412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5A7E-0625-4C55-0F84-E09167684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EAC7DD-633C-E347-5238-700725B7C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50173-FF3E-46E1-6CF9-3F7E7D64F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D2BC2-D9E8-E95A-3079-36D16502A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D59C3-843F-63C6-0B88-1124679A7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0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A6602-FA74-09F7-7AF3-ABA73C2F7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C1F86-8539-8AE0-07D2-4EF7189EF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2462F-5F63-841F-72C2-07EEF15CB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26624-A3DE-BE83-1D12-853252FB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374AB-368F-4449-1309-6DF199AB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856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8A260-172A-1750-EC67-95E87A867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D7568-5B21-2CBC-6373-921ED0A4F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57A46-4BB2-1BE0-3390-D80657130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2E9C6-BA55-649B-679A-383673854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ADC92-48C9-A5FA-1557-552929CEA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62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86191-2011-313C-BC4A-0F7A3D1DD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28010-9BB8-CDA2-05A5-12350BB250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C9B92-8874-A515-6E6C-9CE9FFFFC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65BF0-DF7A-9081-962A-B25D777E6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ACC19-1EE4-BABF-2F09-3452EA5F2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6A759-A703-B1E9-1D44-E907A779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604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DDF60-42C2-4CE0-665F-B5D7EEC13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99603-BE71-7FF4-114F-C4FDD99D0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016AF-7681-9D40-BC2C-699E94E74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CA6B90-FF0A-47D9-FD7F-73E06C5630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C91799-D48A-C7C9-301C-77CB51ED1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9C2CC2-49CD-EE89-D5FF-C07F68405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9A69C9-7E04-96DB-33F2-2A458B679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A8B490-4975-5158-8CE6-820249AAC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69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F87CC-D218-BF01-7DCA-67C103C1A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100DCD-0640-07A4-D126-16D86FC3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1037C-8C47-68BF-3653-1EC8391F4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B6E4A3-2867-D101-4840-E57F251C9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295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C109C4-1BE1-AE19-2CBA-3D325EA42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568BBF-F980-D84E-A90E-5B6EEA7D0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49690-52B2-7AE0-1F96-FAA50158F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90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522F8-76CE-AF40-D244-2F556B004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1EE23-344D-DDA0-DFFD-8B1CBCD6D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FA9FC-BFFE-8E98-9D31-8B290D8A6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78BA9-8F40-2C80-7E56-0FF85713B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74A4D-58E7-88E7-1E3D-753A3E586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58AE5-A843-328D-2DAC-EDECF2578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670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9C0B2-79BC-ED10-5C8D-62363C3FD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4834B8-4B03-D558-5ED4-E99FEEC591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C7E6B2-136D-82CC-2AC6-550B8591D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83A53-1AC4-03CA-45BE-D5407628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2EE42-6906-A2A8-2137-3C2628B5B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761E2-571F-8FB6-9ED2-41EAC8CEF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404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A4A70-EBFC-43C6-8D3D-74B59622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B4147-4AC7-062D-620F-66D9870D6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B6EDB-84C4-4775-E2FD-D1E4B0A5C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5D3D5-C8AE-E53F-C5DA-66EE0092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05557-2DC7-3F05-EA69-5052D399D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949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413312-7BE4-FD63-62DB-8AAE1F684D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9735E-90AC-B019-A36A-7D5762238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D1201-8297-5064-C909-85EA26305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8C13F-C621-4EE4-BE50-3B8B7BF01E8F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2C1C4-150A-3E98-3382-1EB018898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5E77E-26C4-9F34-6C71-B07B7CB94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792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47F7F-FC21-7806-64C8-20C291932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D339-83F4-C4D5-6B16-6186F0D2E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89515-A60C-69C1-FB8A-01941E708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98C13F-C621-4EE4-BE50-3B8B7BF01E8F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A96BA-2E86-4B5D-041B-3B92FF4310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A82E0-9AC6-3ABA-4F03-42BA8E5EE0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8062F-E083-4631-A010-A50ED976E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61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9D285-798E-8104-528C-E5668AFCF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">
            <a:extLst>
              <a:ext uri="{FF2B5EF4-FFF2-40B4-BE49-F238E27FC236}">
                <a16:creationId xmlns:a16="http://schemas.microsoft.com/office/drawing/2014/main" id="{48CB5381-9FD1-C4DF-B656-C8292085B585}"/>
              </a:ext>
            </a:extLst>
          </p:cNvPr>
          <p:cNvGrpSpPr/>
          <p:nvPr/>
        </p:nvGrpSpPr>
        <p:grpSpPr>
          <a:xfrm>
            <a:off x="0" y="6392367"/>
            <a:ext cx="12192000" cy="546100"/>
            <a:chOff x="0" y="0"/>
            <a:chExt cx="6186311" cy="277095"/>
          </a:xfrm>
          <a:solidFill>
            <a:srgbClr val="FFC000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0B8F925F-11FB-EFF6-4960-9B0BA07BA68C}"/>
                </a:ext>
              </a:extLst>
            </p:cNvPr>
            <p:cNvSpPr/>
            <p:nvPr/>
          </p:nvSpPr>
          <p:spPr>
            <a:xfrm>
              <a:off x="0" y="0"/>
              <a:ext cx="6186311" cy="277095"/>
            </a:xfrm>
            <a:custGeom>
              <a:avLst/>
              <a:gdLst/>
              <a:ahLst/>
              <a:cxnLst/>
              <a:rect l="l" t="t" r="r" b="b"/>
              <a:pathLst>
                <a:path w="6186311" h="277095">
                  <a:moveTo>
                    <a:pt x="0" y="0"/>
                  </a:moveTo>
                  <a:lnTo>
                    <a:pt x="6186311" y="0"/>
                  </a:lnTo>
                  <a:lnTo>
                    <a:pt x="6186311" y="277095"/>
                  </a:lnTo>
                  <a:lnTo>
                    <a:pt x="0" y="27709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0F9DA9A-5A8B-A2A8-A0DB-CE4B28BEA715}"/>
              </a:ext>
            </a:extLst>
          </p:cNvPr>
          <p:cNvCxnSpPr/>
          <p:nvPr/>
        </p:nvCxnSpPr>
        <p:spPr>
          <a:xfrm>
            <a:off x="0" y="939800"/>
            <a:ext cx="12192000" cy="10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0F071E4F-3FD6-A176-52CA-9FA2D3F16263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726575" y="6426200"/>
            <a:ext cx="317500" cy="317500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79788337-2BED-84C0-3E86-B35B791DFF34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9119414" y="6426200"/>
            <a:ext cx="317500" cy="317500"/>
          </a:xfrm>
          <a:prstGeom prst="rect">
            <a:avLst/>
          </a:prstGeom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CD42C9A5-6E6C-112D-E850-E4079D29FAB1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9512253" y="6426200"/>
            <a:ext cx="317500" cy="317500"/>
          </a:xfrm>
          <a:prstGeom prst="rect">
            <a:avLst/>
          </a:prstGeom>
        </p:spPr>
      </p:pic>
      <p:pic>
        <p:nvPicPr>
          <p:cNvPr id="29" name="Picture 7">
            <a:extLst>
              <a:ext uri="{FF2B5EF4-FFF2-40B4-BE49-F238E27FC236}">
                <a16:creationId xmlns:a16="http://schemas.microsoft.com/office/drawing/2014/main" id="{209C8E3D-8225-BAA7-0C28-6E167F67F86E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9883567" y="6426200"/>
            <a:ext cx="317500" cy="317500"/>
          </a:xfrm>
          <a:prstGeom prst="rect">
            <a:avLst/>
          </a:prstGeom>
        </p:spPr>
      </p:pic>
      <p:sp>
        <p:nvSpPr>
          <p:cNvPr id="30" name="TextBox 8">
            <a:extLst>
              <a:ext uri="{FF2B5EF4-FFF2-40B4-BE49-F238E27FC236}">
                <a16:creationId xmlns:a16="http://schemas.microsoft.com/office/drawing/2014/main" id="{1FEB6311-712E-4402-E008-E3AC6E29D860}"/>
              </a:ext>
            </a:extLst>
          </p:cNvPr>
          <p:cNvSpPr txBox="1"/>
          <p:nvPr/>
        </p:nvSpPr>
        <p:spPr>
          <a:xfrm>
            <a:off x="10201067" y="6448425"/>
            <a:ext cx="1990933" cy="249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 spc="86" dirty="0">
                <a:solidFill>
                  <a:srgbClr val="FFFFFF"/>
                </a:solidFill>
                <a:latin typeface="Lato Bold"/>
              </a:rPr>
              <a:t>https://vitb.ac.in/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AA83D1-4743-C373-91AF-AE8273F03D6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" t="6458" r="666" b="6557"/>
          <a:stretch/>
        </p:blipFill>
        <p:spPr>
          <a:xfrm>
            <a:off x="0" y="-15722"/>
            <a:ext cx="11257935" cy="955522"/>
          </a:xfrm>
          <a:prstGeom prst="rect">
            <a:avLst/>
          </a:prstGeom>
        </p:spPr>
      </p:pic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000574D-CA1D-FA51-564A-12F3557DDA87}"/>
              </a:ext>
            </a:extLst>
          </p:cNvPr>
          <p:cNvSpPr txBox="1">
            <a:spLocks/>
          </p:cNvSpPr>
          <p:nvPr/>
        </p:nvSpPr>
        <p:spPr>
          <a:xfrm>
            <a:off x="123825" y="1026160"/>
            <a:ext cx="11383645" cy="50444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73E52F-59E8-CBB1-F75A-CE7D3B93C217}"/>
              </a:ext>
            </a:extLst>
          </p:cNvPr>
          <p:cNvSpPr txBox="1"/>
          <p:nvPr/>
        </p:nvSpPr>
        <p:spPr>
          <a:xfrm>
            <a:off x="256032" y="6448425"/>
            <a:ext cx="43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ISE, VKIT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AF24BB-1249-0D8A-7587-2844CF631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8E28D7-CD89-E10A-967C-1560DA9D90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1383" y="58917"/>
            <a:ext cx="720000" cy="72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63C572-271A-E280-4DD6-64C1ADB72556}"/>
              </a:ext>
            </a:extLst>
          </p:cNvPr>
          <p:cNvSpPr txBox="1"/>
          <p:nvPr/>
        </p:nvSpPr>
        <p:spPr>
          <a:xfrm>
            <a:off x="264816" y="995858"/>
            <a:ext cx="6145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TEST CASES WITH RESULTS</a:t>
            </a:r>
            <a:endParaRPr lang="en-IN" sz="2800" b="1" dirty="0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30000" y="1500000"/>
          <a:ext cx="1150000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Test resume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Scenario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Expected result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Actual result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Result</a:t>
                      </a:r>
                    </a:p>
                  </a:txBody>
                  <a:tcPr marL="70000" marR="70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Gold Standard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Strong ML engineer with evidence of results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Rank 1, match at least 85%, STRONG HIRE, no red flags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Rank 1, match 88.1%, ATS 100, STRONG HIRE; flags: none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6100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70000" marR="70000" anchor="ctr"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Buzzword Exaggeration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35 listed skills, 4 months of experience, no metrics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Match below 45%, REJECT, unverified-claims and experience flags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Rank 10, match 41.6%, ATS 56, REJECT; flags: Experience Deficit, Unverified Skill Claims, Skill Stuffing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6100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70000" marR="70000" anchor="ctr"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Lateral Partial Match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Flask developer; FastAPI credited through Flask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LEAN HIRE; FastAPI partial match; PyTorch missing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Rank 3, match 61.3%, ATS 92, LEAN HIRE; flags: Required Skills Missing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6100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70000" marR="70000" anchor="ctr"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Corrupt ATS Format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Damaged layout and inconsistent dates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ATS score below 35 and a date-inconsistency flag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Rank 11, match 34.0%, ATS 23, REJECT; flags: No Quantified Impact, Date Inconsistency</a:t>
                      </a:r>
                    </a:p>
                  </a:txBody>
                  <a:tcPr marL="70000" marR="7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6100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70000" marR="70000" anchor="ctr"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30000" y="5500000"/>
            <a:ext cx="11500000" cy="800000"/>
          </a:xfrm>
          <a:prstGeom prst="rect">
            <a:avLst/>
          </a:prstGeom>
          <a:noFill/>
        </p:spPr>
        <p:txBody>
          <a:bodyPr wrap="square" lIns="60000" tIns="30000" rIns="60000" bIns="300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Times New Roman"/>
              </a:rPr>
              <a:t>4 of 4 test resumes passed on the real pipeline (no mock data). These four are part of the automated suite: 78 tests in total (49 Python and 29 JavaScript), all passing.</a:t>
            </a:r>
          </a:p>
        </p:txBody>
      </p:sp>
    </p:spTree>
    <p:extLst>
      <p:ext uri="{BB962C8B-B14F-4D97-AF65-F5344CB8AC3E}">
        <p14:creationId xmlns:p14="http://schemas.microsoft.com/office/powerpoint/2010/main" val="1066131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3963</TotalTime>
  <Words>222</Words>
  <Application>Microsoft Office PowerPoint</Application>
  <PresentationFormat>Widescreen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Lato Bold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Niharika</dc:creator>
  <cp:lastModifiedBy>ARJUN R</cp:lastModifiedBy>
  <cp:revision>98</cp:revision>
  <dcterms:created xsi:type="dcterms:W3CDTF">2025-05-12T14:50:28Z</dcterms:created>
  <dcterms:modified xsi:type="dcterms:W3CDTF">2026-10-15T03:29:38Z</dcterms:modified>
</cp:coreProperties>
</file>