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78" r:id="rId6"/>
    <p:sldId id="262" r:id="rId7"/>
    <p:sldId id="297" r:id="rId8"/>
    <p:sldId id="305" r:id="rId9"/>
    <p:sldId id="263" r:id="rId10"/>
    <p:sldId id="310" r:id="rId11"/>
    <p:sldId id="311" r:id="rId12"/>
    <p:sldId id="317" r:id="rId13"/>
    <p:sldId id="318" r:id="rId14"/>
    <p:sldId id="319" r:id="rId15"/>
    <p:sldId id="315" r:id="rId16"/>
    <p:sldId id="316" r:id="rId17"/>
    <p:sldId id="321" r:id="rId18"/>
    <p:sldId id="312" r:id="rId19"/>
    <p:sldId id="320" r:id="rId20"/>
    <p:sldId id="323" r:id="rId21"/>
    <p:sldId id="325" r:id="rId22"/>
    <p:sldId id="326" r:id="rId23"/>
    <p:sldId id="327" r:id="rId24"/>
    <p:sldId id="328" r:id="rId25"/>
    <p:sldId id="274" r:id="rId26"/>
    <p:sldId id="324" r:id="rId27"/>
    <p:sldId id="32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48"/>
  </p:normalViewPr>
  <p:slideViewPr>
    <p:cSldViewPr snapToGrid="0">
      <p:cViewPr varScale="1">
        <p:scale>
          <a:sx n="67" d="100"/>
          <a:sy n="67" d="100"/>
        </p:scale>
        <p:origin x="572"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t>Weight of each score in the match %</a:t>
            </a:r>
          </a:p>
        </c:rich>
      </c:tx>
      <c:overlay val="0"/>
    </c:title>
    <c:autoTitleDeleted val="0"/>
    <c:plotArea>
      <c:layout/>
      <c:barChart>
        <c:barDir val="col"/>
        <c:grouping val="clustered"/>
        <c:varyColors val="1"/>
        <c:ser>
          <c:idx val="0"/>
          <c:order val="0"/>
          <c:tx>
            <c:strRef>
              <c:f>Sheet1!$B$1</c:f>
              <c:strCache>
                <c:ptCount val="1"/>
                <c:pt idx="0">
                  <c:v>Weight (%)</c:v>
                </c:pt>
              </c:strCache>
            </c:strRef>
          </c:tx>
          <c:spPr>
            <a:solidFill>
              <a:srgbClr val="4472C4"/>
            </a:solidFill>
          </c:spPr>
          <c:invertIfNegative val="1"/>
          <c:dLbls>
            <c:numFmt formatCode="0&quot;%&quot;" sourceLinked="0"/>
            <c:spPr>
              <a:noFill/>
              <a:ln>
                <a:noFill/>
              </a:ln>
              <a:effectLst/>
            </c:spPr>
            <c:txPr>
              <a:bodyPr/>
              <a:lstStyle/>
              <a:p>
                <a:pPr>
                  <a:defRPr sz="12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Skills</c:v>
                </c:pt>
                <c:pt idx="1">
                  <c:v>Semantic JD fit</c:v>
                </c:pt>
                <c:pt idx="2">
                  <c:v>Experience</c:v>
                </c:pt>
                <c:pt idx="3">
                  <c:v>Education</c:v>
                </c:pt>
                <c:pt idx="4">
                  <c:v>Projects</c:v>
                </c:pt>
                <c:pt idx="5">
                  <c:v>Certifications</c:v>
                </c:pt>
                <c:pt idx="6">
                  <c:v>Resume quality</c:v>
                </c:pt>
              </c:strCache>
            </c:strRef>
          </c:cat>
          <c:val>
            <c:numRef>
              <c:f>Sheet1!$B$2:$B$8</c:f>
              <c:numCache>
                <c:formatCode>General</c:formatCode>
                <c:ptCount val="7"/>
                <c:pt idx="0">
                  <c:v>35</c:v>
                </c:pt>
                <c:pt idx="1">
                  <c:v>20</c:v>
                </c:pt>
                <c:pt idx="2">
                  <c:v>15</c:v>
                </c:pt>
                <c:pt idx="3">
                  <c:v>10</c:v>
                </c:pt>
                <c:pt idx="4">
                  <c:v>10</c:v>
                </c:pt>
                <c:pt idx="5">
                  <c:v>5</c:v>
                </c:pt>
                <c:pt idx="6">
                  <c:v>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7C2-4C77-B248-42767A31FE71}"/>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100"/>
            </a:pPr>
            <a:endParaRPr lang="en-US"/>
          </a:p>
        </c:txPr>
        <c:crossAx val="-2113994440"/>
        <c:crosses val="autoZero"/>
        <c:auto val="1"/>
        <c:lblAlgn val="ctr"/>
        <c:lblOffset val="100"/>
        <c:noMultiLvlLbl val="0"/>
      </c:catAx>
      <c:valAx>
        <c:axId val="-2113994440"/>
        <c:scaling>
          <c:orientation val="minMax"/>
          <c:max val="42"/>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latin typeface="Times New Roman"/>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t>Council scores for the gold-standard candidate</a:t>
            </a:r>
          </a:p>
        </c:rich>
      </c:tx>
      <c:overlay val="0"/>
    </c:title>
    <c:autoTitleDeleted val="0"/>
    <c:plotArea>
      <c:layout/>
      <c:barChart>
        <c:barDir val="col"/>
        <c:grouping val="clustered"/>
        <c:varyColors val="1"/>
        <c:ser>
          <c:idx val="0"/>
          <c:order val="0"/>
          <c:tx>
            <c:strRef>
              <c:f>Sheet1!$B$1</c:f>
              <c:strCache>
                <c:ptCount val="1"/>
                <c:pt idx="0">
                  <c:v>Score</c:v>
                </c:pt>
              </c:strCache>
            </c:strRef>
          </c:tx>
          <c:spPr>
            <a:solidFill>
              <a:srgbClr val="4472C4"/>
            </a:solidFill>
          </c:spPr>
          <c:invertIfNegative val="1"/>
          <c:dPt>
            <c:idx val="4"/>
            <c:invertIfNegative val="1"/>
            <c:bubble3D val="0"/>
            <c:spPr>
              <a:solidFill>
                <a:srgbClr val="1F3864"/>
              </a:solidFill>
            </c:spPr>
            <c:extLst>
              <c:ext xmlns:c16="http://schemas.microsoft.com/office/drawing/2014/chart" uri="{C3380CC4-5D6E-409C-BE32-E72D297353CC}">
                <c16:uniqueId val="{00000001-7020-4FB6-83B7-F0C97E645072}"/>
              </c:ext>
            </c:extLst>
          </c:dPt>
          <c:dLbls>
            <c:numFmt formatCode="0.0" sourceLinked="0"/>
            <c:spPr>
              <a:noFill/>
              <a:ln>
                <a:noFill/>
              </a:ln>
              <a:effectLst/>
            </c:spPr>
            <c:txPr>
              <a:bodyPr/>
              <a:lstStyle/>
              <a:p>
                <a:pPr>
                  <a:defRPr sz="12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Tech Lead</c:v>
                </c:pt>
                <c:pt idx="1">
                  <c:v>Culture</c:v>
                </c:pt>
                <c:pt idx="2">
                  <c:v>Fair Auditor</c:v>
                </c:pt>
                <c:pt idx="3">
                  <c:v>Seniority</c:v>
                </c:pt>
                <c:pt idx="4">
                  <c:v>Consensus</c:v>
                </c:pt>
              </c:strCache>
            </c:strRef>
          </c:cat>
          <c:val>
            <c:numRef>
              <c:f>Sheet1!$B$2:$B$6</c:f>
              <c:numCache>
                <c:formatCode>General</c:formatCode>
                <c:ptCount val="5"/>
                <c:pt idx="0">
                  <c:v>88.8</c:v>
                </c:pt>
                <c:pt idx="1">
                  <c:v>78</c:v>
                </c:pt>
                <c:pt idx="2">
                  <c:v>98.8</c:v>
                </c:pt>
                <c:pt idx="3">
                  <c:v>100</c:v>
                </c:pt>
                <c:pt idx="4">
                  <c:v>91.4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7020-4FB6-83B7-F0C97E645072}"/>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max val="11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latin typeface="Times New Roman"/>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t>Processing time per resume (ms)</a:t>
            </a:r>
          </a:p>
        </c:rich>
      </c:tx>
      <c:overlay val="0"/>
    </c:title>
    <c:autoTitleDeleted val="0"/>
    <c:plotArea>
      <c:layout/>
      <c:barChart>
        <c:barDir val="col"/>
        <c:grouping val="clustered"/>
        <c:varyColors val="1"/>
        <c:ser>
          <c:idx val="0"/>
          <c:order val="0"/>
          <c:tx>
            <c:strRef>
              <c:f>Sheet1!$B$1</c:f>
              <c:strCache>
                <c:ptCount val="1"/>
                <c:pt idx="0">
                  <c:v>ms per resume</c:v>
                </c:pt>
              </c:strCache>
            </c:strRef>
          </c:tx>
          <c:spPr>
            <a:solidFill>
              <a:srgbClr val="4472C4"/>
            </a:solidFill>
          </c:spPr>
          <c:invertIfNegative val="1"/>
          <c:dLbls>
            <c:numFmt formatCode="0.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Parse</c:v>
                </c:pt>
                <c:pt idx="1">
                  <c:v>Rank</c:v>
                </c:pt>
                <c:pt idx="2">
                  <c:v>Council</c:v>
                </c:pt>
                <c:pt idx="3">
                  <c:v>Total</c:v>
                </c:pt>
              </c:strCache>
            </c:strRef>
          </c:cat>
          <c:val>
            <c:numRef>
              <c:f>Sheet1!$B$2:$B$5</c:f>
              <c:numCache>
                <c:formatCode>General</c:formatCode>
                <c:ptCount val="4"/>
                <c:pt idx="0">
                  <c:v>18</c:v>
                </c:pt>
                <c:pt idx="1">
                  <c:v>3.8</c:v>
                </c:pt>
                <c:pt idx="2">
                  <c:v>7.8</c:v>
                </c:pt>
                <c:pt idx="3">
                  <c:v>29.6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16E-4A2B-B36E-9A6BFE56D413}"/>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max val="36"/>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latin typeface="Times New Roman"/>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lang="en-IN" sz="1400" b="1"/>
              <a:t>Council verdicts</a:t>
            </a:r>
          </a:p>
        </c:rich>
      </c:tx>
      <c:overlay val="0"/>
    </c:title>
    <c:autoTitleDeleted val="0"/>
    <c:plotArea>
      <c:layout/>
      <c:doughnutChart>
        <c:varyColors val="1"/>
        <c:ser>
          <c:idx val="0"/>
          <c:order val="0"/>
          <c:tx>
            <c:strRef>
              <c:f>Sheet1!$B$1</c:f>
              <c:strCache>
                <c:ptCount val="1"/>
                <c:pt idx="0">
                  <c:v>Candidates</c:v>
                </c:pt>
              </c:strCache>
            </c:strRef>
          </c:tx>
          <c:dPt>
            <c:idx val="0"/>
            <c:bubble3D val="0"/>
            <c:spPr>
              <a:solidFill>
                <a:srgbClr val="37864A"/>
              </a:solidFill>
            </c:spPr>
            <c:extLst>
              <c:ext xmlns:c16="http://schemas.microsoft.com/office/drawing/2014/chart" uri="{C3380CC4-5D6E-409C-BE32-E72D297353CC}">
                <c16:uniqueId val="{00000001-1852-441A-9811-FC404212EB8A}"/>
              </c:ext>
            </c:extLst>
          </c:dPt>
          <c:dPt>
            <c:idx val="1"/>
            <c:bubble3D val="0"/>
            <c:spPr>
              <a:solidFill>
                <a:srgbClr val="ED9C1A"/>
              </a:solidFill>
            </c:spPr>
            <c:extLst>
              <c:ext xmlns:c16="http://schemas.microsoft.com/office/drawing/2014/chart" uri="{C3380CC4-5D6E-409C-BE32-E72D297353CC}">
                <c16:uniqueId val="{00000003-1852-441A-9811-FC404212EB8A}"/>
              </c:ext>
            </c:extLst>
          </c:dPt>
          <c:dPt>
            <c:idx val="2"/>
            <c:bubble3D val="0"/>
            <c:spPr>
              <a:solidFill>
                <a:srgbClr val="C0392B"/>
              </a:solidFill>
            </c:spPr>
            <c:extLst>
              <c:ext xmlns:c16="http://schemas.microsoft.com/office/drawing/2014/chart" uri="{C3380CC4-5D6E-409C-BE32-E72D297353CC}">
                <c16:uniqueId val="{00000005-1852-441A-9811-FC404212EB8A}"/>
              </c:ext>
            </c:extLst>
          </c:dPt>
          <c:dLbls>
            <c:spPr>
              <a:noFill/>
              <a:ln>
                <a:noFill/>
              </a:ln>
              <a:effectLst/>
            </c:spPr>
            <c:txPr>
              <a:bodyPr/>
              <a:lstStyle/>
              <a:p>
                <a:pPr>
                  <a:defRPr sz="1400" b="1">
                    <a:solidFill>
                      <a:srgbClr val="FFFFFF"/>
                    </a:solidFill>
                  </a:defRPr>
                </a:pPr>
                <a:endParaRPr lang="en-U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Strong Hire</c:v>
                </c:pt>
                <c:pt idx="1">
                  <c:v>Lean Hire</c:v>
                </c:pt>
                <c:pt idx="2">
                  <c:v>Reject</c:v>
                </c:pt>
              </c:strCache>
            </c:strRef>
          </c:cat>
          <c:val>
            <c:numRef>
              <c:f>Sheet1!$B$2:$B$4</c:f>
              <c:numCache>
                <c:formatCode>General</c:formatCode>
                <c:ptCount val="3"/>
                <c:pt idx="0">
                  <c:v>10</c:v>
                </c:pt>
                <c:pt idx="1">
                  <c:v>10</c:v>
                </c:pt>
                <c:pt idx="2">
                  <c:v>30</c:v>
                </c:pt>
              </c:numCache>
            </c:numRef>
          </c:val>
          <c:extLst>
            <c:ext xmlns:c16="http://schemas.microsoft.com/office/drawing/2014/chart" uri="{C3380CC4-5D6E-409C-BE32-E72D297353CC}">
              <c16:uniqueId val="{00000006-1852-441A-9811-FC404212EB8A}"/>
            </c:ext>
          </c:extLst>
        </c:ser>
        <c:dLbls>
          <c:showLegendKey val="0"/>
          <c:showVal val="1"/>
          <c:showCatName val="0"/>
          <c:showSerName val="0"/>
          <c:showPercent val="0"/>
          <c:showBubbleSize val="0"/>
          <c:showLeaderLines val="1"/>
        </c:dLbls>
        <c:firstSliceAng val="0"/>
        <c:holeSize val="50"/>
      </c:doughnutChart>
    </c:plotArea>
    <c:legend>
      <c:legendPos val="b"/>
      <c:overlay val="0"/>
    </c:legend>
    <c:plotVisOnly val="1"/>
    <c:dispBlanksAs val="gap"/>
    <c:showDLblsOverMax val="0"/>
  </c:chart>
  <c:txPr>
    <a:bodyPr/>
    <a:lstStyle/>
    <a:p>
      <a:pPr>
        <a:defRPr sz="1300">
          <a:latin typeface="Times New Rom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59AC9-30A0-440B-AF41-94819212A481}" type="datetimeFigureOut">
              <a:rPr lang="en-IN" smtClean="0"/>
              <a:t>15-10-2026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88E1B2-F8F7-41C2-BFC5-B9ECD75AD531}" type="slidenum">
              <a:rPr lang="en-IN" smtClean="0"/>
              <a:t>‹#›</a:t>
            </a:fld>
            <a:endParaRPr lang="en-IN"/>
          </a:p>
        </p:txBody>
      </p:sp>
    </p:spTree>
    <p:extLst>
      <p:ext uri="{BB962C8B-B14F-4D97-AF65-F5344CB8AC3E}">
        <p14:creationId xmlns:p14="http://schemas.microsoft.com/office/powerpoint/2010/main" val="627405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8E1B2-F8F7-41C2-BFC5-B9ECD75AD531}" type="slidenum">
              <a:rPr lang="en-IN" smtClean="0"/>
              <a:t>5</a:t>
            </a:fld>
            <a:endParaRPr lang="en-IN"/>
          </a:p>
        </p:txBody>
      </p:sp>
    </p:spTree>
    <p:extLst>
      <p:ext uri="{BB962C8B-B14F-4D97-AF65-F5344CB8AC3E}">
        <p14:creationId xmlns:p14="http://schemas.microsoft.com/office/powerpoint/2010/main" val="3042398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8E1B2-F8F7-41C2-BFC5-B9ECD75AD531}" type="slidenum">
              <a:rPr lang="en-IN" smtClean="0"/>
              <a:t>7</a:t>
            </a:fld>
            <a:endParaRPr lang="en-IN"/>
          </a:p>
        </p:txBody>
      </p:sp>
    </p:spTree>
    <p:extLst>
      <p:ext uri="{BB962C8B-B14F-4D97-AF65-F5344CB8AC3E}">
        <p14:creationId xmlns:p14="http://schemas.microsoft.com/office/powerpoint/2010/main" val="3064581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A88E1B2-F8F7-41C2-BFC5-B9ECD75AD531}" type="slidenum">
              <a:rPr lang="en-IN" smtClean="0"/>
              <a:t>9</a:t>
            </a:fld>
            <a:endParaRPr lang="en-IN"/>
          </a:p>
        </p:txBody>
      </p:sp>
    </p:spTree>
    <p:extLst>
      <p:ext uri="{BB962C8B-B14F-4D97-AF65-F5344CB8AC3E}">
        <p14:creationId xmlns:p14="http://schemas.microsoft.com/office/powerpoint/2010/main" val="2418800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9AD80-F869-157E-B109-6665F52EFD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77DC96-F98A-6AD0-B81B-BEB4BA051B7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FC1BE3B-96F7-507E-63D2-BB8B6C4791D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34BCAB9-E5A9-B22C-5AF3-AA8A821BCF55}"/>
              </a:ext>
            </a:extLst>
          </p:cNvPr>
          <p:cNvSpPr>
            <a:spLocks noGrp="1"/>
          </p:cNvSpPr>
          <p:nvPr>
            <p:ph type="sldNum" sz="quarter" idx="5"/>
          </p:nvPr>
        </p:nvSpPr>
        <p:spPr/>
        <p:txBody>
          <a:bodyPr/>
          <a:lstStyle/>
          <a:p>
            <a:fld id="{FA88E1B2-F8F7-41C2-BFC5-B9ECD75AD531}" type="slidenum">
              <a:rPr lang="en-IN" smtClean="0"/>
              <a:t>10</a:t>
            </a:fld>
            <a:endParaRPr lang="en-IN"/>
          </a:p>
        </p:txBody>
      </p:sp>
    </p:spTree>
    <p:extLst>
      <p:ext uri="{BB962C8B-B14F-4D97-AF65-F5344CB8AC3E}">
        <p14:creationId xmlns:p14="http://schemas.microsoft.com/office/powerpoint/2010/main" val="613345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5F2A1-0A50-4F5A-970C-FB0E1D6463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8A78B-1786-E47F-A91B-A4D3876F4D3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DBBB4D5-07E6-0491-FBBD-7B3D3BECA0B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A4A7F1A-227E-7FE8-B1AD-ADBCA6C25646}"/>
              </a:ext>
            </a:extLst>
          </p:cNvPr>
          <p:cNvSpPr>
            <a:spLocks noGrp="1"/>
          </p:cNvSpPr>
          <p:nvPr>
            <p:ph type="sldNum" sz="quarter" idx="5"/>
          </p:nvPr>
        </p:nvSpPr>
        <p:spPr/>
        <p:txBody>
          <a:bodyPr/>
          <a:lstStyle/>
          <a:p>
            <a:fld id="{FA88E1B2-F8F7-41C2-BFC5-B9ECD75AD531}" type="slidenum">
              <a:rPr lang="en-IN" smtClean="0"/>
              <a:t>11</a:t>
            </a:fld>
            <a:endParaRPr lang="en-IN"/>
          </a:p>
        </p:txBody>
      </p:sp>
    </p:spTree>
    <p:extLst>
      <p:ext uri="{BB962C8B-B14F-4D97-AF65-F5344CB8AC3E}">
        <p14:creationId xmlns:p14="http://schemas.microsoft.com/office/powerpoint/2010/main" val="4120636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F2FD5-9AF8-58B3-7184-37597C83B0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3D974C-C109-5727-D6C0-C0B149A14EE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F547D3F-6A92-C1D5-A592-FF1CB674A5E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0F4987B-75CA-29BD-97E1-37CB26276096}"/>
              </a:ext>
            </a:extLst>
          </p:cNvPr>
          <p:cNvSpPr>
            <a:spLocks noGrp="1"/>
          </p:cNvSpPr>
          <p:nvPr>
            <p:ph type="sldNum" sz="quarter" idx="5"/>
          </p:nvPr>
        </p:nvSpPr>
        <p:spPr/>
        <p:txBody>
          <a:bodyPr/>
          <a:lstStyle/>
          <a:p>
            <a:fld id="{FA88E1B2-F8F7-41C2-BFC5-B9ECD75AD531}" type="slidenum">
              <a:rPr lang="en-IN" smtClean="0"/>
              <a:t>12</a:t>
            </a:fld>
            <a:endParaRPr lang="en-IN"/>
          </a:p>
        </p:txBody>
      </p:sp>
    </p:spTree>
    <p:extLst>
      <p:ext uri="{BB962C8B-B14F-4D97-AF65-F5344CB8AC3E}">
        <p14:creationId xmlns:p14="http://schemas.microsoft.com/office/powerpoint/2010/main" val="1351041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1CA92-ACF7-6D50-326D-D9B7F8C98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B461E-AB2C-8810-C1B3-CB2F31FD8FC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0F6E4A8-3CD0-1AD9-32C6-E665318E7AF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FA8E6D2-9B1D-02AF-1303-3498A68CB6EB}"/>
              </a:ext>
            </a:extLst>
          </p:cNvPr>
          <p:cNvSpPr>
            <a:spLocks noGrp="1"/>
          </p:cNvSpPr>
          <p:nvPr>
            <p:ph type="sldNum" sz="quarter" idx="5"/>
          </p:nvPr>
        </p:nvSpPr>
        <p:spPr/>
        <p:txBody>
          <a:bodyPr/>
          <a:lstStyle/>
          <a:p>
            <a:fld id="{FA88E1B2-F8F7-41C2-BFC5-B9ECD75AD531}" type="slidenum">
              <a:rPr lang="en-IN" smtClean="0"/>
              <a:t>13</a:t>
            </a:fld>
            <a:endParaRPr lang="en-IN"/>
          </a:p>
        </p:txBody>
      </p:sp>
    </p:spTree>
    <p:extLst>
      <p:ext uri="{BB962C8B-B14F-4D97-AF65-F5344CB8AC3E}">
        <p14:creationId xmlns:p14="http://schemas.microsoft.com/office/powerpoint/2010/main" val="247101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B5C23-842D-07D8-C123-414E3EF1E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3BF0D-8782-A8D0-CFF8-08B54E84DAC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12FEC04-4DDB-1FF9-8948-7288539FE63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87CDF27-AC51-F6FB-A977-54C157093C8B}"/>
              </a:ext>
            </a:extLst>
          </p:cNvPr>
          <p:cNvSpPr>
            <a:spLocks noGrp="1"/>
          </p:cNvSpPr>
          <p:nvPr>
            <p:ph type="sldNum" sz="quarter" idx="5"/>
          </p:nvPr>
        </p:nvSpPr>
        <p:spPr/>
        <p:txBody>
          <a:bodyPr/>
          <a:lstStyle/>
          <a:p>
            <a:fld id="{FA88E1B2-F8F7-41C2-BFC5-B9ECD75AD531}" type="slidenum">
              <a:rPr lang="en-IN" smtClean="0"/>
              <a:t>14</a:t>
            </a:fld>
            <a:endParaRPr lang="en-IN"/>
          </a:p>
        </p:txBody>
      </p:sp>
    </p:spTree>
    <p:extLst>
      <p:ext uri="{BB962C8B-B14F-4D97-AF65-F5344CB8AC3E}">
        <p14:creationId xmlns:p14="http://schemas.microsoft.com/office/powerpoint/2010/main" val="1483132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45759-D9BC-4D6F-6231-15EC62E008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C6D8EA-9EF3-B1B0-99B5-0FC042BA0B5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E649646-0990-10CD-4E0C-9BDE6ADAF5E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61265CD-4742-4E9C-C1AF-CB5183A48AE8}"/>
              </a:ext>
            </a:extLst>
          </p:cNvPr>
          <p:cNvSpPr>
            <a:spLocks noGrp="1"/>
          </p:cNvSpPr>
          <p:nvPr>
            <p:ph type="sldNum" sz="quarter" idx="5"/>
          </p:nvPr>
        </p:nvSpPr>
        <p:spPr/>
        <p:txBody>
          <a:bodyPr/>
          <a:lstStyle/>
          <a:p>
            <a:fld id="{FA88E1B2-F8F7-41C2-BFC5-B9ECD75AD531}" type="slidenum">
              <a:rPr lang="en-IN" smtClean="0"/>
              <a:t>15</a:t>
            </a:fld>
            <a:endParaRPr lang="en-IN"/>
          </a:p>
        </p:txBody>
      </p:sp>
    </p:spTree>
    <p:extLst>
      <p:ext uri="{BB962C8B-B14F-4D97-AF65-F5344CB8AC3E}">
        <p14:creationId xmlns:p14="http://schemas.microsoft.com/office/powerpoint/2010/main" val="3288658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48FF8-FB18-D3FD-91F0-7A64B3230F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781AF-E0C8-9A3E-3781-4F7E2DD9B3B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AEC8957-E09E-DD0E-5C8C-21B0FA4AB74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A4AA16E-5795-8B2F-64FC-50B3FCF874B3}"/>
              </a:ext>
            </a:extLst>
          </p:cNvPr>
          <p:cNvSpPr>
            <a:spLocks noGrp="1"/>
          </p:cNvSpPr>
          <p:nvPr>
            <p:ph type="sldNum" sz="quarter" idx="5"/>
          </p:nvPr>
        </p:nvSpPr>
        <p:spPr/>
        <p:txBody>
          <a:bodyPr/>
          <a:lstStyle/>
          <a:p>
            <a:fld id="{FA88E1B2-F8F7-41C2-BFC5-B9ECD75AD531}" type="slidenum">
              <a:rPr lang="en-IN" smtClean="0"/>
              <a:t>16</a:t>
            </a:fld>
            <a:endParaRPr lang="en-IN"/>
          </a:p>
        </p:txBody>
      </p:sp>
    </p:spTree>
    <p:extLst>
      <p:ext uri="{BB962C8B-B14F-4D97-AF65-F5344CB8AC3E}">
        <p14:creationId xmlns:p14="http://schemas.microsoft.com/office/powerpoint/2010/main" val="185822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37CAD-416E-9C48-752A-F5526ACAF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98932-B00C-D8A0-A513-DC92F6723EE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FEBEB39-25E5-2CC0-3713-7C65ED77147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6F4AEF8-2A01-6551-7454-FB7DB2BED61F}"/>
              </a:ext>
            </a:extLst>
          </p:cNvPr>
          <p:cNvSpPr>
            <a:spLocks noGrp="1"/>
          </p:cNvSpPr>
          <p:nvPr>
            <p:ph type="sldNum" sz="quarter" idx="5"/>
          </p:nvPr>
        </p:nvSpPr>
        <p:spPr/>
        <p:txBody>
          <a:bodyPr/>
          <a:lstStyle/>
          <a:p>
            <a:fld id="{FA88E1B2-F8F7-41C2-BFC5-B9ECD75AD531}" type="slidenum">
              <a:rPr lang="en-IN" smtClean="0"/>
              <a:t>17</a:t>
            </a:fld>
            <a:endParaRPr lang="en-IN"/>
          </a:p>
        </p:txBody>
      </p:sp>
    </p:spTree>
    <p:extLst>
      <p:ext uri="{BB962C8B-B14F-4D97-AF65-F5344CB8AC3E}">
        <p14:creationId xmlns:p14="http://schemas.microsoft.com/office/powerpoint/2010/main" val="1710412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EC065-AF8F-079C-E712-9193BD82B8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309D38-5A36-E1D2-087A-3835EC1C500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5151F7A-E8AA-6414-C158-20FB1965887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CBBCAB3-E573-C605-E5AC-8E37FB760887}"/>
              </a:ext>
            </a:extLst>
          </p:cNvPr>
          <p:cNvSpPr>
            <a:spLocks noGrp="1"/>
          </p:cNvSpPr>
          <p:nvPr>
            <p:ph type="sldNum" sz="quarter" idx="5"/>
          </p:nvPr>
        </p:nvSpPr>
        <p:spPr/>
        <p:txBody>
          <a:bodyPr/>
          <a:lstStyle/>
          <a:p>
            <a:fld id="{FA88E1B2-F8F7-41C2-BFC5-B9ECD75AD531}" type="slidenum">
              <a:rPr lang="en-IN" smtClean="0"/>
              <a:t>18</a:t>
            </a:fld>
            <a:endParaRPr lang="en-IN"/>
          </a:p>
        </p:txBody>
      </p:sp>
    </p:spTree>
    <p:extLst>
      <p:ext uri="{BB962C8B-B14F-4D97-AF65-F5344CB8AC3E}">
        <p14:creationId xmlns:p14="http://schemas.microsoft.com/office/powerpoint/2010/main" val="29679708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2D15A-2568-640E-3675-50352CFC6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C6D10-C5B2-371D-1D5C-71EF2EAEF52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093503C-E5AF-3892-B1C7-45ABF4D4A92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4388634-AA64-E029-15B3-D1924FADEAFB}"/>
              </a:ext>
            </a:extLst>
          </p:cNvPr>
          <p:cNvSpPr>
            <a:spLocks noGrp="1"/>
          </p:cNvSpPr>
          <p:nvPr>
            <p:ph type="sldNum" sz="quarter" idx="5"/>
          </p:nvPr>
        </p:nvSpPr>
        <p:spPr/>
        <p:txBody>
          <a:bodyPr/>
          <a:lstStyle/>
          <a:p>
            <a:fld id="{FA88E1B2-F8F7-41C2-BFC5-B9ECD75AD531}" type="slidenum">
              <a:rPr lang="en-IN" smtClean="0"/>
              <a:t>19</a:t>
            </a:fld>
            <a:endParaRPr lang="en-IN"/>
          </a:p>
        </p:txBody>
      </p:sp>
    </p:spTree>
    <p:extLst>
      <p:ext uri="{BB962C8B-B14F-4D97-AF65-F5344CB8AC3E}">
        <p14:creationId xmlns:p14="http://schemas.microsoft.com/office/powerpoint/2010/main" val="3752707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287E0-7751-68CA-7DE4-9F0291A36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36324-D278-A86C-285A-205086FD8CC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C621A07-AC6C-465D-C4C4-8560FA23E67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401745D-0AED-4D7C-7B9C-7E74529710CF}"/>
              </a:ext>
            </a:extLst>
          </p:cNvPr>
          <p:cNvSpPr>
            <a:spLocks noGrp="1"/>
          </p:cNvSpPr>
          <p:nvPr>
            <p:ph type="sldNum" sz="quarter" idx="5"/>
          </p:nvPr>
        </p:nvSpPr>
        <p:spPr/>
        <p:txBody>
          <a:bodyPr/>
          <a:lstStyle/>
          <a:p>
            <a:fld id="{FA88E1B2-F8F7-41C2-BFC5-B9ECD75AD531}" type="slidenum">
              <a:rPr lang="en-IN" smtClean="0"/>
              <a:t>20</a:t>
            </a:fld>
            <a:endParaRPr lang="en-IN"/>
          </a:p>
        </p:txBody>
      </p:sp>
    </p:spTree>
    <p:extLst>
      <p:ext uri="{BB962C8B-B14F-4D97-AF65-F5344CB8AC3E}">
        <p14:creationId xmlns:p14="http://schemas.microsoft.com/office/powerpoint/2010/main" val="27569316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7CEF0-0AFF-3545-546F-9DC55E86C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2C9E5E-3AD0-77DD-159D-A73AE202783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72E1B28-3891-55DB-69AF-BE205029E3A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B2D1B3A-27EE-319B-602C-C7F4644F4B5A}"/>
              </a:ext>
            </a:extLst>
          </p:cNvPr>
          <p:cNvSpPr>
            <a:spLocks noGrp="1"/>
          </p:cNvSpPr>
          <p:nvPr>
            <p:ph type="sldNum" sz="quarter" idx="5"/>
          </p:nvPr>
        </p:nvSpPr>
        <p:spPr/>
        <p:txBody>
          <a:bodyPr/>
          <a:lstStyle/>
          <a:p>
            <a:fld id="{FA88E1B2-F8F7-41C2-BFC5-B9ECD75AD531}" type="slidenum">
              <a:rPr lang="en-IN" smtClean="0"/>
              <a:t>21</a:t>
            </a:fld>
            <a:endParaRPr lang="en-IN"/>
          </a:p>
        </p:txBody>
      </p:sp>
    </p:spTree>
    <p:extLst>
      <p:ext uri="{BB962C8B-B14F-4D97-AF65-F5344CB8AC3E}">
        <p14:creationId xmlns:p14="http://schemas.microsoft.com/office/powerpoint/2010/main" val="30853113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AE702-0527-CABB-FA14-DC7EF111D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4AE63-B43E-A118-FEB6-EF21FB4A117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F6508C4-DC39-FC1B-ED96-80A3C551F55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AF7BC69-FF31-78BA-53B0-2EBD6769E047}"/>
              </a:ext>
            </a:extLst>
          </p:cNvPr>
          <p:cNvSpPr>
            <a:spLocks noGrp="1"/>
          </p:cNvSpPr>
          <p:nvPr>
            <p:ph type="sldNum" sz="quarter" idx="5"/>
          </p:nvPr>
        </p:nvSpPr>
        <p:spPr/>
        <p:txBody>
          <a:bodyPr/>
          <a:lstStyle/>
          <a:p>
            <a:fld id="{FA88E1B2-F8F7-41C2-BFC5-B9ECD75AD531}" type="slidenum">
              <a:rPr lang="en-IN" smtClean="0"/>
              <a:t>22</a:t>
            </a:fld>
            <a:endParaRPr lang="en-IN"/>
          </a:p>
        </p:txBody>
      </p:sp>
    </p:spTree>
    <p:extLst>
      <p:ext uri="{BB962C8B-B14F-4D97-AF65-F5344CB8AC3E}">
        <p14:creationId xmlns:p14="http://schemas.microsoft.com/office/powerpoint/2010/main" val="1206184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32FD9-2E09-A4C5-FA31-631EB12421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062B59-F0E5-3DF6-D3CD-3C010D97DF1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9D07A05-7880-60DA-B131-D794333230D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B364640-F63C-07D2-1C1C-125F3B290488}"/>
              </a:ext>
            </a:extLst>
          </p:cNvPr>
          <p:cNvSpPr>
            <a:spLocks noGrp="1"/>
          </p:cNvSpPr>
          <p:nvPr>
            <p:ph type="sldNum" sz="quarter" idx="5"/>
          </p:nvPr>
        </p:nvSpPr>
        <p:spPr/>
        <p:txBody>
          <a:bodyPr/>
          <a:lstStyle/>
          <a:p>
            <a:fld id="{FA88E1B2-F8F7-41C2-BFC5-B9ECD75AD531}" type="slidenum">
              <a:rPr lang="en-IN" smtClean="0"/>
              <a:t>23</a:t>
            </a:fld>
            <a:endParaRPr lang="en-IN"/>
          </a:p>
        </p:txBody>
      </p:sp>
    </p:spTree>
    <p:extLst>
      <p:ext uri="{BB962C8B-B14F-4D97-AF65-F5344CB8AC3E}">
        <p14:creationId xmlns:p14="http://schemas.microsoft.com/office/powerpoint/2010/main" val="4304138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F83CC-F9D3-7EE2-3224-ADB8B17683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E579A-3A23-9001-D7A0-15DE75C0B24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A49D421-ACFA-A1C3-298C-1D3F1B95A4B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FAD9A-7945-7401-D06E-B97E6C19B0CC}"/>
              </a:ext>
            </a:extLst>
          </p:cNvPr>
          <p:cNvSpPr>
            <a:spLocks noGrp="1"/>
          </p:cNvSpPr>
          <p:nvPr>
            <p:ph type="sldNum" sz="quarter" idx="5"/>
          </p:nvPr>
        </p:nvSpPr>
        <p:spPr/>
        <p:txBody>
          <a:bodyPr/>
          <a:lstStyle/>
          <a:p>
            <a:fld id="{FA88E1B2-F8F7-41C2-BFC5-B9ECD75AD531}" type="slidenum">
              <a:rPr lang="en-IN" smtClean="0"/>
              <a:t>24</a:t>
            </a:fld>
            <a:endParaRPr lang="en-IN"/>
          </a:p>
        </p:txBody>
      </p:sp>
    </p:spTree>
    <p:extLst>
      <p:ext uri="{BB962C8B-B14F-4D97-AF65-F5344CB8AC3E}">
        <p14:creationId xmlns:p14="http://schemas.microsoft.com/office/powerpoint/2010/main" val="1668912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88E1B2-F8F7-41C2-BFC5-B9ECD75AD531}" type="slidenum">
              <a:rPr lang="en-IN" smtClean="0"/>
              <a:t>25</a:t>
            </a:fld>
            <a:endParaRPr lang="en-IN"/>
          </a:p>
        </p:txBody>
      </p:sp>
    </p:spTree>
    <p:extLst>
      <p:ext uri="{BB962C8B-B14F-4D97-AF65-F5344CB8AC3E}">
        <p14:creationId xmlns:p14="http://schemas.microsoft.com/office/powerpoint/2010/main" val="36810984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71783-C67E-5F1E-BA7D-43438900B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E9A0F-0BF3-C67F-D10C-973DB1FE1A2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8A763A8-660A-AE75-8DA8-EEBCDBB2029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A576F26-7925-5F2F-996C-7D9025126629}"/>
              </a:ext>
            </a:extLst>
          </p:cNvPr>
          <p:cNvSpPr>
            <a:spLocks noGrp="1"/>
          </p:cNvSpPr>
          <p:nvPr>
            <p:ph type="sldNum" sz="quarter" idx="5"/>
          </p:nvPr>
        </p:nvSpPr>
        <p:spPr/>
        <p:txBody>
          <a:bodyPr/>
          <a:lstStyle/>
          <a:p>
            <a:fld id="{FA88E1B2-F8F7-41C2-BFC5-B9ECD75AD531}" type="slidenum">
              <a:rPr lang="en-IN" smtClean="0"/>
              <a:t>26</a:t>
            </a:fld>
            <a:endParaRPr lang="en-IN"/>
          </a:p>
        </p:txBody>
      </p:sp>
    </p:spTree>
    <p:extLst>
      <p:ext uri="{BB962C8B-B14F-4D97-AF65-F5344CB8AC3E}">
        <p14:creationId xmlns:p14="http://schemas.microsoft.com/office/powerpoint/2010/main" val="42279949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AC6C8-7AE7-F5D6-0562-26E718040A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C6CAF2-2AB0-07BA-C91A-232925083CF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8826BB6-3158-940D-509D-79DBE81F0F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1A3836-1489-5E02-A704-4B9396DC2581}"/>
              </a:ext>
            </a:extLst>
          </p:cNvPr>
          <p:cNvSpPr>
            <a:spLocks noGrp="1"/>
          </p:cNvSpPr>
          <p:nvPr>
            <p:ph type="sldNum" sz="quarter" idx="5"/>
          </p:nvPr>
        </p:nvSpPr>
        <p:spPr/>
        <p:txBody>
          <a:bodyPr/>
          <a:lstStyle/>
          <a:p>
            <a:fld id="{FA88E1B2-F8F7-41C2-BFC5-B9ECD75AD531}" type="slidenum">
              <a:rPr lang="en-IN" smtClean="0"/>
              <a:t>27</a:t>
            </a:fld>
            <a:endParaRPr lang="en-IN"/>
          </a:p>
        </p:txBody>
      </p:sp>
    </p:spTree>
    <p:extLst>
      <p:ext uri="{BB962C8B-B14F-4D97-AF65-F5344CB8AC3E}">
        <p14:creationId xmlns:p14="http://schemas.microsoft.com/office/powerpoint/2010/main" val="193981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5A7E-0625-4C55-0F84-E09167684A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6EAC7DD-633C-E347-5238-700725B7C5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C250173-FF3E-46E1-6CF9-3F7E7D64F90A}"/>
              </a:ext>
            </a:extLst>
          </p:cNvPr>
          <p:cNvSpPr>
            <a:spLocks noGrp="1"/>
          </p:cNvSpPr>
          <p:nvPr>
            <p:ph type="dt" sz="half" idx="10"/>
          </p:nvPr>
        </p:nvSpPr>
        <p:spPr/>
        <p:txBody>
          <a:bodyPr/>
          <a:lstStyle/>
          <a:p>
            <a:fld id="{A298C13F-C621-4EE4-BE50-3B8B7BF01E8F}" type="datetimeFigureOut">
              <a:rPr lang="en-IN" smtClean="0"/>
              <a:t>15-10-2026</a:t>
            </a:fld>
            <a:endParaRPr lang="en-IN"/>
          </a:p>
        </p:txBody>
      </p:sp>
      <p:sp>
        <p:nvSpPr>
          <p:cNvPr id="5" name="Footer Placeholder 4">
            <a:extLst>
              <a:ext uri="{FF2B5EF4-FFF2-40B4-BE49-F238E27FC236}">
                <a16:creationId xmlns:a16="http://schemas.microsoft.com/office/drawing/2014/main" id="{F7ED2BC2-D9E8-E95A-3079-36D16502AC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1D59C3-843F-63C6-0B88-1124679A7744}"/>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27399208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A6602-FA74-09F7-7AF3-ABA73C2F73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AC1F86-8539-8AE0-07D2-4EF7189EF1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22462F-5F63-841F-72C2-07EEF15CB597}"/>
              </a:ext>
            </a:extLst>
          </p:cNvPr>
          <p:cNvSpPr>
            <a:spLocks noGrp="1"/>
          </p:cNvSpPr>
          <p:nvPr>
            <p:ph type="dt" sz="half" idx="10"/>
          </p:nvPr>
        </p:nvSpPr>
        <p:spPr/>
        <p:txBody>
          <a:bodyPr/>
          <a:lstStyle/>
          <a:p>
            <a:fld id="{A298C13F-C621-4EE4-BE50-3B8B7BF01E8F}" type="datetimeFigureOut">
              <a:rPr lang="en-IN" smtClean="0"/>
              <a:t>15-10-2026</a:t>
            </a:fld>
            <a:endParaRPr lang="en-IN"/>
          </a:p>
        </p:txBody>
      </p:sp>
      <p:sp>
        <p:nvSpPr>
          <p:cNvPr id="5" name="Footer Placeholder 4">
            <a:extLst>
              <a:ext uri="{FF2B5EF4-FFF2-40B4-BE49-F238E27FC236}">
                <a16:creationId xmlns:a16="http://schemas.microsoft.com/office/drawing/2014/main" id="{31726624-A3DE-BE83-1D12-853252FB9D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A374AB-368F-4449-1309-6DF199ABA11F}"/>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1130856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8A260-172A-1750-EC67-95E87A867C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DD7568-5B21-2CBC-6373-921ED0A4F2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257A46-4BB2-1BE0-3390-D8065713056D}"/>
              </a:ext>
            </a:extLst>
          </p:cNvPr>
          <p:cNvSpPr>
            <a:spLocks noGrp="1"/>
          </p:cNvSpPr>
          <p:nvPr>
            <p:ph type="dt" sz="half" idx="10"/>
          </p:nvPr>
        </p:nvSpPr>
        <p:spPr/>
        <p:txBody>
          <a:bodyPr/>
          <a:lstStyle/>
          <a:p>
            <a:fld id="{A298C13F-C621-4EE4-BE50-3B8B7BF01E8F}" type="datetimeFigureOut">
              <a:rPr lang="en-IN" smtClean="0"/>
              <a:t>15-10-2026</a:t>
            </a:fld>
            <a:endParaRPr lang="en-IN"/>
          </a:p>
        </p:txBody>
      </p:sp>
      <p:sp>
        <p:nvSpPr>
          <p:cNvPr id="5" name="Footer Placeholder 4">
            <a:extLst>
              <a:ext uri="{FF2B5EF4-FFF2-40B4-BE49-F238E27FC236}">
                <a16:creationId xmlns:a16="http://schemas.microsoft.com/office/drawing/2014/main" id="{8172E9C6-BA55-649B-679A-3836738547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8ADC92-48C9-A5FA-1557-552929CEA3B3}"/>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1093621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86191-2011-313C-BC4A-0F7A3D1DDD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128010-9BB8-CDA2-05A5-12350BB250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7C9B92-8874-A515-6E6C-9CE9FFFFCE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465BF0-DF7A-9081-962A-B25D777E65E7}"/>
              </a:ext>
            </a:extLst>
          </p:cNvPr>
          <p:cNvSpPr>
            <a:spLocks noGrp="1"/>
          </p:cNvSpPr>
          <p:nvPr>
            <p:ph type="dt" sz="half" idx="10"/>
          </p:nvPr>
        </p:nvSpPr>
        <p:spPr/>
        <p:txBody>
          <a:bodyPr/>
          <a:lstStyle/>
          <a:p>
            <a:fld id="{A298C13F-C621-4EE4-BE50-3B8B7BF01E8F}" type="datetimeFigureOut">
              <a:rPr lang="en-IN" smtClean="0"/>
              <a:t>15-10-2026</a:t>
            </a:fld>
            <a:endParaRPr lang="en-IN"/>
          </a:p>
        </p:txBody>
      </p:sp>
      <p:sp>
        <p:nvSpPr>
          <p:cNvPr id="6" name="Footer Placeholder 5">
            <a:extLst>
              <a:ext uri="{FF2B5EF4-FFF2-40B4-BE49-F238E27FC236}">
                <a16:creationId xmlns:a16="http://schemas.microsoft.com/office/drawing/2014/main" id="{1BBACC19-1EE4-BABF-2F09-3452EA5F20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56A759-A703-B1E9-1D44-E907A779BEE6}"/>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1900604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DDF60-42C2-4CE0-665F-B5D7EEC139D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599603-BE71-7FF4-114F-C4FDD99D0E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3016AF-7681-9D40-BC2C-699E94E74E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CA6B90-FF0A-47D9-FD7F-73E06C5630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C91799-D48A-C7C9-301C-77CB51ED1A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79C2CC2-49CD-EE89-D5FF-C07F6840510E}"/>
              </a:ext>
            </a:extLst>
          </p:cNvPr>
          <p:cNvSpPr>
            <a:spLocks noGrp="1"/>
          </p:cNvSpPr>
          <p:nvPr>
            <p:ph type="dt" sz="half" idx="10"/>
          </p:nvPr>
        </p:nvSpPr>
        <p:spPr/>
        <p:txBody>
          <a:bodyPr/>
          <a:lstStyle/>
          <a:p>
            <a:fld id="{A298C13F-C621-4EE4-BE50-3B8B7BF01E8F}" type="datetimeFigureOut">
              <a:rPr lang="en-IN" smtClean="0"/>
              <a:t>15-10-2026</a:t>
            </a:fld>
            <a:endParaRPr lang="en-IN"/>
          </a:p>
        </p:txBody>
      </p:sp>
      <p:sp>
        <p:nvSpPr>
          <p:cNvPr id="8" name="Footer Placeholder 7">
            <a:extLst>
              <a:ext uri="{FF2B5EF4-FFF2-40B4-BE49-F238E27FC236}">
                <a16:creationId xmlns:a16="http://schemas.microsoft.com/office/drawing/2014/main" id="{889A69C9-7E04-96DB-33F2-2A458B67910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A8B490-4975-5158-8CE6-820249AAC18A}"/>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2407469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F87CC-D218-BF01-7DCA-67C103C1AC2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100DCD-0640-07A4-D126-16D86FC348E5}"/>
              </a:ext>
            </a:extLst>
          </p:cNvPr>
          <p:cNvSpPr>
            <a:spLocks noGrp="1"/>
          </p:cNvSpPr>
          <p:nvPr>
            <p:ph type="dt" sz="half" idx="10"/>
          </p:nvPr>
        </p:nvSpPr>
        <p:spPr/>
        <p:txBody>
          <a:bodyPr/>
          <a:lstStyle/>
          <a:p>
            <a:fld id="{A298C13F-C621-4EE4-BE50-3B8B7BF01E8F}" type="datetimeFigureOut">
              <a:rPr lang="en-IN" smtClean="0"/>
              <a:t>15-10-2026</a:t>
            </a:fld>
            <a:endParaRPr lang="en-IN"/>
          </a:p>
        </p:txBody>
      </p:sp>
      <p:sp>
        <p:nvSpPr>
          <p:cNvPr id="4" name="Footer Placeholder 3">
            <a:extLst>
              <a:ext uri="{FF2B5EF4-FFF2-40B4-BE49-F238E27FC236}">
                <a16:creationId xmlns:a16="http://schemas.microsoft.com/office/drawing/2014/main" id="{2F41037C-8C47-68BF-3653-1EC8391F49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4B6E4A3-2867-D101-4840-E57F251C9ACE}"/>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25932953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C109C4-1BE1-AE19-2CBA-3D325EA42E2D}"/>
              </a:ext>
            </a:extLst>
          </p:cNvPr>
          <p:cNvSpPr>
            <a:spLocks noGrp="1"/>
          </p:cNvSpPr>
          <p:nvPr>
            <p:ph type="dt" sz="half" idx="10"/>
          </p:nvPr>
        </p:nvSpPr>
        <p:spPr/>
        <p:txBody>
          <a:bodyPr/>
          <a:lstStyle/>
          <a:p>
            <a:fld id="{A298C13F-C621-4EE4-BE50-3B8B7BF01E8F}" type="datetimeFigureOut">
              <a:rPr lang="en-IN" smtClean="0"/>
              <a:t>15-10-2026</a:t>
            </a:fld>
            <a:endParaRPr lang="en-IN"/>
          </a:p>
        </p:txBody>
      </p:sp>
      <p:sp>
        <p:nvSpPr>
          <p:cNvPr id="3" name="Footer Placeholder 2">
            <a:extLst>
              <a:ext uri="{FF2B5EF4-FFF2-40B4-BE49-F238E27FC236}">
                <a16:creationId xmlns:a16="http://schemas.microsoft.com/office/drawing/2014/main" id="{98568BBF-F980-D84E-A90E-5B6EEA7D01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1E49690-52B2-7AE0-1F96-FAA50158F60C}"/>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343090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522F8-76CE-AF40-D244-2F556B0042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A51EE23-344D-DDA0-DFFD-8B1CBCD6D5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DFA9FC-BFFE-8E98-9D31-8B290D8A6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878BA9-8F40-2C80-7E56-0FF85713B747}"/>
              </a:ext>
            </a:extLst>
          </p:cNvPr>
          <p:cNvSpPr>
            <a:spLocks noGrp="1"/>
          </p:cNvSpPr>
          <p:nvPr>
            <p:ph type="dt" sz="half" idx="10"/>
          </p:nvPr>
        </p:nvSpPr>
        <p:spPr/>
        <p:txBody>
          <a:bodyPr/>
          <a:lstStyle/>
          <a:p>
            <a:fld id="{A298C13F-C621-4EE4-BE50-3B8B7BF01E8F}" type="datetimeFigureOut">
              <a:rPr lang="en-IN" smtClean="0"/>
              <a:t>15-10-2026</a:t>
            </a:fld>
            <a:endParaRPr lang="en-IN"/>
          </a:p>
        </p:txBody>
      </p:sp>
      <p:sp>
        <p:nvSpPr>
          <p:cNvPr id="6" name="Footer Placeholder 5">
            <a:extLst>
              <a:ext uri="{FF2B5EF4-FFF2-40B4-BE49-F238E27FC236}">
                <a16:creationId xmlns:a16="http://schemas.microsoft.com/office/drawing/2014/main" id="{4CD74A4D-58E7-88E7-1E3D-753A3E586A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458AE5-A843-328D-2DAC-EDECF257800B}"/>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3156670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9C0B2-79BC-ED10-5C8D-62363C3FD0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74834B8-4B03-D558-5ED4-E99FEEC591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C7E6B2-136D-82CC-2AC6-550B8591D9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983A53-1AC4-03CA-45BE-D54076280F19}"/>
              </a:ext>
            </a:extLst>
          </p:cNvPr>
          <p:cNvSpPr>
            <a:spLocks noGrp="1"/>
          </p:cNvSpPr>
          <p:nvPr>
            <p:ph type="dt" sz="half" idx="10"/>
          </p:nvPr>
        </p:nvSpPr>
        <p:spPr/>
        <p:txBody>
          <a:bodyPr/>
          <a:lstStyle/>
          <a:p>
            <a:fld id="{A298C13F-C621-4EE4-BE50-3B8B7BF01E8F}" type="datetimeFigureOut">
              <a:rPr lang="en-IN" smtClean="0"/>
              <a:t>15-10-2026</a:t>
            </a:fld>
            <a:endParaRPr lang="en-IN"/>
          </a:p>
        </p:txBody>
      </p:sp>
      <p:sp>
        <p:nvSpPr>
          <p:cNvPr id="6" name="Footer Placeholder 5">
            <a:extLst>
              <a:ext uri="{FF2B5EF4-FFF2-40B4-BE49-F238E27FC236}">
                <a16:creationId xmlns:a16="http://schemas.microsoft.com/office/drawing/2014/main" id="{5F22EE42-6906-A2A8-2137-3C2628B5B2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1761E2-571F-8FB6-9ED2-41EAC8CEF66D}"/>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40264047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A4A70-EBFC-43C6-8D3D-74B59622EA1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3B4147-4AC7-062D-620F-66D9870D69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6B6EDB-84C4-4775-E2FD-D1E4B0A5C94C}"/>
              </a:ext>
            </a:extLst>
          </p:cNvPr>
          <p:cNvSpPr>
            <a:spLocks noGrp="1"/>
          </p:cNvSpPr>
          <p:nvPr>
            <p:ph type="dt" sz="half" idx="10"/>
          </p:nvPr>
        </p:nvSpPr>
        <p:spPr/>
        <p:txBody>
          <a:bodyPr/>
          <a:lstStyle/>
          <a:p>
            <a:fld id="{A298C13F-C621-4EE4-BE50-3B8B7BF01E8F}" type="datetimeFigureOut">
              <a:rPr lang="en-IN" smtClean="0"/>
              <a:t>15-10-2026</a:t>
            </a:fld>
            <a:endParaRPr lang="en-IN"/>
          </a:p>
        </p:txBody>
      </p:sp>
      <p:sp>
        <p:nvSpPr>
          <p:cNvPr id="5" name="Footer Placeholder 4">
            <a:extLst>
              <a:ext uri="{FF2B5EF4-FFF2-40B4-BE49-F238E27FC236}">
                <a16:creationId xmlns:a16="http://schemas.microsoft.com/office/drawing/2014/main" id="{4B85D3D5-C8AE-E53F-C5DA-66EE0092BD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F05557-2DC7-3F05-EA69-5052D399D9DC}"/>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4143949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413312-7BE4-FD63-62DB-8AAE1F684D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39735E-90AC-B019-A36A-7D57622385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AD1201-8297-5064-C909-85EA263056F5}"/>
              </a:ext>
            </a:extLst>
          </p:cNvPr>
          <p:cNvSpPr>
            <a:spLocks noGrp="1"/>
          </p:cNvSpPr>
          <p:nvPr>
            <p:ph type="dt" sz="half" idx="10"/>
          </p:nvPr>
        </p:nvSpPr>
        <p:spPr/>
        <p:txBody>
          <a:bodyPr/>
          <a:lstStyle/>
          <a:p>
            <a:fld id="{A298C13F-C621-4EE4-BE50-3B8B7BF01E8F}" type="datetimeFigureOut">
              <a:rPr lang="en-IN" smtClean="0"/>
              <a:t>15-10-2026</a:t>
            </a:fld>
            <a:endParaRPr lang="en-IN"/>
          </a:p>
        </p:txBody>
      </p:sp>
      <p:sp>
        <p:nvSpPr>
          <p:cNvPr id="5" name="Footer Placeholder 4">
            <a:extLst>
              <a:ext uri="{FF2B5EF4-FFF2-40B4-BE49-F238E27FC236}">
                <a16:creationId xmlns:a16="http://schemas.microsoft.com/office/drawing/2014/main" id="{7E52C1C4-150A-3E98-3382-1EB0188986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F5E77E-26C4-9F34-6C71-B07B7CB94C5C}"/>
              </a:ext>
            </a:extLst>
          </p:cNvPr>
          <p:cNvSpPr>
            <a:spLocks noGrp="1"/>
          </p:cNvSpPr>
          <p:nvPr>
            <p:ph type="sldNum" sz="quarter" idx="12"/>
          </p:nvPr>
        </p:nvSpPr>
        <p:spPr/>
        <p:txBody>
          <a:bodyPr/>
          <a:lstStyle/>
          <a:p>
            <a:fld id="{8C08062F-E083-4631-A010-A50ED976E5AC}" type="slidenum">
              <a:rPr lang="en-IN" smtClean="0"/>
              <a:t>‹#›</a:t>
            </a:fld>
            <a:endParaRPr lang="en-IN"/>
          </a:p>
        </p:txBody>
      </p:sp>
    </p:spTree>
    <p:extLst>
      <p:ext uri="{BB962C8B-B14F-4D97-AF65-F5344CB8AC3E}">
        <p14:creationId xmlns:p14="http://schemas.microsoft.com/office/powerpoint/2010/main" val="744792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347F7F-FC21-7806-64C8-20C2919321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08D339-83F4-C4D5-6B16-6186F0D2ED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789515-A60C-69C1-FB8A-01941E7084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98C13F-C621-4EE4-BE50-3B8B7BF01E8F}" type="datetimeFigureOut">
              <a:rPr lang="en-IN" smtClean="0"/>
              <a:t>15-10-2026</a:t>
            </a:fld>
            <a:endParaRPr lang="en-IN"/>
          </a:p>
        </p:txBody>
      </p:sp>
      <p:sp>
        <p:nvSpPr>
          <p:cNvPr id="5" name="Footer Placeholder 4">
            <a:extLst>
              <a:ext uri="{FF2B5EF4-FFF2-40B4-BE49-F238E27FC236}">
                <a16:creationId xmlns:a16="http://schemas.microsoft.com/office/drawing/2014/main" id="{0E3A96BA-2E86-4B5D-041B-3B92FF431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EAA82E0-9AC6-3ABA-4F03-42BA8E5EE0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08062F-E083-4631-A010-A50ED976E5AC}" type="slidenum">
              <a:rPr lang="en-IN" smtClean="0"/>
              <a:t>‹#›</a:t>
            </a:fld>
            <a:endParaRPr lang="en-IN"/>
          </a:p>
        </p:txBody>
      </p:sp>
    </p:spTree>
    <p:extLst>
      <p:ext uri="{BB962C8B-B14F-4D97-AF65-F5344CB8AC3E}">
        <p14:creationId xmlns:p14="http://schemas.microsoft.com/office/powerpoint/2010/main" val="2641615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2.jpe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jpe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jpe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jpe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6.jpg"/><Relationship Id="rId6" Type="http://schemas.openxmlformats.org/officeDocument/2006/relationships/image" Target="../media/image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8.jpg"/><Relationship Id="rId6" Type="http://schemas.openxmlformats.org/officeDocument/2006/relationships/image" Target="../media/image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chart" Target="../charts/char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chart" Target="../charts/char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jpe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jpe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bout VKIT – VIVEKANANDA INSTITUTE OF TECHNOLOGY">
            <a:extLst>
              <a:ext uri="{FF2B5EF4-FFF2-40B4-BE49-F238E27FC236}">
                <a16:creationId xmlns:a16="http://schemas.microsoft.com/office/drawing/2014/main" id="{9FB38AA3-9CAB-DBE9-1B5C-B4738F0388E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Blur/>
                    </a14:imgEffect>
                    <a14:imgEffect>
                      <a14:brightnessContrast bright="-3000" contrast="5000"/>
                    </a14:imgEffect>
                  </a14:imgLayer>
                </a14:imgProps>
              </a:ext>
              <a:ext uri="{28A0092B-C50C-407E-A947-70E740481C1C}">
                <a14:useLocalDpi xmlns:a14="http://schemas.microsoft.com/office/drawing/2010/main" val="0"/>
              </a:ext>
            </a:extLst>
          </a:blip>
          <a:srcRect/>
          <a:stretch>
            <a:fillRect/>
          </a:stretch>
        </p:blipFill>
        <p:spPr bwMode="auto">
          <a:xfrm>
            <a:off x="0" y="937683"/>
            <a:ext cx="12192000" cy="40361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9">
            <a:extLst>
              <a:ext uri="{FF2B5EF4-FFF2-40B4-BE49-F238E27FC236}">
                <a16:creationId xmlns:a16="http://schemas.microsoft.com/office/drawing/2014/main" id="{893249FB-85AE-C43E-97F8-FC10CEFCC51D}"/>
              </a:ext>
            </a:extLst>
          </p:cNvPr>
          <p:cNvSpPr txBox="1"/>
          <p:nvPr/>
        </p:nvSpPr>
        <p:spPr>
          <a:xfrm>
            <a:off x="4622392" y="6448425"/>
            <a:ext cx="2520941" cy="249043"/>
          </a:xfrm>
          <a:prstGeom prst="rect">
            <a:avLst/>
          </a:prstGeom>
        </p:spPr>
        <p:txBody>
          <a:bodyPr lIns="0" tIns="0" rIns="0" bIns="0" rtlCol="0" anchor="t">
            <a:spAutoFit/>
          </a:bodyPr>
          <a:lstStyle/>
          <a:p>
            <a:pPr algn="ctr">
              <a:lnSpc>
                <a:spcPts val="2070"/>
              </a:lnSpc>
              <a:spcBef>
                <a:spcPct val="0"/>
              </a:spcBef>
            </a:pPr>
            <a:r>
              <a:rPr lang="en-US" sz="1725" spc="86" dirty="0">
                <a:solidFill>
                  <a:srgbClr val="FFFFFF"/>
                </a:solidFill>
                <a:latin typeface="Lato Bold"/>
              </a:rPr>
              <a:t>https://vitb.ac.in/</a:t>
            </a:r>
          </a:p>
        </p:txBody>
      </p:sp>
      <p:sp>
        <p:nvSpPr>
          <p:cNvPr id="14" name="Content Placeholder 2">
            <a:extLst>
              <a:ext uri="{FF2B5EF4-FFF2-40B4-BE49-F238E27FC236}">
                <a16:creationId xmlns:a16="http://schemas.microsoft.com/office/drawing/2014/main" id="{C98027A9-03DF-3594-3C3C-1A87D049145E}"/>
              </a:ext>
            </a:extLst>
          </p:cNvPr>
          <p:cNvSpPr txBox="1"/>
          <p:nvPr/>
        </p:nvSpPr>
        <p:spPr>
          <a:xfrm>
            <a:off x="263241" y="1160151"/>
            <a:ext cx="11469440" cy="5009638"/>
          </a:xfrm>
          <a:prstGeom prst="rect">
            <a:avLst/>
          </a:prstGeom>
        </p:spPr>
        <p:txBody>
          <a:bodyPr>
            <a:normAutofit fontScale="97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3900" b="1" dirty="0">
              <a:solidFill>
                <a:srgbClr val="002060"/>
              </a:solidFill>
              <a:latin typeface="Times New Roman" panose="02020603050405020304" pitchFamily="18" charset="0"/>
              <a:cs typeface="Times New Roman" panose="02020603050405020304" pitchFamily="18" charset="0"/>
            </a:endParaRPr>
          </a:p>
          <a:p>
            <a:pPr marL="0" indent="0" algn="ctr">
              <a:buFont typeface="Arial" panose="020B0604020202020204" pitchFamily="34" charset="0"/>
              <a:buNone/>
            </a:pP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71A36A38-92BA-85F3-0881-6DB7EE60D775}"/>
              </a:ext>
            </a:extLst>
          </p:cNvPr>
          <p:cNvSpPr txBox="1"/>
          <p:nvPr/>
        </p:nvSpPr>
        <p:spPr>
          <a:xfrm>
            <a:off x="459319" y="1193933"/>
            <a:ext cx="11273362" cy="5434501"/>
          </a:xfrm>
          <a:prstGeom prst="rect">
            <a:avLst/>
          </a:prstGeom>
          <a:noFill/>
        </p:spPr>
        <p:txBody>
          <a:bodyPr wrap="square">
            <a:sp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DEPARTMENT OF INFORMATION SCIENCE AND ENGINEERING</a:t>
            </a:r>
          </a:p>
          <a:p>
            <a:pPr algn="ctr"/>
            <a:endParaRPr lang="en-US" sz="2400" b="1" dirty="0">
              <a:solidFill>
                <a:srgbClr val="FF0000"/>
              </a:solidFill>
              <a:latin typeface="Times New Roman" panose="02020603050405020304" pitchFamily="18" charset="0"/>
              <a:cs typeface="Times New Roman" panose="02020603050405020304" pitchFamily="18" charset="0"/>
            </a:endParaRPr>
          </a:p>
          <a:p>
            <a:pPr algn="ctr"/>
            <a:r>
              <a:rPr lang="en-US" sz="1600" b="1" dirty="0">
                <a:solidFill>
                  <a:schemeClr val="bg1"/>
                </a:solidFill>
                <a:latin typeface="Times New Roman" panose="02020603050405020304" pitchFamily="18" charset="0"/>
                <a:cs typeface="Times New Roman" panose="02020603050405020304" pitchFamily="18" charset="0"/>
              </a:rPr>
              <a:t>MAJOR PROJECT PHASE II PRESENTATION </a:t>
            </a:r>
          </a:p>
          <a:p>
            <a:pPr algn="ctr"/>
            <a:r>
              <a:rPr lang="en-US" sz="1600" b="1" dirty="0">
                <a:solidFill>
                  <a:schemeClr val="bg1"/>
                </a:solidFill>
                <a:latin typeface="Times New Roman" panose="02020603050405020304" pitchFamily="18" charset="0"/>
                <a:cs typeface="Times New Roman" panose="02020603050405020304" pitchFamily="18" charset="0"/>
              </a:rPr>
              <a:t>ON</a:t>
            </a:r>
          </a:p>
          <a:p>
            <a:pPr marL="0" marR="0" algn="ctr">
              <a:spcAft>
                <a:spcPts val="800"/>
              </a:spcAft>
            </a:pPr>
            <a:r>
              <a:rPr lang="en-US" sz="20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US" sz="2000" b="1"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I-Powered Resume Screening And Ranking System</a:t>
            </a:r>
            <a:r>
              <a:rPr lang="en-US" sz="20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kern="1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endParaRPr lang="en-US" sz="1600" dirty="0">
              <a:solidFill>
                <a:schemeClr val="bg1"/>
              </a:solidFill>
              <a:latin typeface="Times New Roman" panose="02020603050405020304" pitchFamily="18" charset="0"/>
              <a:cs typeface="Times New Roman" panose="02020603050405020304" pitchFamily="18" charset="0"/>
            </a:endParaRPr>
          </a:p>
          <a:p>
            <a:pPr algn="ctr">
              <a:lnSpc>
                <a:spcPct val="107000"/>
              </a:lnSpc>
              <a:spcAft>
                <a:spcPts val="800"/>
              </a:spcAft>
            </a:pPr>
            <a:r>
              <a:rPr lang="en-US" sz="1600" dirty="0">
                <a:solidFill>
                  <a:schemeClr val="bg1"/>
                </a:solidFill>
                <a:latin typeface="Times New Roman" panose="02020603050405020304" pitchFamily="18" charset="0"/>
                <a:cs typeface="Times New Roman" panose="02020603050405020304" pitchFamily="18" charset="0"/>
              </a:rPr>
              <a:t>PRESENTED BY</a:t>
            </a:r>
          </a:p>
          <a:p>
            <a:pPr marL="0" marR="0" algn="ctr">
              <a:lnSpc>
                <a:spcPct val="107000"/>
              </a:lnSpc>
              <a:spcAft>
                <a:spcPts val="800"/>
              </a:spcAft>
              <a:buNone/>
            </a:pPr>
            <a:r>
              <a:rPr lang="en-US" sz="1600" b="1" kern="100" dirty="0">
                <a:solidFill>
                  <a:schemeClr val="bg1"/>
                </a:solidFill>
                <a:highlight>
                  <a:srgbClr val="808000"/>
                </a:highlight>
                <a:latin typeface="Times New Roman" panose="02020603050405020304" pitchFamily="18" charset="0"/>
                <a:ea typeface="Calibri" panose="020F0502020204030204" pitchFamily="34" charset="0"/>
                <a:cs typeface="Times New Roman" panose="02020603050405020304" pitchFamily="18" charset="0"/>
              </a:rPr>
              <a:t>MITHILA  R</a:t>
            </a:r>
            <a:r>
              <a:rPr lang="en-US" sz="1600" b="1" kern="100" dirty="0">
                <a:solidFill>
                  <a:schemeClr val="bg1"/>
                </a:solidFill>
                <a:effectLst/>
                <a:highlight>
                  <a:srgbClr val="808000"/>
                </a:highlight>
                <a:latin typeface="Times New Roman" panose="02020603050405020304" pitchFamily="18" charset="0"/>
                <a:ea typeface="Calibri" panose="020F0502020204030204" pitchFamily="34" charset="0"/>
                <a:cs typeface="Times New Roman" panose="02020603050405020304" pitchFamily="18" charset="0"/>
              </a:rPr>
              <a:t>	                  1VK22IS034</a:t>
            </a:r>
            <a:endParaRPr lang="en-US" sz="1600" kern="100" dirty="0">
              <a:solidFill>
                <a:schemeClr val="bg1"/>
              </a:solidFill>
              <a:effectLst/>
              <a:highlight>
                <a:srgbClr val="808000"/>
              </a:highligh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US" sz="1600" b="1" kern="100" dirty="0">
                <a:solidFill>
                  <a:schemeClr val="bg1"/>
                </a:solidFill>
                <a:effectLst/>
                <a:highlight>
                  <a:srgbClr val="808000"/>
                </a:highlight>
                <a:latin typeface="Times New Roman" panose="02020603050405020304" pitchFamily="18" charset="0"/>
                <a:ea typeface="Calibri" panose="020F0502020204030204" pitchFamily="34" charset="0"/>
                <a:cs typeface="Times New Roman" panose="02020603050405020304" pitchFamily="18" charset="0"/>
              </a:rPr>
              <a:t>SNE</a:t>
            </a:r>
            <a:r>
              <a:rPr lang="en-US" sz="1600" b="1" kern="100" dirty="0">
                <a:solidFill>
                  <a:schemeClr val="bg1"/>
                </a:solidFill>
                <a:highlight>
                  <a:srgbClr val="808000"/>
                </a:highlight>
                <a:latin typeface="Times New Roman" panose="02020603050405020304" pitchFamily="18" charset="0"/>
                <a:ea typeface="Calibri" panose="020F0502020204030204" pitchFamily="34" charset="0"/>
                <a:cs typeface="Times New Roman" panose="02020603050405020304" pitchFamily="18" charset="0"/>
              </a:rPr>
              <a:t>HA  K</a:t>
            </a:r>
            <a:r>
              <a:rPr lang="en-US" sz="1600" b="1" kern="100" dirty="0">
                <a:solidFill>
                  <a:schemeClr val="bg1"/>
                </a:solidFill>
                <a:effectLst/>
                <a:highlight>
                  <a:srgbClr val="808000"/>
                </a:highlight>
                <a:latin typeface="Times New Roman" panose="02020603050405020304" pitchFamily="18" charset="0"/>
                <a:ea typeface="Calibri" panose="020F0502020204030204" pitchFamily="34" charset="0"/>
                <a:cs typeface="Times New Roman" panose="02020603050405020304" pitchFamily="18" charset="0"/>
              </a:rPr>
              <a:t>	                  1VK22IS052</a:t>
            </a:r>
            <a:endParaRPr lang="en-US" sz="1600" b="1" kern="100" dirty="0">
              <a:solidFill>
                <a:schemeClr val="bg1"/>
              </a:solidFill>
              <a:highlight>
                <a:srgbClr val="808000"/>
              </a:highligh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US" sz="1600" b="1" kern="100" dirty="0">
                <a:solidFill>
                  <a:schemeClr val="bg1"/>
                </a:solidFill>
                <a:highlight>
                  <a:srgbClr val="808000"/>
                </a:highlight>
                <a:latin typeface="Times New Roman" panose="02020603050405020304" pitchFamily="18" charset="0"/>
                <a:ea typeface="Calibri" panose="020F0502020204030204" pitchFamily="34" charset="0"/>
                <a:cs typeface="Times New Roman" panose="02020603050405020304" pitchFamily="18" charset="0"/>
              </a:rPr>
              <a:t>YASHASWINI R                         1VK23IS062          </a:t>
            </a:r>
            <a:endParaRPr lang="en-US" sz="1600" kern="100" dirty="0">
              <a:solidFill>
                <a:schemeClr val="bg1"/>
              </a:solidFill>
              <a:effectLst/>
              <a:highlight>
                <a:srgbClr val="808000"/>
              </a:highlight>
              <a:latin typeface="Calibri" panose="020F0502020204030204" pitchFamily="34" charset="0"/>
              <a:ea typeface="Calibri" panose="020F0502020204030204" pitchFamily="34" charset="0"/>
              <a:cs typeface="Times New Roman" panose="02020603050405020304" pitchFamily="18" charset="0"/>
            </a:endParaRPr>
          </a:p>
          <a:p>
            <a:pPr algn="ctr"/>
            <a:endParaRPr lang="en-US" sz="1400" b="1" dirty="0">
              <a:highlight>
                <a:srgbClr val="808000"/>
              </a:highlight>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a:p>
            <a:pPr algn="ctr">
              <a:lnSpc>
                <a:spcPct val="107000"/>
              </a:lnSpc>
              <a:spcAft>
                <a:spcPts val="800"/>
              </a:spcAft>
            </a:pPr>
            <a:r>
              <a:rPr lang="en-US" sz="1600" dirty="0">
                <a:latin typeface="Times New Roman" panose="02020603050405020304" pitchFamily="18" charset="0"/>
                <a:cs typeface="Times New Roman" panose="02020603050405020304" pitchFamily="18" charset="0"/>
              </a:rPr>
              <a:t>UNDER THE GUIDANCE Of</a:t>
            </a:r>
          </a:p>
          <a:p>
            <a:pPr algn="ctr">
              <a:lnSpc>
                <a:spcPct val="107000"/>
              </a:lnSpc>
              <a:spcAft>
                <a:spcPts val="800"/>
              </a:spcAft>
            </a:pPr>
            <a:r>
              <a:rPr lang="en-US" sz="1600" b="1" dirty="0">
                <a:latin typeface="Times New Roman" panose="02020603050405020304" pitchFamily="18" charset="0"/>
                <a:cs typeface="Times New Roman" panose="02020603050405020304" pitchFamily="18" charset="0"/>
              </a:rPr>
              <a:t>Prof. CHANDRAKALA V</a:t>
            </a:r>
          </a:p>
          <a:p>
            <a:pPr algn="ctr"/>
            <a:r>
              <a:rPr lang="en-US" sz="1600" b="1" dirty="0">
                <a:latin typeface="Times New Roman" panose="02020603050405020304" pitchFamily="18" charset="0"/>
                <a:cs typeface="Times New Roman" panose="02020603050405020304" pitchFamily="18" charset="0"/>
              </a:rPr>
              <a:t>ASSISTANT PROFESSOR, DEPT OF ISE-VKIT</a:t>
            </a:r>
          </a:p>
          <a:p>
            <a:pPr marL="0" marR="0" algn="ctr">
              <a:lnSpc>
                <a:spcPct val="107000"/>
              </a:lnSpc>
              <a:spcAft>
                <a:spcPts val="800"/>
              </a:spcAft>
            </a:pPr>
            <a:r>
              <a:rPr lang="en-IN" sz="1600" b="1" dirty="0">
                <a:latin typeface="Times New Roman" panose="02020603050405020304" pitchFamily="18" charset="0"/>
                <a:ea typeface="Calibri" panose="020F0502020204030204" pitchFamily="34" charset="0"/>
                <a:cs typeface="Times New Roman" panose="02020603050405020304" pitchFamily="18" charset="0"/>
              </a:rPr>
              <a:t>   </a:t>
            </a:r>
            <a:endParaRPr lang="en-US" sz="1800" b="1"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20" name="Picture 19">
            <a:extLst>
              <a:ext uri="{FF2B5EF4-FFF2-40B4-BE49-F238E27FC236}">
                <a16:creationId xmlns:a16="http://schemas.microsoft.com/office/drawing/2014/main" id="{AD59D46A-A036-E6C7-B533-E589A5963305}"/>
              </a:ext>
            </a:extLst>
          </p:cNvPr>
          <p:cNvPicPr>
            <a:picLocks noChangeAspect="1"/>
          </p:cNvPicPr>
          <p:nvPr/>
        </p:nvPicPr>
        <p:blipFill rotWithShape="1">
          <a:blip r:embed="rId4">
            <a:extLst>
              <a:ext uri="{28A0092B-C50C-407E-A947-70E740481C1C}">
                <a14:useLocalDpi xmlns:a14="http://schemas.microsoft.com/office/drawing/2010/main" val="0"/>
              </a:ext>
            </a:extLst>
          </a:blip>
          <a:srcRect l="1258" t="6458" r="666" b="6557"/>
          <a:stretch/>
        </p:blipFill>
        <p:spPr>
          <a:xfrm>
            <a:off x="0" y="-15722"/>
            <a:ext cx="11267768" cy="953404"/>
          </a:xfrm>
          <a:prstGeom prst="rect">
            <a:avLst/>
          </a:prstGeom>
        </p:spPr>
      </p:pic>
      <p:pic>
        <p:nvPicPr>
          <p:cNvPr id="2" name="Picture 1">
            <a:extLst>
              <a:ext uri="{FF2B5EF4-FFF2-40B4-BE49-F238E27FC236}">
                <a16:creationId xmlns:a16="http://schemas.microsoft.com/office/drawing/2014/main" id="{4B9A6DE5-C172-66FD-E060-7E36D7D40C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69884" y="97042"/>
            <a:ext cx="720000" cy="720000"/>
          </a:xfrm>
          <a:prstGeom prst="rect">
            <a:avLst/>
          </a:prstGeom>
        </p:spPr>
      </p:pic>
    </p:spTree>
    <p:extLst>
      <p:ext uri="{BB962C8B-B14F-4D97-AF65-F5344CB8AC3E}">
        <p14:creationId xmlns:p14="http://schemas.microsoft.com/office/powerpoint/2010/main" val="32446812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5">
            <a:extLst>
              <a:ext uri="{FF2B5EF4-FFF2-40B4-BE49-F238E27FC236}">
                <a16:creationId xmlns:a16="http://schemas.microsoft.com/office/drawing/2014/main" id="{AE51EB97-F271-4616-92DB-B95C0ABD4B98}"/>
              </a:ext>
            </a:extLst>
          </p:cNvPr>
          <p:cNvSpPr txBox="1">
            <a:spLocks/>
          </p:cNvSpPr>
          <p:nvPr/>
        </p:nvSpPr>
        <p:spPr>
          <a:xfrm>
            <a:off x="131087" y="1588261"/>
            <a:ext cx="11929826" cy="4563107"/>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Introduction</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Literature Survey</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Problem </a:t>
            </a:r>
            <a:r>
              <a:rPr lang="en-US" sz="2200" dirty="0" err="1">
                <a:latin typeface="Times New Roman" panose="02020603050405020304" pitchFamily="18" charset="0"/>
                <a:cs typeface="Times New Roman" panose="02020603050405020304" pitchFamily="18" charset="0"/>
              </a:rPr>
              <a:t>Statment</a:t>
            </a: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Objectives</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Methodology</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Architectural Design </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Implementation details of modules</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Data flow Diagram </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Interface Diagram</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Test case with results</a:t>
            </a:r>
          </a:p>
          <a:p>
            <a:pPr>
              <a:buFont typeface="Wingdings" panose="05000000000000000000" charset="0"/>
              <a:buChar char="q"/>
            </a:pPr>
            <a:r>
              <a:rPr lang="en-US" sz="2200" dirty="0">
                <a:latin typeface="Times New Roman" panose="02020603050405020304" pitchFamily="18" charset="0"/>
                <a:cs typeface="Times New Roman" panose="02020603050405020304" pitchFamily="18" charset="0"/>
              </a:rPr>
              <a:t>Results</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Conclusions</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References</a:t>
            </a:r>
          </a:p>
          <a:p>
            <a:pPr>
              <a:buFont typeface="Wingdings" panose="05000000000000000000" pitchFamily="2" charset="2"/>
              <a:buChar char="q"/>
            </a:pP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sp>
        <p:nvSpPr>
          <p:cNvPr id="18" name="Title 8">
            <a:extLst>
              <a:ext uri="{FF2B5EF4-FFF2-40B4-BE49-F238E27FC236}">
                <a16:creationId xmlns:a16="http://schemas.microsoft.com/office/drawing/2014/main" id="{35E67535-AA34-167B-06F3-BF3F014FF538}"/>
              </a:ext>
            </a:extLst>
          </p:cNvPr>
          <p:cNvSpPr txBox="1">
            <a:spLocks/>
          </p:cNvSpPr>
          <p:nvPr/>
        </p:nvSpPr>
        <p:spPr>
          <a:xfrm>
            <a:off x="139870" y="1058987"/>
            <a:ext cx="10131425" cy="3470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u="sng" dirty="0">
                <a:latin typeface="Times New Roman" panose="02020603050405020304" pitchFamily="18" charset="0"/>
                <a:cs typeface="Times New Roman" panose="02020603050405020304" pitchFamily="18" charset="0"/>
              </a:rPr>
              <a:t>AGENDA</a:t>
            </a:r>
            <a:endParaRPr lang="en-IN" sz="2800" b="1" u="sng" dirty="0">
              <a:latin typeface="Times New Roman" panose="02020603050405020304" pitchFamily="18" charset="0"/>
              <a:cs typeface="Times New Roman" panose="02020603050405020304" pitchFamily="18" charset="0"/>
            </a:endParaRPr>
          </a:p>
        </p:txBody>
      </p:sp>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solidFill>
              <a:srgbClr val="FFC000"/>
            </a:solidFill>
          </p:spPr>
          <p:txBody>
            <a:bodyPr/>
            <a:lstStyle/>
            <a:p>
              <a:endParaRPr lang="en-IN">
                <a:solidFill>
                  <a:srgbClr val="FFC000"/>
                </a:solidFill>
              </a:endParaRPr>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7DFB8A6-0EE4-6DA4-62D9-66050FDB6285}"/>
              </a:ext>
            </a:extLst>
          </p:cNvPr>
          <p:cNvPicPr>
            <a:picLocks noChangeAspect="1"/>
          </p:cNvPicPr>
          <p:nvPr/>
        </p:nvPicPr>
        <p:blipFill rotWithShape="1">
          <a:blip r:embed="rId2">
            <a:extLst>
              <a:ext uri="{28A0092B-C50C-407E-A947-70E740481C1C}">
                <a14:useLocalDpi xmlns:a14="http://schemas.microsoft.com/office/drawing/2010/main" val="0"/>
              </a:ext>
            </a:extLst>
          </a:blip>
          <a:srcRect l="1258" t="6458" r="666" b="6557"/>
          <a:stretch/>
        </p:blipFill>
        <p:spPr>
          <a:xfrm>
            <a:off x="0" y="-15722"/>
            <a:ext cx="11316929" cy="955522"/>
          </a:xfrm>
          <a:prstGeom prst="rect">
            <a:avLst/>
          </a:prstGeom>
        </p:spPr>
      </p:pic>
      <p:sp>
        <p:nvSpPr>
          <p:cNvPr id="2" name="TextBox 1">
            <a:extLst>
              <a:ext uri="{FF2B5EF4-FFF2-40B4-BE49-F238E27FC236}">
                <a16:creationId xmlns:a16="http://schemas.microsoft.com/office/drawing/2014/main" id="{C6C7F839-BF1E-6612-E3A2-158F440202F4}"/>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pic>
        <p:nvPicPr>
          <p:cNvPr id="3" name="Picture 2">
            <a:extLst>
              <a:ext uri="{FF2B5EF4-FFF2-40B4-BE49-F238E27FC236}">
                <a16:creationId xmlns:a16="http://schemas.microsoft.com/office/drawing/2014/main" id="{F07C88E0-403D-E0F6-0E8B-357EA42F7B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0913" y="65637"/>
            <a:ext cx="720000" cy="720000"/>
          </a:xfrm>
          <a:prstGeom prst="rect">
            <a:avLst/>
          </a:prstGeom>
        </p:spPr>
      </p:pic>
    </p:spTree>
    <p:extLst>
      <p:ext uri="{BB962C8B-B14F-4D97-AF65-F5344CB8AC3E}">
        <p14:creationId xmlns:p14="http://schemas.microsoft.com/office/powerpoint/2010/main" val="943880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13" name="Title 8">
            <a:extLst>
              <a:ext uri="{FF2B5EF4-FFF2-40B4-BE49-F238E27FC236}">
                <a16:creationId xmlns:a16="http://schemas.microsoft.com/office/drawing/2014/main" id="{12492449-092F-2489-42C6-37071677B220}"/>
              </a:ext>
            </a:extLst>
          </p:cNvPr>
          <p:cNvSpPr txBox="1">
            <a:spLocks/>
          </p:cNvSpPr>
          <p:nvPr/>
        </p:nvSpPr>
        <p:spPr>
          <a:xfrm>
            <a:off x="139870" y="1065914"/>
            <a:ext cx="10131425" cy="3470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INTRODUCTION </a:t>
            </a:r>
            <a:endParaRPr lang="en-IN" sz="2800" b="1" dirty="0">
              <a:latin typeface="Times New Roman" panose="02020603050405020304" pitchFamily="18" charset="0"/>
              <a:cs typeface="Times New Roman" panose="02020603050405020304" pitchFamily="18" charset="0"/>
            </a:endParaRPr>
          </a:p>
        </p:txBody>
      </p:sp>
      <p:sp>
        <p:nvSpPr>
          <p:cNvPr id="14" name="Content Placeholder 5">
            <a:extLst>
              <a:ext uri="{FF2B5EF4-FFF2-40B4-BE49-F238E27FC236}">
                <a16:creationId xmlns:a16="http://schemas.microsoft.com/office/drawing/2014/main" id="{18D1E11A-7BB4-72E8-5797-07BA67914B54}"/>
              </a:ext>
            </a:extLst>
          </p:cNvPr>
          <p:cNvSpPr txBox="1">
            <a:spLocks/>
          </p:cNvSpPr>
          <p:nvPr/>
        </p:nvSpPr>
        <p:spPr>
          <a:xfrm>
            <a:off x="131087" y="1588261"/>
            <a:ext cx="11832313" cy="432888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
        <p:nvSpPr>
          <p:cNvPr id="22" name="Content Placeholder 5">
            <a:extLst>
              <a:ext uri="{FF2B5EF4-FFF2-40B4-BE49-F238E27FC236}">
                <a16:creationId xmlns:a16="http://schemas.microsoft.com/office/drawing/2014/main" id="{3C8B49E0-CF26-57A6-D6AA-AF50219BD68C}"/>
              </a:ext>
            </a:extLst>
          </p:cNvPr>
          <p:cNvSpPr txBox="1">
            <a:spLocks/>
          </p:cNvSpPr>
          <p:nvPr/>
        </p:nvSpPr>
        <p:spPr>
          <a:xfrm>
            <a:off x="256032" y="1435185"/>
            <a:ext cx="11500346" cy="432888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0" indent="-285750" algn="just">
              <a:lnSpc>
                <a:spcPct val="150000"/>
              </a:lnSpc>
            </a:pPr>
            <a:r>
              <a:rPr lang="en-US" sz="1900" dirty="0">
                <a:solidFill>
                  <a:srgbClr val="191611"/>
                </a:solidFill>
                <a:latin typeface="Times New Roman" panose="02020603050405020304" pitchFamily="18" charset="0"/>
                <a:cs typeface="Times New Roman" panose="02020603050405020304" pitchFamily="18" charset="0"/>
              </a:rPr>
              <a:t>Hiring teams receive hundreds of resumes for every opening, and screening them manually is slow, inconsistent and hard to scale.</a:t>
            </a:r>
          </a:p>
          <a:p>
            <a:pPr marL="285750" lvl="0" indent="-285750" algn="just">
              <a:lnSpc>
                <a:spcPct val="150000"/>
              </a:lnSpc>
            </a:pPr>
            <a:r>
              <a:rPr lang="en-US" sz="1900" dirty="0">
                <a:solidFill>
                  <a:srgbClr val="191611"/>
                </a:solidFill>
                <a:latin typeface="Times New Roman" panose="02020603050405020304" pitchFamily="18" charset="0"/>
                <a:cs typeface="Times New Roman" panose="02020603050405020304" pitchFamily="18" charset="0"/>
              </a:rPr>
              <a:t>Most Applicant Tracking Systems (ATS) only count keyword matches, so they reward keyword stuffing and cannot tell that FastAPI and Flask are related skills.</a:t>
            </a:r>
          </a:p>
          <a:p>
            <a:pPr marL="285750" lvl="0" indent="-285750" algn="just">
              <a:lnSpc>
                <a:spcPct val="150000"/>
              </a:lnSpc>
            </a:pPr>
            <a:r>
              <a:rPr lang="en-US" sz="1900" dirty="0">
                <a:solidFill>
                  <a:srgbClr val="191611"/>
                </a:solidFill>
                <a:latin typeface="Times New Roman" panose="02020603050405020304" pitchFamily="18" charset="0"/>
                <a:cs typeface="Times New Roman" panose="02020603050405020304" pitchFamily="18" charset="0"/>
              </a:rPr>
              <a:t>Automated screening is also under scrutiny for bias, and the EU AI Act treats recruitment AI as high-risk, so every decision must be explainable.</a:t>
            </a:r>
          </a:p>
          <a:p>
            <a:pPr marL="285750" lvl="0" indent="-285750" algn="just">
              <a:lnSpc>
                <a:spcPct val="150000"/>
              </a:lnSpc>
            </a:pPr>
            <a:r>
              <a:rPr lang="en-US" sz="1900" dirty="0">
                <a:solidFill>
                  <a:srgbClr val="191611"/>
                </a:solidFill>
                <a:latin typeface="Times New Roman" panose="02020603050405020304" pitchFamily="18" charset="0"/>
                <a:cs typeface="Times New Roman" panose="02020603050405020304" pitchFamily="18" charset="0"/>
              </a:rPr>
              <a:t>In this project we developed an explainable, bias-aware screening system that ranks candidates on seven weighted signals, hides identity during scoring and gives a reason for every verdict.</a:t>
            </a:r>
          </a:p>
        </p:txBody>
      </p:sp>
      <p:pic>
        <p:nvPicPr>
          <p:cNvPr id="23" name="Picture 22">
            <a:extLst>
              <a:ext uri="{FF2B5EF4-FFF2-40B4-BE49-F238E27FC236}">
                <a16:creationId xmlns:a16="http://schemas.microsoft.com/office/drawing/2014/main" id="{9789A926-AA47-B4C4-5806-D5636BCE4B10}"/>
              </a:ext>
            </a:extLst>
          </p:cNvPr>
          <p:cNvPicPr>
            <a:picLocks noChangeAspect="1"/>
          </p:cNvPicPr>
          <p:nvPr/>
        </p:nvPicPr>
        <p:blipFill rotWithShape="1">
          <a:blip r:embed="rId2">
            <a:extLst>
              <a:ext uri="{28A0092B-C50C-407E-A947-70E740481C1C}">
                <a14:useLocalDpi xmlns:a14="http://schemas.microsoft.com/office/drawing/2010/main" val="0"/>
              </a:ext>
            </a:extLst>
          </a:blip>
          <a:srcRect l="1258" t="6458" r="666" b="6557"/>
          <a:stretch/>
        </p:blipFill>
        <p:spPr>
          <a:xfrm>
            <a:off x="0" y="-15722"/>
            <a:ext cx="11267768" cy="955522"/>
          </a:xfrm>
          <a:prstGeom prst="rect">
            <a:avLst/>
          </a:prstGeom>
        </p:spPr>
      </p:pic>
      <p:sp>
        <p:nvSpPr>
          <p:cNvPr id="17" name="TextBox 16">
            <a:extLst>
              <a:ext uri="{FF2B5EF4-FFF2-40B4-BE49-F238E27FC236}">
                <a16:creationId xmlns:a16="http://schemas.microsoft.com/office/drawing/2014/main" id="{448568C0-E041-114C-C0A2-F7DEBF43D8FB}"/>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pic>
        <p:nvPicPr>
          <p:cNvPr id="2" name="Picture 1">
            <a:extLst>
              <a:ext uri="{FF2B5EF4-FFF2-40B4-BE49-F238E27FC236}">
                <a16:creationId xmlns:a16="http://schemas.microsoft.com/office/drawing/2014/main" id="{121379E7-8CB2-36F6-59A3-7727812167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69884" y="85474"/>
            <a:ext cx="720000" cy="720000"/>
          </a:xfrm>
          <a:prstGeom prst="rect">
            <a:avLst/>
          </a:prstGeom>
        </p:spPr>
      </p:pic>
    </p:spTree>
    <p:extLst>
      <p:ext uri="{BB962C8B-B14F-4D97-AF65-F5344CB8AC3E}">
        <p14:creationId xmlns:p14="http://schemas.microsoft.com/office/powerpoint/2010/main" val="269236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2398" y="6342896"/>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14" name="Title 8">
            <a:extLst>
              <a:ext uri="{FF2B5EF4-FFF2-40B4-BE49-F238E27FC236}">
                <a16:creationId xmlns:a16="http://schemas.microsoft.com/office/drawing/2014/main" id="{C398F070-A45D-3E84-0A4E-E094EAC19E52}"/>
              </a:ext>
            </a:extLst>
          </p:cNvPr>
          <p:cNvSpPr txBox="1">
            <a:spLocks/>
          </p:cNvSpPr>
          <p:nvPr/>
        </p:nvSpPr>
        <p:spPr>
          <a:xfrm>
            <a:off x="139870" y="1065914"/>
            <a:ext cx="10131425" cy="3470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PROBLEM STATEMENT</a:t>
            </a:r>
            <a:endParaRPr lang="en-IN" sz="2800" b="1"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74EF8EBE-8A04-D1A1-E6C8-7A68C1E2B076}"/>
              </a:ext>
            </a:extLst>
          </p:cNvPr>
          <p:cNvPicPr>
            <a:picLocks noChangeAspect="1"/>
          </p:cNvPicPr>
          <p:nvPr/>
        </p:nvPicPr>
        <p:blipFill rotWithShape="1">
          <a:blip r:embed="rId2">
            <a:extLst>
              <a:ext uri="{28A0092B-C50C-407E-A947-70E740481C1C}">
                <a14:useLocalDpi xmlns:a14="http://schemas.microsoft.com/office/drawing/2010/main" val="0"/>
              </a:ext>
            </a:extLst>
          </a:blip>
          <a:srcRect l="1258" t="6458" r="666" b="6557"/>
          <a:stretch/>
        </p:blipFill>
        <p:spPr>
          <a:xfrm>
            <a:off x="0" y="-15722"/>
            <a:ext cx="11385755" cy="955522"/>
          </a:xfrm>
          <a:prstGeom prst="rect">
            <a:avLst/>
          </a:prstGeom>
        </p:spPr>
      </p:pic>
      <p:sp>
        <p:nvSpPr>
          <p:cNvPr id="17" name="TextBox 16">
            <a:extLst>
              <a:ext uri="{FF2B5EF4-FFF2-40B4-BE49-F238E27FC236}">
                <a16:creationId xmlns:a16="http://schemas.microsoft.com/office/drawing/2014/main" id="{5DB17D7D-4136-7DA8-C6E6-9BA47690A129}"/>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2" name="TextBox 1">
            <a:extLst>
              <a:ext uri="{FF2B5EF4-FFF2-40B4-BE49-F238E27FC236}">
                <a16:creationId xmlns:a16="http://schemas.microsoft.com/office/drawing/2014/main" id="{6FCBF62E-529F-754D-29C1-7ED13466E2D4}"/>
              </a:ext>
            </a:extLst>
          </p:cNvPr>
          <p:cNvSpPr txBox="1"/>
          <p:nvPr/>
        </p:nvSpPr>
        <p:spPr>
          <a:xfrm>
            <a:off x="416224" y="1593777"/>
            <a:ext cx="11303827" cy="3737946"/>
          </a:xfrm>
          <a:prstGeom prst="rect">
            <a:avLst/>
          </a:prstGeom>
          <a:noFill/>
        </p:spPr>
        <p:txBody>
          <a:bodyPr wrap="square" rtlCol="0">
            <a:spAutoFit/>
          </a:bodyPr>
          <a:lstStyle/>
          <a:p>
            <a:pPr algn="just">
              <a:lnSpc>
                <a:spcPct val="150000"/>
              </a:lnSpc>
            </a:pPr>
            <a:r>
              <a:rPr lang="en-US" sz="2000" dirty="0">
                <a:solidFill>
                  <a:srgbClr val="191611"/>
                </a:solidFill>
                <a:latin typeface="Times New Roman" panose="02020603050405020304" pitchFamily="18" charset="0"/>
                <a:cs typeface="Times New Roman" panose="02020603050405020304" pitchFamily="18" charset="0"/>
              </a:rPr>
              <a:t>Keyword-based ATS tools, like our Phase 1 system, only answer whether a resume contains the words of a job description. They cannot judge whether a skill claim is backed by evidence, they give no explanation when a candidate is rejected, and they can carry hidden bias from names and personal details. As a result, recruiters lose good candidates, trust inflated resumes and cannot justify their decisions. There is a need for a screening system that is accurate, explainable and bias-aware, so that hiring decisions are fair, consistent and auditable.</a:t>
            </a:r>
          </a:p>
        </p:txBody>
      </p:sp>
      <p:pic>
        <p:nvPicPr>
          <p:cNvPr id="3" name="Picture 2">
            <a:extLst>
              <a:ext uri="{FF2B5EF4-FFF2-40B4-BE49-F238E27FC236}">
                <a16:creationId xmlns:a16="http://schemas.microsoft.com/office/drawing/2014/main" id="{7DD0EE70-0214-AFD7-4E35-F20722CE2A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2335" y="102039"/>
            <a:ext cx="720000" cy="720000"/>
          </a:xfrm>
          <a:prstGeom prst="rect">
            <a:avLst/>
          </a:prstGeom>
        </p:spPr>
      </p:pic>
    </p:spTree>
    <p:extLst>
      <p:ext uri="{BB962C8B-B14F-4D97-AF65-F5344CB8AC3E}">
        <p14:creationId xmlns:p14="http://schemas.microsoft.com/office/powerpoint/2010/main" val="2258888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F72A899F-935A-BD76-8CAD-62D80AC29C60}"/>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97265" cy="955522"/>
          </a:xfrm>
          <a:prstGeom prst="rect">
            <a:avLst/>
          </a:prstGeom>
        </p:spPr>
      </p:pic>
      <p:sp>
        <p:nvSpPr>
          <p:cNvPr id="11" name="Title 1">
            <a:extLst>
              <a:ext uri="{FF2B5EF4-FFF2-40B4-BE49-F238E27FC236}">
                <a16:creationId xmlns:a16="http://schemas.microsoft.com/office/drawing/2014/main" id="{0BAC6369-E3B5-ABA5-996D-10C2CB76D886}"/>
              </a:ext>
            </a:extLst>
          </p:cNvPr>
          <p:cNvSpPr txBox="1">
            <a:spLocks/>
          </p:cNvSpPr>
          <p:nvPr/>
        </p:nvSpPr>
        <p:spPr>
          <a:xfrm>
            <a:off x="139870" y="957417"/>
            <a:ext cx="10131425" cy="54292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Times New Roman" panose="02020603050405020304" pitchFamily="18" charset="0"/>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47D83EE-054E-17CB-401E-A4E0FD567C16}"/>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graphicFrame>
        <p:nvGraphicFramePr>
          <p:cNvPr id="2" name="Table 1">
            <a:extLst>
              <a:ext uri="{FF2B5EF4-FFF2-40B4-BE49-F238E27FC236}">
                <a16:creationId xmlns:a16="http://schemas.microsoft.com/office/drawing/2014/main" id="{ACD7B64A-E985-9629-5C1E-3FA5D091A123}"/>
              </a:ext>
            </a:extLst>
          </p:cNvPr>
          <p:cNvGraphicFramePr>
            <a:graphicFrameLocks noGrp="1"/>
          </p:cNvGraphicFramePr>
          <p:nvPr>
            <p:extLst>
              <p:ext uri="{D42A27DB-BD31-4B8C-83A1-F6EECF244321}">
                <p14:modId xmlns:p14="http://schemas.microsoft.com/office/powerpoint/2010/main" val="3212081388"/>
              </p:ext>
            </p:extLst>
          </p:nvPr>
        </p:nvGraphicFramePr>
        <p:xfrm>
          <a:off x="139870" y="1393383"/>
          <a:ext cx="11768352" cy="3895334"/>
        </p:xfrm>
        <a:graphic>
          <a:graphicData uri="http://schemas.openxmlformats.org/drawingml/2006/table">
            <a:tbl>
              <a:tblPr firstRow="1" bandRow="1">
                <a:tableStyleId>{5C22544A-7EE6-4342-B048-85BDC9FD1C3A}</a:tableStyleId>
              </a:tblPr>
              <a:tblGrid>
                <a:gridCol w="794026">
                  <a:extLst>
                    <a:ext uri="{9D8B030D-6E8A-4147-A177-3AD203B41FA5}">
                      <a16:colId xmlns:a16="http://schemas.microsoft.com/office/drawing/2014/main" val="513438048"/>
                    </a:ext>
                  </a:extLst>
                </a:gridCol>
                <a:gridCol w="3913315">
                  <a:extLst>
                    <a:ext uri="{9D8B030D-6E8A-4147-A177-3AD203B41FA5}">
                      <a16:colId xmlns:a16="http://schemas.microsoft.com/office/drawing/2014/main" val="2641967713"/>
                    </a:ext>
                  </a:extLst>
                </a:gridCol>
                <a:gridCol w="1806525">
                  <a:extLst>
                    <a:ext uri="{9D8B030D-6E8A-4147-A177-3AD203B41FA5}">
                      <a16:colId xmlns:a16="http://schemas.microsoft.com/office/drawing/2014/main" val="1510769062"/>
                    </a:ext>
                  </a:extLst>
                </a:gridCol>
                <a:gridCol w="2562012">
                  <a:extLst>
                    <a:ext uri="{9D8B030D-6E8A-4147-A177-3AD203B41FA5}">
                      <a16:colId xmlns:a16="http://schemas.microsoft.com/office/drawing/2014/main" val="1943579358"/>
                    </a:ext>
                  </a:extLst>
                </a:gridCol>
                <a:gridCol w="2692474">
                  <a:extLst>
                    <a:ext uri="{9D8B030D-6E8A-4147-A177-3AD203B41FA5}">
                      <a16:colId xmlns:a16="http://schemas.microsoft.com/office/drawing/2014/main" val="3740986500"/>
                    </a:ext>
                  </a:extLst>
                </a:gridCol>
              </a:tblGrid>
              <a:tr h="420614">
                <a:tc>
                  <a:txBody>
                    <a:bodyPr/>
                    <a:lstStyle/>
                    <a:p>
                      <a:r>
                        <a:rPr lang="en-IN" sz="2000" b="1" dirty="0">
                          <a:latin typeface="Times New Roman" panose="02020603050405020304" pitchFamily="18" charset="0"/>
                          <a:cs typeface="Times New Roman" panose="02020603050405020304" pitchFamily="18" charset="0"/>
                        </a:rPr>
                        <a:t>Sl.No</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 Title</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Author</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i="0" u="none" strike="noStrike" dirty="0">
                          <a:solidFill>
                            <a:schemeClr val="bg1"/>
                          </a:solidFill>
                          <a:effectLst/>
                          <a:latin typeface="Times New Roman" panose="02020603050405020304" pitchFamily="18" charset="0"/>
                          <a:cs typeface="Times New Roman" panose="02020603050405020304" pitchFamily="18" charset="0"/>
                        </a:rPr>
                        <a:t>Contribution</a:t>
                      </a:r>
                    </a:p>
                  </a:txBody>
                  <a:tcPr anchor="ctr"/>
                </a:tc>
                <a:tc>
                  <a:txBody>
                    <a:bodyPr/>
                    <a:lstStyle/>
                    <a:p>
                      <a:pPr algn="ctr"/>
                      <a:r>
                        <a:rPr lang="en-IN" sz="2000" b="1" dirty="0">
                          <a:latin typeface="Times New Roman" panose="02020603050405020304" pitchFamily="18" charset="0"/>
                          <a:cs typeface="Times New Roman" panose="02020603050405020304" pitchFamily="18" charset="0"/>
                        </a:rPr>
                        <a:t>Drawback</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0020752"/>
                  </a:ext>
                </a:extLst>
              </a:tr>
              <a:tr h="548886">
                <a:tc>
                  <a:txBody>
                    <a:bodyPr/>
                    <a:lstStyle/>
                    <a:p>
                      <a:pPr algn="ctr"/>
                      <a:r>
                        <a:rPr lang="en-IN" sz="1800" b="0" dirty="0">
                          <a:latin typeface="Times New Roman" panose="02020603050405020304" pitchFamily="18" charset="0"/>
                          <a:cs typeface="Times New Roman" panose="02020603050405020304" pitchFamily="18" charset="0"/>
                        </a:rPr>
                        <a:t>1</a:t>
                      </a:r>
                    </a:p>
                  </a:txBody>
                  <a:tcPr anchor="ctr"/>
                </a:tc>
                <a:tc>
                  <a:txBody>
                    <a:bodyPr/>
                    <a:lstStyle/>
                    <a:p>
                      <a:pPr algn="ctr"/>
                      <a:r>
                        <a:rPr lang="en-IN" sz="1800" b="0" dirty="0">
                          <a:latin typeface="Times New Roman" panose="02020603050405020304" pitchFamily="18" charset="0"/>
                          <a:cs typeface="Times New Roman" panose="02020603050405020304" pitchFamily="18" charset="0"/>
                        </a:rPr>
                        <a:t>FA*IR: A Fair Top-k Ranking Algorithm</a:t>
                      </a:r>
                    </a:p>
                  </a:txBody>
                  <a:tcPr anchor="ctr">
                    <a:lnB w="12700" cmpd="sng">
                      <a:noFill/>
                    </a:lnB>
                  </a:tcPr>
                </a:tc>
                <a:tc>
                  <a:txBody>
                    <a:bodyPr/>
                    <a:lstStyle/>
                    <a:p>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 Zehlike, F. Bonchi, C. Castillo, S. Hajian, M. Megahed, R. Baeza-Yates (2017)</a:t>
                      </a:r>
                      <a:endParaRPr lang="en-IN" sz="1500" dirty="0">
                        <a:latin typeface="Times New Roman" panose="02020603050405020304" pitchFamily="18" charset="0"/>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 re-ranking algorithm that keeps the top-k results fair to a protected group.</a:t>
                      </a:r>
                      <a:endParaRPr lang="en-US" sz="1500" dirty="0"/>
                    </a:p>
                  </a:txBody>
                  <a:tcPr anchor="ctr"/>
                </a:tc>
                <a:tc>
                  <a:txBody>
                    <a:bodyPr/>
                    <a:lstStyle/>
                    <a:p>
                      <a:pPr algn="just"/>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Needs protected attributes at ranking time and does not explain why a candidate received a score.</a:t>
                      </a:r>
                      <a:endParaRPr lang="en-IN" sz="15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58038804"/>
                  </a:ext>
                </a:extLst>
              </a:tr>
              <a:tr h="910658">
                <a:tc>
                  <a:txBody>
                    <a:bodyPr/>
                    <a:lstStyle/>
                    <a:p>
                      <a:pPr algn="ctr"/>
                      <a:r>
                        <a:rPr lang="en-IN" sz="1800" b="0" dirty="0">
                          <a:latin typeface="Times New Roman" panose="02020603050405020304" pitchFamily="18" charset="0"/>
                          <a:cs typeface="Times New Roman" panose="02020603050405020304" pitchFamily="18" charset="0"/>
                        </a:rPr>
                        <a:t>2</a:t>
                      </a:r>
                    </a:p>
                  </a:txBody>
                  <a:tcPr anchor="ctr">
                    <a:lnR w="12700" cmpd="sng">
                      <a:noFill/>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Enhancing Person-Job Fit for Talent Recruitment: An Ability-Aware Neural Network Approach</a:t>
                      </a:r>
                      <a:endParaRPr lang="en-US" sz="15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1800"/>
                        <a:buFont typeface="Times New Roman" panose="02020603050405020304"/>
                        <a:buNone/>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 Qin, H. Zhu, T. Xu, C. Zhu, L. Jiang, E. Chen, H. Xiong (2018)</a:t>
                      </a:r>
                      <a:endParaRPr lang="en-US" sz="1500" dirty="0"/>
                    </a:p>
                  </a:txBody>
                  <a:tcPr anchor="ctr">
                    <a:lnL w="12700" cmpd="sng">
                      <a:noFill/>
                    </a:lnL>
                  </a:tcPr>
                </a:tc>
                <a:tc>
                  <a:txBody>
                    <a:bodyPr/>
                    <a:lstStyle/>
                    <a:p>
                      <a:pPr algn="just"/>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 neural network that learns the abilities a job requires and matches them with the abilities shown in a resume, improving person-job fit prediction.</a:t>
                      </a:r>
                      <a:endParaRPr lang="en-IN" sz="1500" dirty="0">
                        <a:latin typeface="Times New Roman" panose="02020603050405020304" pitchFamily="18" charset="0"/>
                        <a:cs typeface="Times New Roman" panose="02020603050405020304" pitchFamily="18" charset="0"/>
                      </a:endParaRPr>
                    </a:p>
                  </a:txBody>
                  <a:tcPr anchor="ctr"/>
                </a:tc>
                <a:tc>
                  <a:txBody>
                    <a:bodyPr/>
                    <a:lstStyle/>
                    <a:p>
                      <a:pPr algn="just"/>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The learned model gives a match score without a human-readable reason and needs large amounts of historical hiring data.</a:t>
                      </a:r>
                    </a:p>
                  </a:txBody>
                  <a:tcPr anchor="ctr"/>
                </a:tc>
                <a:extLst>
                  <a:ext uri="{0D108BD9-81ED-4DB2-BD59-A6C34878D82A}">
                    <a16:rowId xmlns:a16="http://schemas.microsoft.com/office/drawing/2014/main" val="1333608603"/>
                  </a:ext>
                </a:extLst>
              </a:tr>
            </a:tbl>
          </a:graphicData>
        </a:graphic>
      </p:graphicFrame>
      <p:pic>
        <p:nvPicPr>
          <p:cNvPr id="3" name="Picture 2">
            <a:extLst>
              <a:ext uri="{FF2B5EF4-FFF2-40B4-BE49-F238E27FC236}">
                <a16:creationId xmlns:a16="http://schemas.microsoft.com/office/drawing/2014/main" id="{BF05D6DE-D8FF-A7D2-FDFB-1D263A77E8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26996" y="59268"/>
            <a:ext cx="720000" cy="720000"/>
          </a:xfrm>
          <a:prstGeom prst="rect">
            <a:avLst/>
          </a:prstGeom>
        </p:spPr>
      </p:pic>
    </p:spTree>
    <p:extLst>
      <p:ext uri="{BB962C8B-B14F-4D97-AF65-F5344CB8AC3E}">
        <p14:creationId xmlns:p14="http://schemas.microsoft.com/office/powerpoint/2010/main" val="25440599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416831"/>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F72A899F-935A-BD76-8CAD-62D80AC29C60}"/>
              </a:ext>
            </a:extLst>
          </p:cNvPr>
          <p:cNvPicPr>
            <a:picLocks noChangeAspect="1"/>
          </p:cNvPicPr>
          <p:nvPr/>
        </p:nvPicPr>
        <p:blipFill rotWithShape="1">
          <a:blip r:embed="rId2">
            <a:extLst>
              <a:ext uri="{28A0092B-C50C-407E-A947-70E740481C1C}">
                <a14:useLocalDpi xmlns:a14="http://schemas.microsoft.com/office/drawing/2010/main" val="0"/>
              </a:ext>
            </a:extLst>
          </a:blip>
          <a:srcRect l="1258" t="6458" r="666" b="6557"/>
          <a:stretch/>
        </p:blipFill>
        <p:spPr>
          <a:xfrm>
            <a:off x="0" y="-15722"/>
            <a:ext cx="11356258" cy="955522"/>
          </a:xfrm>
          <a:prstGeom prst="rect">
            <a:avLst/>
          </a:prstGeom>
        </p:spPr>
      </p:pic>
      <p:sp>
        <p:nvSpPr>
          <p:cNvPr id="11" name="Title 1">
            <a:extLst>
              <a:ext uri="{FF2B5EF4-FFF2-40B4-BE49-F238E27FC236}">
                <a16:creationId xmlns:a16="http://schemas.microsoft.com/office/drawing/2014/main" id="{0BAC6369-E3B5-ABA5-996D-10C2CB76D886}"/>
              </a:ext>
            </a:extLst>
          </p:cNvPr>
          <p:cNvSpPr txBox="1">
            <a:spLocks/>
          </p:cNvSpPr>
          <p:nvPr/>
        </p:nvSpPr>
        <p:spPr>
          <a:xfrm>
            <a:off x="139870" y="957417"/>
            <a:ext cx="10131425" cy="54292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28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47D83EE-054E-17CB-401E-A4E0FD567C16}"/>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graphicFrame>
        <p:nvGraphicFramePr>
          <p:cNvPr id="5" name="Table 4">
            <a:extLst>
              <a:ext uri="{FF2B5EF4-FFF2-40B4-BE49-F238E27FC236}">
                <a16:creationId xmlns:a16="http://schemas.microsoft.com/office/drawing/2014/main" id="{71A575CF-CE66-6B5D-B338-1CD44CD24429}"/>
              </a:ext>
            </a:extLst>
          </p:cNvPr>
          <p:cNvGraphicFramePr>
            <a:graphicFrameLocks noGrp="1"/>
          </p:cNvGraphicFramePr>
          <p:nvPr>
            <p:extLst>
              <p:ext uri="{D42A27DB-BD31-4B8C-83A1-F6EECF244321}">
                <p14:modId xmlns:p14="http://schemas.microsoft.com/office/powerpoint/2010/main" val="1952318342"/>
              </p:ext>
            </p:extLst>
          </p:nvPr>
        </p:nvGraphicFramePr>
        <p:xfrm>
          <a:off x="139870" y="1090039"/>
          <a:ext cx="11768352" cy="4108694"/>
        </p:xfrm>
        <a:graphic>
          <a:graphicData uri="http://schemas.openxmlformats.org/drawingml/2006/table">
            <a:tbl>
              <a:tblPr firstRow="1" bandRow="1">
                <a:tableStyleId>{5C22544A-7EE6-4342-B048-85BDC9FD1C3A}</a:tableStyleId>
              </a:tblPr>
              <a:tblGrid>
                <a:gridCol w="794026">
                  <a:extLst>
                    <a:ext uri="{9D8B030D-6E8A-4147-A177-3AD203B41FA5}">
                      <a16:colId xmlns:a16="http://schemas.microsoft.com/office/drawing/2014/main" val="513438048"/>
                    </a:ext>
                  </a:extLst>
                </a:gridCol>
                <a:gridCol w="3913315">
                  <a:extLst>
                    <a:ext uri="{9D8B030D-6E8A-4147-A177-3AD203B41FA5}">
                      <a16:colId xmlns:a16="http://schemas.microsoft.com/office/drawing/2014/main" val="2641967713"/>
                    </a:ext>
                  </a:extLst>
                </a:gridCol>
                <a:gridCol w="1806525">
                  <a:extLst>
                    <a:ext uri="{9D8B030D-6E8A-4147-A177-3AD203B41FA5}">
                      <a16:colId xmlns:a16="http://schemas.microsoft.com/office/drawing/2014/main" val="1510769062"/>
                    </a:ext>
                  </a:extLst>
                </a:gridCol>
                <a:gridCol w="2562012">
                  <a:extLst>
                    <a:ext uri="{9D8B030D-6E8A-4147-A177-3AD203B41FA5}">
                      <a16:colId xmlns:a16="http://schemas.microsoft.com/office/drawing/2014/main" val="1943579358"/>
                    </a:ext>
                  </a:extLst>
                </a:gridCol>
                <a:gridCol w="2692474">
                  <a:extLst>
                    <a:ext uri="{9D8B030D-6E8A-4147-A177-3AD203B41FA5}">
                      <a16:colId xmlns:a16="http://schemas.microsoft.com/office/drawing/2014/main" val="3740986500"/>
                    </a:ext>
                  </a:extLst>
                </a:gridCol>
              </a:tblGrid>
              <a:tr h="420614">
                <a:tc>
                  <a:txBody>
                    <a:bodyPr/>
                    <a:lstStyle/>
                    <a:p>
                      <a:r>
                        <a:rPr lang="en-IN" sz="2000" b="1" dirty="0">
                          <a:latin typeface="Times New Roman" panose="02020603050405020304" pitchFamily="18" charset="0"/>
                          <a:cs typeface="Times New Roman" panose="02020603050405020304" pitchFamily="18" charset="0"/>
                        </a:rPr>
                        <a:t>Sl.No</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 Title</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Author</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i="0" u="none" strike="noStrike" dirty="0">
                          <a:solidFill>
                            <a:schemeClr val="bg1"/>
                          </a:solidFill>
                          <a:effectLst/>
                          <a:latin typeface="Times New Roman" panose="02020603050405020304" pitchFamily="18" charset="0"/>
                          <a:cs typeface="Times New Roman" panose="02020603050405020304" pitchFamily="18" charset="0"/>
                        </a:rPr>
                        <a:t>Contribution</a:t>
                      </a:r>
                    </a:p>
                  </a:txBody>
                  <a:tcPr anchor="ctr"/>
                </a:tc>
                <a:tc>
                  <a:txBody>
                    <a:bodyPr/>
                    <a:lstStyle/>
                    <a:p>
                      <a:pPr algn="ctr"/>
                      <a:r>
                        <a:rPr lang="en-IN" sz="2000" b="1" dirty="0">
                          <a:latin typeface="Times New Roman" panose="02020603050405020304" pitchFamily="18" charset="0"/>
                          <a:cs typeface="Times New Roman" panose="02020603050405020304" pitchFamily="18" charset="0"/>
                        </a:rPr>
                        <a:t>Drawback</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0020752"/>
                  </a:ext>
                </a:extLst>
              </a:tr>
              <a:tr h="910658">
                <a:tc>
                  <a:txBody>
                    <a:bodyPr/>
                    <a:lstStyle/>
                    <a:p>
                      <a:pPr algn="ctr"/>
                      <a:r>
                        <a:rPr lang="en-IN" sz="1600" b="0" dirty="0">
                          <a:latin typeface="Times New Roman" panose="02020603050405020304" pitchFamily="18" charset="0"/>
                          <a:cs typeface="Times New Roman" panose="02020603050405020304" pitchFamily="18" charset="0"/>
                        </a:rPr>
                        <a:t>3</a:t>
                      </a:r>
                    </a:p>
                  </a:txBody>
                  <a:tcPr anchor="ctr"/>
                </a:tc>
                <a:tc>
                  <a:txBody>
                    <a:bodyPr/>
                    <a:lstStyle/>
                    <a:p>
                      <a:pPr algn="ct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Sentence-BERT: Sentence Embeddings using Siamese BERT-Networks</a:t>
                      </a:r>
                      <a:endParaRPr lang="en-IN" sz="1400" b="0" dirty="0">
                        <a:latin typeface="Times New Roman" panose="02020603050405020304" pitchFamily="18" charset="0"/>
                        <a:cs typeface="Times New Roman" panose="02020603050405020304" pitchFamily="18" charset="0"/>
                      </a:endParaRPr>
                    </a:p>
                  </a:txBody>
                  <a:tcPr anchor="ctr">
                    <a:lnB w="12700" cmpd="sng">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N. Reimers, I. Gurevych (2019)</a:t>
                      </a:r>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Produces fast sentence embeddings that capture meaning, so "built REST services" matches "developed HTTP APIs".</a:t>
                      </a:r>
                      <a:endParaRPr lang="en-US" sz="1400" dirty="0"/>
                    </a:p>
                  </a:txBody>
                  <a:tcPr anchor="ctr"/>
                </a:tc>
                <a:tc>
                  <a:txBody>
                    <a:bodyPr/>
                    <a:lstStyle/>
                    <a:p>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 general text-similarity tool; it needs extra logic for skills, experience and fair decision-making.</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58038804"/>
                  </a:ext>
                </a:extLst>
              </a:tr>
              <a:tr h="910658">
                <a:tc>
                  <a:txBody>
                    <a:bodyPr/>
                    <a:lstStyle/>
                    <a:p>
                      <a:pPr algn="ctr"/>
                      <a:r>
                        <a:rPr lang="en-IN" sz="1600" b="0" dirty="0">
                          <a:latin typeface="Times New Roman" panose="02020603050405020304" pitchFamily="18" charset="0"/>
                          <a:cs typeface="Times New Roman" panose="02020603050405020304" pitchFamily="18" charset="0"/>
                        </a:rPr>
                        <a:t>4</a:t>
                      </a:r>
                    </a:p>
                  </a:txBody>
                  <a:tcPr anchor="ctr">
                    <a:lnR w="12700" cmpd="sng">
                      <a:noFill/>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End-to-End Resume Parsing and Finding Candidates for a Job Description Using BERT</a:t>
                      </a:r>
                      <a:endParaRPr 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cs typeface="Times New Roman" panose="02020603050405020304"/>
                        </a:rPr>
                        <a:t>V. Bhatia, P. Rawat, A. Kumar, R. R. Shah (2019)</a:t>
                      </a:r>
                      <a:endParaRPr lang="en-US" sz="1400" dirty="0"/>
                    </a:p>
                  </a:txBody>
                  <a:tcPr anchor="ctr">
                    <a:lnL w="12700" cmpd="sng">
                      <a:noFill/>
                    </a:ln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Extracts structured fields from resumes with BERT and ranks candidates against a job description in one pipeline.</a:t>
                      </a:r>
                      <a:endParaRPr lang="en-US" sz="1400" dirty="0"/>
                    </a:p>
                  </a:txBody>
                  <a:tcPr anchor="ctr"/>
                </a:tc>
                <a:tc>
                  <a:txBody>
                    <a:bodyPr/>
                    <a:lstStyle/>
                    <a:p>
                      <a:pPr algn="just"/>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Produces single similarity score, with no skill-gap breakdown and no check for bias.</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33608603"/>
                  </a:ext>
                </a:extLst>
              </a:tr>
              <a:tr h="739909">
                <a:tc>
                  <a:txBody>
                    <a:bodyPr/>
                    <a:lstStyle/>
                    <a:p>
                      <a:pPr algn="ctr"/>
                      <a:r>
                        <a:rPr lang="en-IN" sz="1600" b="0" dirty="0">
                          <a:latin typeface="Times New Roman" panose="02020603050405020304" pitchFamily="18" charset="0"/>
                          <a:cs typeface="Times New Roman" panose="02020603050405020304" pitchFamily="18" charset="0"/>
                        </a:rPr>
                        <a: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Mitigating Bias in Algorithmic Hiring: Evaluating Claims and Practices</a:t>
                      </a:r>
                      <a:endParaRPr lang="en-US" sz="1400" dirty="0"/>
                    </a:p>
                  </a:txBody>
                  <a:tcPr anchor="ctr">
                    <a:lnT w="12700" cmpd="sng">
                      <a:noFill/>
                    </a:lnT>
                  </a:tcPr>
                </a:tc>
                <a:tc>
                  <a:txBody>
                    <a:bodyPr/>
                    <a:lstStyle/>
                    <a:p>
                      <a:pPr marL="0" marR="0" lvl="0" indent="0" algn="l" rtl="0">
                        <a:lnSpc>
                          <a:spcPct val="100000"/>
                        </a:lnSpc>
                        <a:spcBef>
                          <a:spcPts val="0"/>
                        </a:spcBef>
                        <a:spcAft>
                          <a:spcPts val="0"/>
                        </a:spcAft>
                        <a:buClr>
                          <a:srgbClr val="000000"/>
                        </a:buClr>
                        <a:buSzPts val="1800"/>
                        <a:buFont typeface="Times New Roman" panose="02020603050405020304"/>
                        <a:buNone/>
                      </a:pPr>
                      <a:r>
                        <a:rPr lang="en-US" sz="1600" b="0" i="0" u="none" dirty="0">
                          <a:solidFill>
                            <a:srgbClr val="000000"/>
                          </a:solidFill>
                          <a:latin typeface="Times New Roman" panose="02020603050405020304"/>
                          <a:ea typeface="Times New Roman" panose="02020603050405020304"/>
                          <a:cs typeface="Times New Roman" panose="02020603050405020304"/>
                        </a:rPr>
                        <a:t>M. Raghavan, S. Barocas, J. Kleinberg, K. Levy (2020)</a:t>
                      </a:r>
                      <a:endParaRPr lang="en-US" sz="1400" dirty="0"/>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Examines the bias-mitigation claims made by hiring-algorithm vendors and evaluates them against technical and legal requirements.</a:t>
                      </a:r>
                      <a:endParaRPr lang="en-US" sz="1400" dirty="0"/>
                    </a:p>
                  </a:txBody>
                  <a:tcPr anchor="ctr"/>
                </a:tc>
                <a:tc>
                  <a:txBody>
                    <a:bodyPr/>
                    <a:lstStyle/>
                    <a:p>
                      <a:pPr marL="0" marR="0" lvl="0" indent="0" algn="just" rtl="0">
                        <a:lnSpc>
                          <a:spcPct val="100000"/>
                        </a:lnSpc>
                        <a:spcBef>
                          <a:spcPts val="0"/>
                        </a:spcBef>
                        <a:spcAft>
                          <a:spcPts val="0"/>
                        </a:spcAft>
                        <a:buClr>
                          <a:srgbClr val="000000"/>
                        </a:buClr>
                        <a:buSzPts val="1800"/>
                        <a:buFont typeface="Times New Roman" panose="02020603050405020304"/>
                        <a:buNone/>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An analysis of existing practice; it does not implement a screening system.</a:t>
                      </a:r>
                      <a:endParaRPr lang="en-US" sz="1400" dirty="0"/>
                    </a:p>
                  </a:txBody>
                  <a:tcPr anchor="ctr"/>
                </a:tc>
                <a:extLst>
                  <a:ext uri="{0D108BD9-81ED-4DB2-BD59-A6C34878D82A}">
                    <a16:rowId xmlns:a16="http://schemas.microsoft.com/office/drawing/2014/main" val="4252814938"/>
                  </a:ext>
                </a:extLst>
              </a:tr>
            </a:tbl>
          </a:graphicData>
        </a:graphic>
      </p:graphicFrame>
      <p:pic>
        <p:nvPicPr>
          <p:cNvPr id="2" name="Picture 1">
            <a:extLst>
              <a:ext uri="{FF2B5EF4-FFF2-40B4-BE49-F238E27FC236}">
                <a16:creationId xmlns:a16="http://schemas.microsoft.com/office/drawing/2014/main" id="{DEB5B825-2528-967F-7859-E3D914D398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14129" y="37471"/>
            <a:ext cx="720000" cy="720000"/>
          </a:xfrm>
          <a:prstGeom prst="rect">
            <a:avLst/>
          </a:prstGeom>
        </p:spPr>
      </p:pic>
    </p:spTree>
    <p:extLst>
      <p:ext uri="{BB962C8B-B14F-4D97-AF65-F5344CB8AC3E}">
        <p14:creationId xmlns:p14="http://schemas.microsoft.com/office/powerpoint/2010/main" val="3322375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02E3349-5DA5-1F31-DE2D-549902E85F5F}"/>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77600" cy="955522"/>
          </a:xfrm>
          <a:prstGeom prst="rect">
            <a:avLst/>
          </a:prstGeom>
        </p:spPr>
      </p:pic>
      <p:grpSp>
        <p:nvGrpSpPr>
          <p:cNvPr id="3" name="Group 2">
            <a:extLst>
              <a:ext uri="{FF2B5EF4-FFF2-40B4-BE49-F238E27FC236}">
                <a16:creationId xmlns:a16="http://schemas.microsoft.com/office/drawing/2014/main" id="{E8C81C03-75DB-9437-2BA0-90A37649AE10}"/>
              </a:ext>
            </a:extLst>
          </p:cNvPr>
          <p:cNvGrpSpPr/>
          <p:nvPr/>
        </p:nvGrpSpPr>
        <p:grpSpPr>
          <a:xfrm>
            <a:off x="0" y="6416831"/>
            <a:ext cx="12192000" cy="546100"/>
            <a:chOff x="0" y="0"/>
            <a:chExt cx="6186311" cy="277095"/>
          </a:xfrm>
          <a:solidFill>
            <a:srgbClr val="FFC000"/>
          </a:solidFill>
        </p:grpSpPr>
        <p:sp>
          <p:nvSpPr>
            <p:cNvPr id="4" name="Freeform 3">
              <a:extLst>
                <a:ext uri="{FF2B5EF4-FFF2-40B4-BE49-F238E27FC236}">
                  <a16:creationId xmlns:a16="http://schemas.microsoft.com/office/drawing/2014/main" id="{A50F20CC-56B6-4773-C045-8B5DBB792589}"/>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sp>
        <p:nvSpPr>
          <p:cNvPr id="5" name="TextBox 4">
            <a:extLst>
              <a:ext uri="{FF2B5EF4-FFF2-40B4-BE49-F238E27FC236}">
                <a16:creationId xmlns:a16="http://schemas.microsoft.com/office/drawing/2014/main" id="{B9DD42E4-01C5-2E18-3A40-072EA6EC5E83}"/>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graphicFrame>
        <p:nvGraphicFramePr>
          <p:cNvPr id="13" name="Table 12">
            <a:extLst>
              <a:ext uri="{FF2B5EF4-FFF2-40B4-BE49-F238E27FC236}">
                <a16:creationId xmlns:a16="http://schemas.microsoft.com/office/drawing/2014/main" id="{0EC240FE-4926-6EBC-5494-EEE8D1425114}"/>
              </a:ext>
            </a:extLst>
          </p:cNvPr>
          <p:cNvGraphicFramePr>
            <a:graphicFrameLocks noGrp="1"/>
          </p:cNvGraphicFramePr>
          <p:nvPr>
            <p:extLst>
              <p:ext uri="{D42A27DB-BD31-4B8C-83A1-F6EECF244321}">
                <p14:modId xmlns:p14="http://schemas.microsoft.com/office/powerpoint/2010/main" val="92625491"/>
              </p:ext>
            </p:extLst>
          </p:nvPr>
        </p:nvGraphicFramePr>
        <p:xfrm>
          <a:off x="139870" y="1111045"/>
          <a:ext cx="11768352" cy="5018165"/>
        </p:xfrm>
        <a:graphic>
          <a:graphicData uri="http://schemas.openxmlformats.org/drawingml/2006/table">
            <a:tbl>
              <a:tblPr firstRow="1" bandRow="1">
                <a:tableStyleId>{5C22544A-7EE6-4342-B048-85BDC9FD1C3A}</a:tableStyleId>
              </a:tblPr>
              <a:tblGrid>
                <a:gridCol w="794026">
                  <a:extLst>
                    <a:ext uri="{9D8B030D-6E8A-4147-A177-3AD203B41FA5}">
                      <a16:colId xmlns:a16="http://schemas.microsoft.com/office/drawing/2014/main" val="513438048"/>
                    </a:ext>
                  </a:extLst>
                </a:gridCol>
                <a:gridCol w="3913315">
                  <a:extLst>
                    <a:ext uri="{9D8B030D-6E8A-4147-A177-3AD203B41FA5}">
                      <a16:colId xmlns:a16="http://schemas.microsoft.com/office/drawing/2014/main" val="2641967713"/>
                    </a:ext>
                  </a:extLst>
                </a:gridCol>
                <a:gridCol w="1806525">
                  <a:extLst>
                    <a:ext uri="{9D8B030D-6E8A-4147-A177-3AD203B41FA5}">
                      <a16:colId xmlns:a16="http://schemas.microsoft.com/office/drawing/2014/main" val="1510769062"/>
                    </a:ext>
                  </a:extLst>
                </a:gridCol>
                <a:gridCol w="2562012">
                  <a:extLst>
                    <a:ext uri="{9D8B030D-6E8A-4147-A177-3AD203B41FA5}">
                      <a16:colId xmlns:a16="http://schemas.microsoft.com/office/drawing/2014/main" val="1943579358"/>
                    </a:ext>
                  </a:extLst>
                </a:gridCol>
                <a:gridCol w="2692474">
                  <a:extLst>
                    <a:ext uri="{9D8B030D-6E8A-4147-A177-3AD203B41FA5}">
                      <a16:colId xmlns:a16="http://schemas.microsoft.com/office/drawing/2014/main" val="3740986500"/>
                    </a:ext>
                  </a:extLst>
                </a:gridCol>
              </a:tblGrid>
              <a:tr h="460481">
                <a:tc>
                  <a:txBody>
                    <a:bodyPr/>
                    <a:lstStyle/>
                    <a:p>
                      <a:r>
                        <a:rPr lang="en-IN" sz="2000" b="1" dirty="0">
                          <a:latin typeface="Times New Roman" panose="02020603050405020304" pitchFamily="18" charset="0"/>
                          <a:cs typeface="Times New Roman" panose="02020603050405020304" pitchFamily="18" charset="0"/>
                        </a:rPr>
                        <a:t>Sl.No</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 Title</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Author</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i="0" u="none" strike="noStrike" dirty="0">
                          <a:solidFill>
                            <a:schemeClr val="bg1"/>
                          </a:solidFill>
                          <a:effectLst/>
                          <a:latin typeface="Times New Roman" panose="02020603050405020304" pitchFamily="18" charset="0"/>
                          <a:cs typeface="Times New Roman" panose="02020603050405020304" pitchFamily="18" charset="0"/>
                        </a:rPr>
                        <a:t>Contribution</a:t>
                      </a:r>
                    </a:p>
                  </a:txBody>
                  <a:tcPr anchor="ctr"/>
                </a:tc>
                <a:tc>
                  <a:txBody>
                    <a:bodyPr/>
                    <a:lstStyle/>
                    <a:p>
                      <a:pPr algn="ctr"/>
                      <a:r>
                        <a:rPr lang="en-IN" sz="2000" b="1" dirty="0">
                          <a:latin typeface="Times New Roman" panose="02020603050405020304" pitchFamily="18" charset="0"/>
                          <a:cs typeface="Times New Roman" panose="02020603050405020304" pitchFamily="18" charset="0"/>
                        </a:rPr>
                        <a:t>Drawback</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0020752"/>
                  </a:ext>
                </a:extLst>
              </a:tr>
              <a:tr h="1501602">
                <a:tc>
                  <a:txBody>
                    <a:bodyPr/>
                    <a:lstStyle/>
                    <a:p>
                      <a:pPr algn="ctr"/>
                      <a:r>
                        <a:rPr lang="en-IN" sz="1600" b="0" dirty="0">
                          <a:latin typeface="Times New Roman" panose="02020603050405020304" pitchFamily="18" charset="0"/>
                          <a:cs typeface="Times New Roman" panose="02020603050405020304" pitchFamily="18" charset="0"/>
                        </a:rPr>
                        <a:t>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 Comprehensive Survey of Artificial Intelligence Techniques for Talent Analytics</a:t>
                      </a:r>
                      <a:endParaRPr lang="en-US" sz="1400" dirty="0"/>
                    </a:p>
                  </a:txBody>
                  <a:tcPr anchor="ctr">
                    <a:lnB w="12700" cmpd="sng">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 Qin, L. Zhang, Y. Cheng, R. Zha, D. Shen, Q. Zhang, X. Chen, Y. Sun, C. Zhu, H. Zhu, H. Xiong (2023)</a:t>
                      </a:r>
                      <a:endParaRPr lang="en-US" sz="1400" dirty="0"/>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Surveys AI techniques used across talent analytics, such as recruitment, including matching and ranking methods.</a:t>
                      </a:r>
                      <a:endParaRPr lang="en-US" sz="1400" dirty="0"/>
                    </a:p>
                  </a:txBody>
                  <a:tcPr anchor="ctr"/>
                </a:tc>
                <a:tc>
                  <a:txBody>
                    <a:bodyPr/>
                    <a:lstStyle/>
                    <a:p>
                      <a:pPr algn="just"/>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 survey; it does not provide an implemented, explainable and bias-aware screening pipeline.</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58038804"/>
                  </a:ext>
                </a:extLst>
              </a:tr>
              <a:tr h="1501602">
                <a:tc>
                  <a:txBody>
                    <a:bodyPr/>
                    <a:lstStyle/>
                    <a:p>
                      <a:pPr algn="ctr"/>
                      <a:r>
                        <a:rPr lang="en-IN" sz="1600" b="0" dirty="0">
                          <a:latin typeface="Times New Roman" panose="02020603050405020304" pitchFamily="18" charset="0"/>
                          <a:cs typeface="Times New Roman" panose="02020603050405020304" pitchFamily="18" charset="0"/>
                        </a:rPr>
                        <a:t>7</a:t>
                      </a:r>
                    </a:p>
                  </a:txBody>
                  <a:tcPr anchor="ctr">
                    <a:lnR w="12700" cmpd="sng">
                      <a:noFill/>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Improving Factuality and Reasoning in Language Models through Multiagent Debate</a:t>
                      </a:r>
                      <a:endParaRPr 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Y. Du, S. Li, A. Torralba, J. B. Tenenbaum, I. Mordatch (2024)</a:t>
                      </a:r>
                      <a:endParaRPr lang="en-US" sz="1400" dirty="0"/>
                    </a:p>
                  </a:txBody>
                  <a:tcPr anchor="ctr">
                    <a:lnL w="12700" cmpd="sng">
                      <a:noFill/>
                    </a:ln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Several language-model agents debate and refine their answers, which improves reasoning and reduces errors.</a:t>
                      </a:r>
                      <a:endParaRPr lang="en-US" sz="1400" dirty="0"/>
                    </a:p>
                  </a:txBody>
                  <a:tcPr anchor="ctr"/>
                </a:tc>
                <a:tc>
                  <a:txBody>
                    <a:bodyPr/>
                    <a:lstStyle/>
                    <a:p>
                      <a:pPr algn="just"/>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Studied on general reasoning tasks, not on hiring decisions, and costs more computation.</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33608603"/>
                  </a:ext>
                </a:extLst>
              </a:tr>
              <a:tr h="1501602">
                <a:tc>
                  <a:txBody>
                    <a:bodyPr/>
                    <a:lstStyle/>
                    <a:p>
                      <a:pPr algn="ctr"/>
                      <a:r>
                        <a:rPr lang="en-IN" sz="1600" b="0" dirty="0">
                          <a:latin typeface="Times New Roman" panose="02020603050405020304" pitchFamily="18" charset="0"/>
                          <a:cs typeface="Times New Roman" panose="02020603050405020304" pitchFamily="18" charset="0"/>
                        </a:rPr>
                        <a:t>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The Silicon Ceiling: Auditing GPT's Race and Gender Biases in Hiring</a:t>
                      </a:r>
                      <a:endParaRPr lang="en-US" sz="1400" dirty="0"/>
                    </a:p>
                  </a:txBody>
                  <a:tcPr anchor="ctr">
                    <a:lnT w="12700" cmpd="sng">
                      <a:noFill/>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L. Armstrong, A. Liu, S. MacNeil, D. Metaxa (2024)</a:t>
                      </a:r>
                      <a:endParaRPr lang="en-US" sz="1400" dirty="0"/>
                    </a:p>
                  </a:txBody>
                  <a:tcPr anchor="ctr"/>
                </a:tc>
                <a:tc>
                  <a:txBody>
                    <a:bodyPr/>
                    <a:lstStyle/>
                    <a:p>
                      <a:pPr algn="just"/>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Shows that GPT-based hiring prompts can produce race- and gender-biased outcomes.</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just"/>
                      <a:r>
                        <a:rPr lang="en-US" sz="16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An audit only; no bias mitigation is built into a working pipeline.</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52814938"/>
                  </a:ext>
                </a:extLst>
              </a:tr>
            </a:tbl>
          </a:graphicData>
        </a:graphic>
      </p:graphicFrame>
      <p:pic>
        <p:nvPicPr>
          <p:cNvPr id="11" name="Picture 10">
            <a:extLst>
              <a:ext uri="{FF2B5EF4-FFF2-40B4-BE49-F238E27FC236}">
                <a16:creationId xmlns:a16="http://schemas.microsoft.com/office/drawing/2014/main" id="{A330BB7A-F0A6-C94A-C13C-2DDD06B546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3846" y="102039"/>
            <a:ext cx="720000" cy="720000"/>
          </a:xfrm>
          <a:prstGeom prst="rect">
            <a:avLst/>
          </a:prstGeom>
        </p:spPr>
      </p:pic>
    </p:spTree>
    <p:extLst>
      <p:ext uri="{BB962C8B-B14F-4D97-AF65-F5344CB8AC3E}">
        <p14:creationId xmlns:p14="http://schemas.microsoft.com/office/powerpoint/2010/main" val="27061136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00E61-22B0-DABD-7704-B381924D01CE}"/>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3074771D-309E-C5AB-0D85-6EC8635F1D10}"/>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6CE42D1B-00EB-D8A0-615A-ACBEF0CF4D59}"/>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C0F4F77C-01EB-8EEC-289A-374CFB13AEDF}"/>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13" name="Title 8">
            <a:extLst>
              <a:ext uri="{FF2B5EF4-FFF2-40B4-BE49-F238E27FC236}">
                <a16:creationId xmlns:a16="http://schemas.microsoft.com/office/drawing/2014/main" id="{4F5439E8-BE38-ABFC-EF61-B082273C82E5}"/>
              </a:ext>
            </a:extLst>
          </p:cNvPr>
          <p:cNvSpPr txBox="1">
            <a:spLocks/>
          </p:cNvSpPr>
          <p:nvPr/>
        </p:nvSpPr>
        <p:spPr>
          <a:xfrm>
            <a:off x="139870" y="1065914"/>
            <a:ext cx="10131425" cy="3470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2800" b="1" dirty="0">
              <a:latin typeface="Times New Roman" panose="02020603050405020304" pitchFamily="18" charset="0"/>
              <a:cs typeface="Times New Roman" panose="02020603050405020304" pitchFamily="18" charset="0"/>
            </a:endParaRPr>
          </a:p>
        </p:txBody>
      </p:sp>
      <p:sp>
        <p:nvSpPr>
          <p:cNvPr id="14" name="Content Placeholder 5">
            <a:extLst>
              <a:ext uri="{FF2B5EF4-FFF2-40B4-BE49-F238E27FC236}">
                <a16:creationId xmlns:a16="http://schemas.microsoft.com/office/drawing/2014/main" id="{0BF30768-BA08-7AFF-4059-2155C1B2E23A}"/>
              </a:ext>
            </a:extLst>
          </p:cNvPr>
          <p:cNvSpPr txBox="1">
            <a:spLocks/>
          </p:cNvSpPr>
          <p:nvPr/>
        </p:nvSpPr>
        <p:spPr>
          <a:xfrm>
            <a:off x="131087" y="1588261"/>
            <a:ext cx="11832313" cy="432888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
        <p:nvSpPr>
          <p:cNvPr id="22" name="Content Placeholder 5">
            <a:extLst>
              <a:ext uri="{FF2B5EF4-FFF2-40B4-BE49-F238E27FC236}">
                <a16:creationId xmlns:a16="http://schemas.microsoft.com/office/drawing/2014/main" id="{0E0EDADD-A106-CAB3-CBBB-BF1264E29040}"/>
              </a:ext>
            </a:extLst>
          </p:cNvPr>
          <p:cNvSpPr txBox="1">
            <a:spLocks/>
          </p:cNvSpPr>
          <p:nvPr/>
        </p:nvSpPr>
        <p:spPr>
          <a:xfrm>
            <a:off x="283488" y="1740661"/>
            <a:ext cx="11500346" cy="432888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383B6003-0B14-FB1E-C45D-B112602F4BB0}"/>
              </a:ext>
            </a:extLst>
          </p:cNvPr>
          <p:cNvPicPr>
            <a:picLocks noChangeAspect="1"/>
          </p:cNvPicPr>
          <p:nvPr/>
        </p:nvPicPr>
        <p:blipFill rotWithShape="1">
          <a:blip r:embed="rId2">
            <a:extLst>
              <a:ext uri="{28A0092B-C50C-407E-A947-70E740481C1C}">
                <a14:useLocalDpi xmlns:a14="http://schemas.microsoft.com/office/drawing/2010/main" val="0"/>
              </a:ext>
            </a:extLst>
          </a:blip>
          <a:srcRect l="1258" t="6458" r="666" b="6557"/>
          <a:stretch/>
        </p:blipFill>
        <p:spPr>
          <a:xfrm>
            <a:off x="0" y="-15722"/>
            <a:ext cx="11326761" cy="955522"/>
          </a:xfrm>
          <a:prstGeom prst="rect">
            <a:avLst/>
          </a:prstGeom>
        </p:spPr>
      </p:pic>
      <p:sp>
        <p:nvSpPr>
          <p:cNvPr id="17" name="TextBox 16">
            <a:extLst>
              <a:ext uri="{FF2B5EF4-FFF2-40B4-BE49-F238E27FC236}">
                <a16:creationId xmlns:a16="http://schemas.microsoft.com/office/drawing/2014/main" id="{D8AAB3BE-D317-7679-E511-F423CA41471F}"/>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graphicFrame>
        <p:nvGraphicFramePr>
          <p:cNvPr id="2" name="Table 1">
            <a:extLst>
              <a:ext uri="{FF2B5EF4-FFF2-40B4-BE49-F238E27FC236}">
                <a16:creationId xmlns:a16="http://schemas.microsoft.com/office/drawing/2014/main" id="{FAD45885-1508-5706-16ED-9A66403C8E46}"/>
              </a:ext>
            </a:extLst>
          </p:cNvPr>
          <p:cNvGraphicFramePr>
            <a:graphicFrameLocks noGrp="1"/>
          </p:cNvGraphicFramePr>
          <p:nvPr>
            <p:extLst>
              <p:ext uri="{D42A27DB-BD31-4B8C-83A1-F6EECF244321}">
                <p14:modId xmlns:p14="http://schemas.microsoft.com/office/powerpoint/2010/main" val="2994897332"/>
              </p:ext>
            </p:extLst>
          </p:nvPr>
        </p:nvGraphicFramePr>
        <p:xfrm>
          <a:off x="139870" y="1182159"/>
          <a:ext cx="11768352" cy="3621014"/>
        </p:xfrm>
        <a:graphic>
          <a:graphicData uri="http://schemas.openxmlformats.org/drawingml/2006/table">
            <a:tbl>
              <a:tblPr firstRow="1" bandRow="1">
                <a:tableStyleId>{5C22544A-7EE6-4342-B048-85BDC9FD1C3A}</a:tableStyleId>
              </a:tblPr>
              <a:tblGrid>
                <a:gridCol w="794026">
                  <a:extLst>
                    <a:ext uri="{9D8B030D-6E8A-4147-A177-3AD203B41FA5}">
                      <a16:colId xmlns:a16="http://schemas.microsoft.com/office/drawing/2014/main" val="513438048"/>
                    </a:ext>
                  </a:extLst>
                </a:gridCol>
                <a:gridCol w="3913315">
                  <a:extLst>
                    <a:ext uri="{9D8B030D-6E8A-4147-A177-3AD203B41FA5}">
                      <a16:colId xmlns:a16="http://schemas.microsoft.com/office/drawing/2014/main" val="2641967713"/>
                    </a:ext>
                  </a:extLst>
                </a:gridCol>
                <a:gridCol w="1806525">
                  <a:extLst>
                    <a:ext uri="{9D8B030D-6E8A-4147-A177-3AD203B41FA5}">
                      <a16:colId xmlns:a16="http://schemas.microsoft.com/office/drawing/2014/main" val="1510769062"/>
                    </a:ext>
                  </a:extLst>
                </a:gridCol>
                <a:gridCol w="2562012">
                  <a:extLst>
                    <a:ext uri="{9D8B030D-6E8A-4147-A177-3AD203B41FA5}">
                      <a16:colId xmlns:a16="http://schemas.microsoft.com/office/drawing/2014/main" val="1943579358"/>
                    </a:ext>
                  </a:extLst>
                </a:gridCol>
                <a:gridCol w="2692474">
                  <a:extLst>
                    <a:ext uri="{9D8B030D-6E8A-4147-A177-3AD203B41FA5}">
                      <a16:colId xmlns:a16="http://schemas.microsoft.com/office/drawing/2014/main" val="3740986500"/>
                    </a:ext>
                  </a:extLst>
                </a:gridCol>
              </a:tblGrid>
              <a:tr h="420614">
                <a:tc>
                  <a:txBody>
                    <a:bodyPr/>
                    <a:lstStyle/>
                    <a:p>
                      <a:r>
                        <a:rPr lang="en-IN" sz="2000" b="1" dirty="0">
                          <a:latin typeface="Times New Roman" panose="02020603050405020304" pitchFamily="18" charset="0"/>
                          <a:cs typeface="Times New Roman" panose="02020603050405020304" pitchFamily="18" charset="0"/>
                        </a:rPr>
                        <a:t>Sl.No</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 Title</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b="1" dirty="0">
                          <a:latin typeface="Times New Roman" panose="02020603050405020304" pitchFamily="18" charset="0"/>
                          <a:cs typeface="Times New Roman" panose="02020603050405020304" pitchFamily="18" charset="0"/>
                        </a:rPr>
                        <a:t>Author</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i="0" u="none" strike="noStrike" dirty="0">
                          <a:solidFill>
                            <a:schemeClr val="bg1"/>
                          </a:solidFill>
                          <a:effectLst/>
                          <a:latin typeface="Times New Roman" panose="02020603050405020304" pitchFamily="18" charset="0"/>
                          <a:cs typeface="Times New Roman" panose="02020603050405020304" pitchFamily="18" charset="0"/>
                        </a:rPr>
                        <a:t>Contribution</a:t>
                      </a:r>
                    </a:p>
                  </a:txBody>
                  <a:tcPr anchor="ctr"/>
                </a:tc>
                <a:tc>
                  <a:txBody>
                    <a:bodyPr/>
                    <a:lstStyle/>
                    <a:p>
                      <a:pPr algn="ctr"/>
                      <a:r>
                        <a:rPr lang="en-IN" sz="2000" b="1" dirty="0">
                          <a:latin typeface="Times New Roman" panose="02020603050405020304" pitchFamily="18" charset="0"/>
                          <a:cs typeface="Times New Roman" panose="02020603050405020304" pitchFamily="18" charset="0"/>
                        </a:rPr>
                        <a:t>Drawback</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0020752"/>
                  </a:ext>
                </a:extLst>
              </a:tr>
              <a:tr h="910658">
                <a:tc>
                  <a:txBody>
                    <a:bodyPr/>
                    <a:lstStyle/>
                    <a:p>
                      <a:pPr algn="ctr"/>
                      <a:r>
                        <a:rPr lang="en-IN" sz="1800" b="0" dirty="0">
                          <a:latin typeface="Times New Roman" panose="02020603050405020304" pitchFamily="18" charset="0"/>
                          <a:cs typeface="Times New Roman" panose="02020603050405020304" pitchFamily="18" charset="0"/>
                        </a:rPr>
                        <a:t>9</a:t>
                      </a:r>
                    </a:p>
                  </a:txBody>
                  <a:tcPr anchor="ctr"/>
                </a:tc>
                <a:tc>
                  <a:txBody>
                    <a:bodyPr/>
                    <a:lstStyle/>
                    <a:p>
                      <a:pPr marL="0" marR="0" lvl="0" indent="0" algn="just" rtl="0">
                        <a:lnSpc>
                          <a:spcPct val="100000"/>
                        </a:lnSpc>
                        <a:spcBef>
                          <a:spcPts val="0"/>
                        </a:spcBef>
                        <a:spcAft>
                          <a:spcPts val="0"/>
                        </a:spcAft>
                        <a:buClr>
                          <a:srgbClr val="000000"/>
                        </a:buClr>
                        <a:buSzPts val="1800"/>
                        <a:buFont typeface="Times New Roman" panose="02020603050405020304"/>
                        <a:buNone/>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Gender, Race, and Intersectional Bias in Resume Screening via Language Model Retrieval</a:t>
                      </a:r>
                      <a:endParaRPr lang="en-US" sz="1400" dirty="0"/>
                    </a:p>
                  </a:txBody>
                  <a:tcPr anchor="ctr">
                    <a:lnB w="12700" cmpd="sng">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K. Wilson, A. Caliskan (2024)</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Audits language-model resume retrieval and shows that it can favour some names and groups over others.</a:t>
                      </a:r>
                      <a:endParaRPr lang="en-US" sz="1400" dirty="0"/>
                    </a:p>
                  </a:txBody>
                  <a:tcPr anchor="ctr"/>
                </a:tc>
                <a:tc>
                  <a:txBody>
                    <a:bodyPr/>
                    <a:lstStyle/>
                    <a:p>
                      <a:pPr algn="just"/>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An audit only; it does not propose a screening system that removes the bias.</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58038804"/>
                  </a:ext>
                </a:extLst>
              </a:tr>
              <a:tr h="910658">
                <a:tc>
                  <a:txBody>
                    <a:bodyPr/>
                    <a:lstStyle/>
                    <a:p>
                      <a:pPr algn="ctr"/>
                      <a:r>
                        <a:rPr lang="en-IN" sz="1800" b="0" dirty="0">
                          <a:latin typeface="Times New Roman" panose="02020603050405020304" pitchFamily="18" charset="0"/>
                          <a:cs typeface="Times New Roman" panose="02020603050405020304" pitchFamily="18" charset="0"/>
                        </a:rPr>
                        <a:t>10</a:t>
                      </a:r>
                    </a:p>
                  </a:txBody>
                  <a:tcPr anchor="ctr">
                    <a:lnR w="12700" cmpd="sng">
                      <a:noFill/>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Comparing BERT and Sentence-BERT for Automated Resume Screening</a:t>
                      </a:r>
                      <a:endParaRPr 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 Deshmukh, A. R. Dahake (2025)</a:t>
                      </a:r>
                      <a:endParaRPr lang="en-US" sz="1400" dirty="0"/>
                    </a:p>
                  </a:txBody>
                  <a:tcPr anchor="ctr">
                    <a:lnL w="12700" cmpd="sng">
                      <a:noFill/>
                    </a:ln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Compares BERT and Sentence-BERT embeddings for matching resumes to job descriptions.</a:t>
                      </a:r>
                      <a:endParaRPr lang="en-US" sz="1400" dirty="0"/>
                    </a:p>
                  </a:txBody>
                  <a:tcPr anchor="ctr"/>
                </a:tc>
                <a:tc>
                  <a:txBody>
                    <a:bodyPr/>
                    <a:lstStyle/>
                    <a:p>
                      <a:pPr algn="just"/>
                      <a:r>
                        <a:rPr lang="en-US" sz="1800" b="0" i="0" u="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Evaluates similarity quality only; explanation of the result and fairness are not addressed.</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33608603"/>
                  </a:ext>
                </a:extLst>
              </a:tr>
            </a:tbl>
          </a:graphicData>
        </a:graphic>
      </p:graphicFrame>
      <p:pic>
        <p:nvPicPr>
          <p:cNvPr id="3" name="Picture 2">
            <a:extLst>
              <a:ext uri="{FF2B5EF4-FFF2-40B4-BE49-F238E27FC236}">
                <a16:creationId xmlns:a16="http://schemas.microsoft.com/office/drawing/2014/main" id="{B06272E2-233C-AF07-C14A-85E7C0DE29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67425" y="102039"/>
            <a:ext cx="720000" cy="720000"/>
          </a:xfrm>
          <a:prstGeom prst="rect">
            <a:avLst/>
          </a:prstGeom>
        </p:spPr>
      </p:pic>
    </p:spTree>
    <p:extLst>
      <p:ext uri="{BB962C8B-B14F-4D97-AF65-F5344CB8AC3E}">
        <p14:creationId xmlns:p14="http://schemas.microsoft.com/office/powerpoint/2010/main" val="3641216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60360352-8E76-E4C8-46BE-2F99AF88A637}"/>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A7A8822-82B9-55D4-8B4C-4F03C3DA2137}"/>
              </a:ext>
            </a:extLst>
          </p:cNvPr>
          <p:cNvSpPr txBox="1"/>
          <p:nvPr/>
        </p:nvSpPr>
        <p:spPr>
          <a:xfrm>
            <a:off x="-1" y="1025101"/>
            <a:ext cx="12191999" cy="4797724"/>
          </a:xfrm>
          <a:prstGeom prst="rect">
            <a:avLst/>
          </a:prstGeom>
          <a:noFill/>
        </p:spPr>
        <p:txBody>
          <a:bodyPr wrap="square">
            <a:spAutoFit/>
          </a:bodyPr>
          <a:lstStyle/>
          <a:p>
            <a:pPr algn="just" eaLnBrk="0" fontAlgn="base" hangingPunct="0">
              <a:lnSpc>
                <a:spcPct val="150000"/>
              </a:lnSpc>
              <a:spcBef>
                <a:spcPct val="0"/>
              </a:spcBef>
              <a:spcAft>
                <a:spcPct val="0"/>
              </a:spcAft>
            </a:pPr>
            <a:r>
              <a:rPr lang="en-US" sz="2800" b="1" dirty="0">
                <a:latin typeface="Times New Roman" panose="02020603050405020304" pitchFamily="18" charset="0"/>
                <a:cs typeface="Times New Roman" panose="02020603050405020304" pitchFamily="18" charset="0"/>
              </a:rPr>
              <a:t>OBJECTIVES</a:t>
            </a:r>
          </a:p>
          <a:p>
            <a:pPr>
              <a:lnSpc>
                <a:spcPct val="150000"/>
              </a:lnSpc>
            </a:pPr>
            <a:r>
              <a:rPr lang="en-US" sz="2000" dirty="0">
                <a:latin typeface="Times New Roman" panose="02020603050405020304" pitchFamily="18" charset="0"/>
                <a:cs typeface="Times New Roman" panose="02020603050405020304" pitchFamily="18" charset="0"/>
              </a:rPr>
              <a:t>1. </a:t>
            </a:r>
            <a:r>
              <a:rPr lang="en-US" sz="2000" u="sng" dirty="0">
                <a:solidFill>
                  <a:srgbClr val="FF0000"/>
                </a:solidFill>
                <a:latin typeface="Times New Roman" panose="02020603050405020304" pitchFamily="18" charset="0"/>
                <a:cs typeface="Times New Roman" panose="02020603050405020304" pitchFamily="18" charset="0"/>
              </a:rPr>
              <a:t>Design</a:t>
            </a:r>
            <a:r>
              <a:rPr lang="en-US" sz="2000" dirty="0">
                <a:latin typeface="Times New Roman" panose="02020603050405020304" pitchFamily="18" charset="0"/>
                <a:cs typeface="Times New Roman" panose="02020603050405020304" pitchFamily="18" charset="0"/>
              </a:rPr>
              <a:t>: An explainable screening workflow that shows why every candidate was ranked and which skills are missing  </a:t>
            </a:r>
          </a:p>
          <a:p>
            <a:pPr>
              <a:lnSpc>
                <a:spcPct val="150000"/>
              </a:lnSpc>
            </a:pPr>
            <a:r>
              <a:rPr lang="en-US" sz="2000" dirty="0">
                <a:latin typeface="Times New Roman" panose="02020603050405020304" pitchFamily="18" charset="0"/>
                <a:cs typeface="Times New Roman" panose="02020603050405020304" pitchFamily="18" charset="0"/>
              </a:rPr>
              <a:t>2. </a:t>
            </a:r>
            <a:r>
              <a:rPr lang="en-US" sz="2000" u="sng" dirty="0">
                <a:solidFill>
                  <a:srgbClr val="FF0000"/>
                </a:solidFill>
                <a:latin typeface="Times New Roman" panose="02020603050405020304" pitchFamily="18" charset="0"/>
                <a:cs typeface="Times New Roman" panose="02020603050405020304" pitchFamily="18" charset="0"/>
              </a:rPr>
              <a:t> Implement</a:t>
            </a:r>
            <a:r>
              <a:rPr lang="en-US" sz="2000" dirty="0">
                <a:latin typeface="Times New Roman" panose="02020603050405020304" pitchFamily="18" charset="0"/>
                <a:cs typeface="Times New Roman" panose="02020603050405020304" pitchFamily="18" charset="0"/>
              </a:rPr>
              <a:t>: A hybrid ranker that combines skills, semantic fit, experience, education, projects, certifications and resume quality.</a:t>
            </a:r>
          </a:p>
          <a:p>
            <a:pPr algn="just">
              <a:lnSpc>
                <a:spcPct val="200000"/>
              </a:lnSpc>
            </a:pPr>
            <a:r>
              <a:rPr lang="en-US" sz="2000" dirty="0">
                <a:latin typeface="Times New Roman" panose="02020603050405020304" pitchFamily="18" charset="0"/>
                <a:cs typeface="Times New Roman" panose="02020603050405020304" pitchFamily="18" charset="0"/>
              </a:rPr>
              <a:t>3. </a:t>
            </a:r>
            <a:r>
              <a:rPr lang="en-US" sz="2000" u="sng" dirty="0">
                <a:solidFill>
                  <a:srgbClr val="FF0000"/>
                </a:solidFill>
                <a:latin typeface="Times New Roman" panose="02020603050405020304" pitchFamily="18" charset="0"/>
                <a:cs typeface="Times New Roman" panose="02020603050405020304" pitchFamily="18" charset="0"/>
              </a:rPr>
              <a:t> Build</a:t>
            </a:r>
            <a:r>
              <a:rPr lang="en-US" sz="2000" dirty="0">
                <a:latin typeface="Times New Roman" panose="02020603050405020304" pitchFamily="18" charset="0"/>
                <a:cs typeface="Times New Roman" panose="02020603050405020304" pitchFamily="18" charset="0"/>
              </a:rPr>
              <a:t>: A skill-synonym ontology with skill-gap analysis that shows matched, partial and missing skills.</a:t>
            </a:r>
          </a:p>
          <a:p>
            <a:pPr algn="just">
              <a:lnSpc>
                <a:spcPct val="200000"/>
              </a:lnSpc>
            </a:pPr>
            <a:r>
              <a:rPr lang="en-US" sz="2000" dirty="0">
                <a:latin typeface="Times New Roman" panose="02020603050405020304" pitchFamily="18" charset="0"/>
                <a:cs typeface="Times New Roman" panose="02020603050405020304" pitchFamily="18" charset="0"/>
              </a:rPr>
              <a:t>4. </a:t>
            </a:r>
            <a:r>
              <a:rPr lang="en-US" sz="2000" u="sng" dirty="0">
                <a:solidFill>
                  <a:srgbClr val="FF0000"/>
                </a:solidFill>
                <a:latin typeface="Times New Roman" panose="02020603050405020304" pitchFamily="18" charset="0"/>
                <a:cs typeface="Times New Roman" panose="02020603050405020304" pitchFamily="18" charset="0"/>
              </a:rPr>
              <a:t> </a:t>
            </a:r>
            <a:r>
              <a:rPr lang="en-US" sz="2000" u="sng" dirty="0" err="1">
                <a:solidFill>
                  <a:srgbClr val="FF0000"/>
                </a:solidFill>
                <a:latin typeface="Times New Roman" panose="02020603050405020304" pitchFamily="18" charset="0"/>
                <a:cs typeface="Times New Roman" panose="02020603050405020304" pitchFamily="18" charset="0"/>
              </a:rPr>
              <a:t>Minimize</a:t>
            </a:r>
            <a:r>
              <a:rPr lang="en-US" sz="2000" dirty="0" err="1">
                <a:latin typeface="Times New Roman" panose="02020603050405020304" pitchFamily="18" charset="0"/>
                <a:cs typeface="Times New Roman" panose="02020603050405020304" pitchFamily="18" charset="0"/>
              </a:rPr>
              <a:t>:Bias</a:t>
            </a:r>
            <a:r>
              <a:rPr lang="en-US" sz="2000" dirty="0">
                <a:latin typeface="Times New Roman" panose="02020603050405020304" pitchFamily="18" charset="0"/>
                <a:cs typeface="Times New Roman" panose="02020603050405020304" pitchFamily="18" charset="0"/>
              </a:rPr>
              <a:t> with a blind-screening mode that hides names and personal details before any scoring.</a:t>
            </a:r>
          </a:p>
          <a:p>
            <a:pPr algn="just">
              <a:lnSpc>
                <a:spcPct val="200000"/>
              </a:lnSpc>
            </a:pPr>
            <a:r>
              <a:rPr lang="en-US" sz="2000" dirty="0">
                <a:latin typeface="Times New Roman" panose="02020603050405020304" pitchFamily="18" charset="0"/>
                <a:cs typeface="Times New Roman" panose="02020603050405020304" pitchFamily="18" charset="0"/>
              </a:rPr>
              <a:t>5. </a:t>
            </a:r>
            <a:r>
              <a:rPr lang="en-US" sz="2000" u="sng" dirty="0">
                <a:solidFill>
                  <a:srgbClr val="FF0000"/>
                </a:solidFill>
                <a:latin typeface="Times New Roman" panose="02020603050405020304" pitchFamily="18" charset="0"/>
                <a:cs typeface="Times New Roman" panose="02020603050405020304" pitchFamily="18" charset="0"/>
              </a:rPr>
              <a:t> Accomplish</a:t>
            </a:r>
            <a:r>
              <a:rPr lang="en-US" sz="2000" dirty="0">
                <a:latin typeface="Times New Roman" panose="02020603050405020304" pitchFamily="18" charset="0"/>
                <a:cs typeface="Times New Roman" panose="02020603050405020304" pitchFamily="18" charset="0"/>
              </a:rPr>
              <a:t>: Fast, auditable hiring decisions through a four-agent review council and a FastAPI service.</a:t>
            </a:r>
          </a:p>
          <a:p>
            <a:pPr marL="0" marR="0" lvl="0" indent="0" algn="just" defTabSz="914400" rtl="0" eaLnBrk="0" fontAlgn="base" latinLnBrk="0" hangingPunct="0">
              <a:lnSpc>
                <a:spcPct val="150000"/>
              </a:lnSpc>
              <a:spcBef>
                <a:spcPct val="0"/>
              </a:spcBef>
              <a:spcAft>
                <a:spcPct val="0"/>
              </a:spcAft>
              <a:buClrTx/>
              <a:buSzTx/>
              <a:tabLst/>
            </a:pPr>
            <a:endParaRPr lang="en-IN"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0B9A3A04-681F-08BF-6B31-8595D34351AD}"/>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93BD5571-B822-670B-C4DC-924F8BEB478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86FFCC8A-07B1-4C26-9757-6DBBA5A4E1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Tree>
    <p:extLst>
      <p:ext uri="{BB962C8B-B14F-4D97-AF65-F5344CB8AC3E}">
        <p14:creationId xmlns:p14="http://schemas.microsoft.com/office/powerpoint/2010/main" val="660225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8B83-1083-0DB0-02D4-6ED739B14BCA}"/>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4D93779B-2CA8-63CB-E7EE-E061EC07D964}"/>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90C567DE-024C-3499-18F3-BAF80A540266}"/>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2B2B0AD-6CDB-70DE-7582-089AC34EBA65}"/>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0F62A63-BEB3-AB52-DDBB-1267A46A935F}"/>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C0B8DDC0-3270-E370-B326-D079EE69BF35}"/>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E8D4DD1-5F8B-628A-18EC-D4E4A5FAF050}"/>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638E69B5-E647-2270-B3D5-A8CF6B3D3E9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BB1CA780-208C-D1A2-FB39-194EAF74FD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0F7E199E-707D-C98A-BD69-E79716A3B812}"/>
              </a:ext>
            </a:extLst>
          </p:cNvPr>
          <p:cNvSpPr txBox="1"/>
          <p:nvPr/>
        </p:nvSpPr>
        <p:spPr>
          <a:xfrm>
            <a:off x="374019" y="1085354"/>
            <a:ext cx="6145160" cy="523220"/>
          </a:xfrm>
          <a:prstGeom prst="rect">
            <a:avLst/>
          </a:prstGeom>
          <a:noFill/>
        </p:spPr>
        <p:txBody>
          <a:bodyPr wrap="square">
            <a:spAutoFit/>
          </a:bodyPr>
          <a:lstStyle/>
          <a:p>
            <a:r>
              <a:rPr lang="en-GB" sz="2800" b="1" dirty="0">
                <a:ln w="0"/>
                <a:latin typeface="Times New Roman" panose="02020603050405020304" pitchFamily="18" charset="0"/>
                <a:ea typeface="Open Sans" panose="020B0606030504020204" pitchFamily="34" charset="0"/>
                <a:cs typeface="Times New Roman" panose="02020603050405020304" pitchFamily="18" charset="0"/>
                <a:sym typeface="Arial" panose="020B0604020202020204"/>
              </a:rPr>
              <a:t>METHODOLOGY</a:t>
            </a:r>
            <a:endParaRPr lang="en-IN" sz="2800" b="1" dirty="0"/>
          </a:p>
        </p:txBody>
      </p:sp>
      <p:sp>
        <p:nvSpPr>
          <p:cNvPr id="25" name="Rectangle 24"/>
          <p:cNvSpPr/>
          <p:nvPr/>
        </p:nvSpPr>
        <p:spPr>
          <a:xfrm>
            <a:off x="7500000" y="1650000"/>
            <a:ext cx="4000000" cy="44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1  Input</a:t>
            </a:r>
          </a:p>
        </p:txBody>
      </p:sp>
      <p:sp>
        <p:nvSpPr>
          <p:cNvPr id="26" name="Rectangle 25"/>
          <p:cNvSpPr/>
          <p:nvPr/>
        </p:nvSpPr>
        <p:spPr>
          <a:xfrm>
            <a:off x="7500000" y="2240000"/>
            <a:ext cx="4000000" cy="44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2  Parsing</a:t>
            </a:r>
          </a:p>
        </p:txBody>
      </p:sp>
      <p:cxnSp>
        <p:nvCxnSpPr>
          <p:cNvPr id="27" name="Connector arrow"/>
          <p:cNvCxnSpPr/>
          <p:nvPr/>
        </p:nvCxnSpPr>
        <p:spPr>
          <a:xfrm>
            <a:off x="9500000" y="2090000"/>
            <a:ext cx="0" cy="150000"/>
          </a:xfrm>
          <a:prstGeom prst="line">
            <a:avLst/>
          </a:prstGeom>
          <a:ln w="12700">
            <a:solidFill>
              <a:srgbClr val="9DB8D2"/>
            </a:solidFill>
            <a:tailEnd type="triangle" w="med" len="med"/>
          </a:ln>
        </p:spPr>
      </p:cxnSp>
      <p:sp>
        <p:nvSpPr>
          <p:cNvPr id="28" name="Rectangle 27"/>
          <p:cNvSpPr/>
          <p:nvPr/>
        </p:nvSpPr>
        <p:spPr>
          <a:xfrm>
            <a:off x="7500000" y="2830000"/>
            <a:ext cx="4000000" cy="44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3  Blind Screening</a:t>
            </a:r>
          </a:p>
        </p:txBody>
      </p:sp>
      <p:cxnSp>
        <p:nvCxnSpPr>
          <p:cNvPr id="29" name="Connector arrow"/>
          <p:cNvCxnSpPr/>
          <p:nvPr/>
        </p:nvCxnSpPr>
        <p:spPr>
          <a:xfrm>
            <a:off x="9500000" y="2680000"/>
            <a:ext cx="0" cy="150000"/>
          </a:xfrm>
          <a:prstGeom prst="line">
            <a:avLst/>
          </a:prstGeom>
          <a:ln w="12700">
            <a:solidFill>
              <a:srgbClr val="9DB8D2"/>
            </a:solidFill>
            <a:tailEnd type="triangle" w="med" len="med"/>
          </a:ln>
        </p:spPr>
      </p:cxnSp>
      <p:sp>
        <p:nvSpPr>
          <p:cNvPr id="30" name="Rectangle 29"/>
          <p:cNvSpPr/>
          <p:nvPr/>
        </p:nvSpPr>
        <p:spPr>
          <a:xfrm>
            <a:off x="7500000" y="3420000"/>
            <a:ext cx="4000000" cy="44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4  Skill Ontology</a:t>
            </a:r>
          </a:p>
        </p:txBody>
      </p:sp>
      <p:cxnSp>
        <p:nvCxnSpPr>
          <p:cNvPr id="31" name="Connector arrow"/>
          <p:cNvCxnSpPr/>
          <p:nvPr/>
        </p:nvCxnSpPr>
        <p:spPr>
          <a:xfrm>
            <a:off x="9500000" y="3270000"/>
            <a:ext cx="0" cy="150000"/>
          </a:xfrm>
          <a:prstGeom prst="line">
            <a:avLst/>
          </a:prstGeom>
          <a:ln w="12700">
            <a:solidFill>
              <a:srgbClr val="9DB8D2"/>
            </a:solidFill>
            <a:tailEnd type="triangle" w="med" len="med"/>
          </a:ln>
        </p:spPr>
      </p:cxnSp>
      <p:sp>
        <p:nvSpPr>
          <p:cNvPr id="32" name="Rectangle 31"/>
          <p:cNvSpPr/>
          <p:nvPr/>
        </p:nvSpPr>
        <p:spPr>
          <a:xfrm>
            <a:off x="7500000" y="4010000"/>
            <a:ext cx="4000000" cy="44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5  Hybrid Ranking</a:t>
            </a:r>
          </a:p>
        </p:txBody>
      </p:sp>
      <p:cxnSp>
        <p:nvCxnSpPr>
          <p:cNvPr id="33" name="Connector arrow"/>
          <p:cNvCxnSpPr/>
          <p:nvPr/>
        </p:nvCxnSpPr>
        <p:spPr>
          <a:xfrm>
            <a:off x="9500000" y="3860000"/>
            <a:ext cx="0" cy="150000"/>
          </a:xfrm>
          <a:prstGeom prst="line">
            <a:avLst/>
          </a:prstGeom>
          <a:ln w="12700">
            <a:solidFill>
              <a:srgbClr val="9DB8D2"/>
            </a:solidFill>
            <a:tailEnd type="triangle" w="med" len="med"/>
          </a:ln>
        </p:spPr>
      </p:cxnSp>
      <p:sp>
        <p:nvSpPr>
          <p:cNvPr id="34" name="Rectangle 33"/>
          <p:cNvSpPr/>
          <p:nvPr/>
        </p:nvSpPr>
        <p:spPr>
          <a:xfrm>
            <a:off x="7500000" y="4600000"/>
            <a:ext cx="4000000" cy="44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6  Council Review</a:t>
            </a:r>
          </a:p>
        </p:txBody>
      </p:sp>
      <p:cxnSp>
        <p:nvCxnSpPr>
          <p:cNvPr id="35" name="Connector arrow"/>
          <p:cNvCxnSpPr/>
          <p:nvPr/>
        </p:nvCxnSpPr>
        <p:spPr>
          <a:xfrm>
            <a:off x="9500000" y="4450000"/>
            <a:ext cx="0" cy="150000"/>
          </a:xfrm>
          <a:prstGeom prst="line">
            <a:avLst/>
          </a:prstGeom>
          <a:ln w="12700">
            <a:solidFill>
              <a:srgbClr val="9DB8D2"/>
            </a:solidFill>
            <a:tailEnd type="triangle" w="med" len="med"/>
          </a:ln>
        </p:spPr>
      </p:cxnSp>
      <p:sp>
        <p:nvSpPr>
          <p:cNvPr id="36" name="Rectangle 35"/>
          <p:cNvSpPr/>
          <p:nvPr/>
        </p:nvSpPr>
        <p:spPr>
          <a:xfrm>
            <a:off x="7500000" y="5190000"/>
            <a:ext cx="4000000" cy="44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7  Explainable Verdict</a:t>
            </a:r>
          </a:p>
        </p:txBody>
      </p:sp>
      <p:cxnSp>
        <p:nvCxnSpPr>
          <p:cNvPr id="37" name="Connector arrow"/>
          <p:cNvCxnSpPr/>
          <p:nvPr/>
        </p:nvCxnSpPr>
        <p:spPr>
          <a:xfrm>
            <a:off x="9500000" y="5040000"/>
            <a:ext cx="0" cy="150000"/>
          </a:xfrm>
          <a:prstGeom prst="line">
            <a:avLst/>
          </a:prstGeom>
          <a:ln w="12700">
            <a:solidFill>
              <a:srgbClr val="9DB8D2"/>
            </a:solidFill>
            <a:tailEnd type="triangle" w="med" len="med"/>
          </a:ln>
        </p:spPr>
      </p:cxnSp>
      <p:sp>
        <p:nvSpPr>
          <p:cNvPr id="38" name="Rectangle 37"/>
          <p:cNvSpPr/>
          <p:nvPr/>
        </p:nvSpPr>
        <p:spPr>
          <a:xfrm>
            <a:off x="7500000" y="5780000"/>
            <a:ext cx="4000000" cy="44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8  Recruiter Dashboard</a:t>
            </a:r>
          </a:p>
        </p:txBody>
      </p:sp>
      <p:cxnSp>
        <p:nvCxnSpPr>
          <p:cNvPr id="39" name="Connector arrow"/>
          <p:cNvCxnSpPr/>
          <p:nvPr/>
        </p:nvCxnSpPr>
        <p:spPr>
          <a:xfrm>
            <a:off x="9500000" y="5630000"/>
            <a:ext cx="0" cy="150000"/>
          </a:xfrm>
          <a:prstGeom prst="line">
            <a:avLst/>
          </a:prstGeom>
          <a:ln w="12700">
            <a:solidFill>
              <a:srgbClr val="9DB8D2"/>
            </a:solidFill>
            <a:tailEnd type="triangle" w="med" len="med"/>
          </a:ln>
        </p:spPr>
      </p:cxnSp>
      <p:sp>
        <p:nvSpPr>
          <p:cNvPr id="90" name="Stage list"/>
          <p:cNvSpPr txBox="1"/>
          <p:nvPr/>
        </p:nvSpPr>
        <p:spPr>
          <a:xfrm>
            <a:off x="264816" y="1600000"/>
            <a:ext cx="6900000" cy="4600000"/>
          </a:xfrm>
          <a:prstGeom prst="rect">
            <a:avLst/>
          </a:prstGeom>
          <a:noFill/>
        </p:spPr>
        <p:txBody>
          <a:bodyPr wrap="square"/>
          <a:lstStyle/>
          <a:p>
            <a:pPr marL="387350" marR="101600" indent="-285750" algn="just">
              <a:lnSpc>
                <a:spcPct val="125000"/>
              </a:lnSpc>
              <a:spcBef>
                <a:spcPts val="900"/>
              </a:spcBef>
              <a:buFont typeface="Arial" panose="020B0604020202020204" pitchFamily="34" charset="0"/>
              <a:buChar char="•"/>
            </a:pPr>
            <a:r>
              <a:rPr lang="en-US" sz="1600" dirty="0" b="1">
                <a:solidFill>
                  <a:srgbClr val="003300"/>
                </a:solidFill>
                <a:latin typeface="Times New Roman" panose="02020603050405020304" pitchFamily="18" charset="0"/>
                <a:cs typeface="Times New Roman" panose="02020603050405020304" pitchFamily="18" charset="0"/>
              </a:rPr>
              <a:t>1. Input: </a:t>
            </a:r>
            <a:r>
              <a:rPr lang="en-US" sz="1600" dirty="0" b="0">
                <a:solidFill>
                  <a:srgbClr val="003300"/>
                </a:solidFill>
                <a:latin typeface="Times New Roman" panose="02020603050405020304" pitchFamily="18" charset="0"/>
                <a:cs typeface="Times New Roman" panose="02020603050405020304" pitchFamily="18" charset="0"/>
              </a:rPr>
              <a:t>Job description + resumes (PDF, DOCX, TXT, scanned)</a:t>
            </a:r>
          </a:p>
          <a:p>
            <a:pPr marL="387350" marR="101600" indent="-285750" algn="just">
              <a:lnSpc>
                <a:spcPct val="125000"/>
              </a:lnSpc>
              <a:spcBef>
                <a:spcPts val="900"/>
              </a:spcBef>
              <a:buFont typeface="Arial" panose="020B0604020202020204" pitchFamily="34" charset="0"/>
              <a:buChar char="•"/>
            </a:pPr>
            <a:r>
              <a:rPr lang="en-US" sz="1600" dirty="0" b="1">
                <a:solidFill>
                  <a:srgbClr val="003300"/>
                </a:solidFill>
                <a:latin typeface="Times New Roman" panose="02020603050405020304" pitchFamily="18" charset="0"/>
                <a:cs typeface="Times New Roman" panose="02020603050405020304" pitchFamily="18" charset="0"/>
              </a:rPr>
              <a:t>2. Parsing: </a:t>
            </a:r>
            <a:r>
              <a:rPr lang="en-US" sz="1600" dirty="0" b="0">
                <a:solidFill>
                  <a:srgbClr val="003300"/>
                </a:solidFill>
                <a:latin typeface="Times New Roman" panose="02020603050405020304" pitchFamily="18" charset="0"/>
                <a:cs typeface="Times New Roman" panose="02020603050405020304" pitchFamily="18" charset="0"/>
              </a:rPr>
              <a:t>skills, experience, education and projects are extracted.</a:t>
            </a:r>
          </a:p>
          <a:p>
            <a:pPr marL="387350" marR="101600" indent="-285750" algn="just">
              <a:lnSpc>
                <a:spcPct val="125000"/>
              </a:lnSpc>
              <a:spcBef>
                <a:spcPts val="900"/>
              </a:spcBef>
              <a:buFont typeface="Arial" panose="020B0604020202020204" pitchFamily="34" charset="0"/>
              <a:buChar char="•"/>
            </a:pPr>
            <a:r>
              <a:rPr lang="en-US" sz="1600" dirty="0" b="1">
                <a:solidFill>
                  <a:srgbClr val="003300"/>
                </a:solidFill>
                <a:latin typeface="Times New Roman" panose="02020603050405020304" pitchFamily="18" charset="0"/>
                <a:cs typeface="Times New Roman" panose="02020603050405020304" pitchFamily="18" charset="0"/>
              </a:rPr>
              <a:t>3. Blind Screening: </a:t>
            </a:r>
            <a:r>
              <a:rPr lang="en-US" sz="1600" dirty="0" b="0">
                <a:solidFill>
                  <a:srgbClr val="003300"/>
                </a:solidFill>
                <a:latin typeface="Times New Roman" panose="02020603050405020304" pitchFamily="18" charset="0"/>
                <a:cs typeface="Times New Roman" panose="02020603050405020304" pitchFamily="18" charset="0"/>
              </a:rPr>
              <a:t>name and personal details are hidden.</a:t>
            </a:r>
          </a:p>
          <a:p>
            <a:pPr marL="387350" marR="101600" indent="-285750" algn="just">
              <a:lnSpc>
                <a:spcPct val="125000"/>
              </a:lnSpc>
              <a:spcBef>
                <a:spcPts val="900"/>
              </a:spcBef>
              <a:buFont typeface="Arial" panose="020B0604020202020204" pitchFamily="34" charset="0"/>
              <a:buChar char="•"/>
            </a:pPr>
            <a:r>
              <a:rPr lang="en-US" sz="1600" dirty="0" b="1">
                <a:solidFill>
                  <a:srgbClr val="003300"/>
                </a:solidFill>
                <a:latin typeface="Times New Roman" panose="02020603050405020304" pitchFamily="18" charset="0"/>
                <a:cs typeface="Times New Roman" panose="02020603050405020304" pitchFamily="18" charset="0"/>
              </a:rPr>
              <a:t>4. Skill Ontology: </a:t>
            </a:r>
            <a:r>
              <a:rPr lang="en-US" sz="1600" dirty="0" b="0">
                <a:solidFill>
                  <a:srgbClr val="003300"/>
                </a:solidFill>
                <a:latin typeface="Times New Roman" panose="02020603050405020304" pitchFamily="18" charset="0"/>
                <a:cs typeface="Times New Roman" panose="02020603050405020304" pitchFamily="18" charset="0"/>
              </a:rPr>
              <a:t>synonyms and partial skill matches.</a:t>
            </a:r>
          </a:p>
          <a:p>
            <a:pPr marL="387350" marR="101600" indent="-285750" algn="just">
              <a:lnSpc>
                <a:spcPct val="125000"/>
              </a:lnSpc>
              <a:spcBef>
                <a:spcPts val="900"/>
              </a:spcBef>
              <a:buFont typeface="Arial" panose="020B0604020202020204" pitchFamily="34" charset="0"/>
              <a:buChar char="•"/>
            </a:pPr>
            <a:r>
              <a:rPr lang="en-US" sz="1600" dirty="0" b="1">
                <a:solidFill>
                  <a:srgbClr val="003300"/>
                </a:solidFill>
                <a:latin typeface="Times New Roman" panose="02020603050405020304" pitchFamily="18" charset="0"/>
                <a:cs typeface="Times New Roman" panose="02020603050405020304" pitchFamily="18" charset="0"/>
              </a:rPr>
              <a:t>5. Hybrid Ranking: </a:t>
            </a:r>
            <a:r>
              <a:rPr lang="en-US" sz="1600" dirty="0" b="0">
                <a:solidFill>
                  <a:srgbClr val="003300"/>
                </a:solidFill>
                <a:latin typeface="Times New Roman" panose="02020603050405020304" pitchFamily="18" charset="0"/>
                <a:cs typeface="Times New Roman" panose="02020603050405020304" pitchFamily="18" charset="0"/>
              </a:rPr>
              <a:t>seven weighted scores give the match %.</a:t>
            </a:r>
          </a:p>
          <a:p>
            <a:pPr marL="387350" marR="101600" indent="-285750" algn="just">
              <a:lnSpc>
                <a:spcPct val="125000"/>
              </a:lnSpc>
              <a:spcBef>
                <a:spcPts val="900"/>
              </a:spcBef>
              <a:buFont typeface="Arial" panose="020B0604020202020204" pitchFamily="34" charset="0"/>
              <a:buChar char="•"/>
            </a:pPr>
            <a:r>
              <a:rPr lang="en-US" sz="1600" dirty="0" b="1">
                <a:solidFill>
                  <a:srgbClr val="003300"/>
                </a:solidFill>
                <a:latin typeface="Times New Roman" panose="02020603050405020304" pitchFamily="18" charset="0"/>
                <a:cs typeface="Times New Roman" panose="02020603050405020304" pitchFamily="18" charset="0"/>
              </a:rPr>
              <a:t>6. Council Review: </a:t>
            </a:r>
            <a:r>
              <a:rPr lang="en-US" sz="1600" dirty="0" b="0">
                <a:solidFill>
                  <a:srgbClr val="003300"/>
                </a:solidFill>
                <a:latin typeface="Times New Roman" panose="02020603050405020304" pitchFamily="18" charset="0"/>
                <a:cs typeface="Times New Roman" panose="02020603050405020304" pitchFamily="18" charset="0"/>
              </a:rPr>
              <a:t>four agents score and debate.</a:t>
            </a:r>
          </a:p>
          <a:p>
            <a:pPr marL="387350" marR="101600" indent="-285750" algn="just">
              <a:lnSpc>
                <a:spcPct val="125000"/>
              </a:lnSpc>
              <a:spcBef>
                <a:spcPts val="900"/>
              </a:spcBef>
              <a:buFont typeface="Arial" panose="020B0604020202020204" pitchFamily="34" charset="0"/>
              <a:buChar char="•"/>
            </a:pPr>
            <a:r>
              <a:rPr lang="en-US" sz="1600" dirty="0" b="1">
                <a:solidFill>
                  <a:srgbClr val="003300"/>
                </a:solidFill>
                <a:latin typeface="Times New Roman" panose="02020603050405020304" pitchFamily="18" charset="0"/>
                <a:cs typeface="Times New Roman" panose="02020603050405020304" pitchFamily="18" charset="0"/>
              </a:rPr>
              <a:t>7. Explainable Verdict: </a:t>
            </a:r>
            <a:r>
              <a:rPr lang="en-US" sz="1600" dirty="0" b="0">
                <a:solidFill>
                  <a:srgbClr val="003300"/>
                </a:solidFill>
                <a:latin typeface="Times New Roman" panose="02020603050405020304" pitchFamily="18" charset="0"/>
                <a:cs typeface="Times New Roman" panose="02020603050405020304" pitchFamily="18" charset="0"/>
              </a:rPr>
              <a:t>score, red flags and rationale.</a:t>
            </a:r>
          </a:p>
          <a:p>
            <a:pPr marL="387350" marR="101600" indent="-285750" algn="just">
              <a:lnSpc>
                <a:spcPct val="125000"/>
              </a:lnSpc>
              <a:spcBef>
                <a:spcPts val="900"/>
              </a:spcBef>
              <a:buFont typeface="Arial" panose="020B0604020202020204" pitchFamily="34" charset="0"/>
              <a:buChar char="•"/>
            </a:pPr>
            <a:r>
              <a:rPr lang="en-US" sz="1600" dirty="0" b="1">
                <a:solidFill>
                  <a:srgbClr val="003300"/>
                </a:solidFill>
                <a:latin typeface="Times New Roman" panose="02020603050405020304" pitchFamily="18" charset="0"/>
                <a:cs typeface="Times New Roman" panose="02020603050405020304" pitchFamily="18" charset="0"/>
              </a:rPr>
              <a:t>8. Recruiter Dashboard: </a:t>
            </a:r>
            <a:r>
              <a:rPr lang="en-US" sz="1600" dirty="0" b="0">
                <a:solidFill>
                  <a:srgbClr val="003300"/>
                </a:solidFill>
                <a:latin typeface="Times New Roman" panose="02020603050405020304" pitchFamily="18" charset="0"/>
                <a:cs typeface="Times New Roman" panose="02020603050405020304" pitchFamily="18" charset="0"/>
              </a:rPr>
              <a:t>leaderboard, compare and export.</a:t>
            </a:r>
          </a:p>
          <a:p>
            <a:pPr marL="387350" marR="101600" indent="-285750" algn="just">
              <a:lnSpc>
                <a:spcPct val="125000"/>
              </a:lnSpc>
              <a:spcBef>
                <a:spcPts val="900"/>
              </a:spcBef>
              <a:buFont typeface="Arial" panose="020B0604020202020204" pitchFamily="34" charset="0"/>
              <a:buChar char="•"/>
            </a:pPr>
            <a:r>
              <a:rPr lang="en-US" sz="1600" dirty="0" b="1">
                <a:solidFill>
                  <a:srgbClr val="003300"/>
                </a:solidFill>
                <a:latin typeface="Times New Roman" panose="02020603050405020304" pitchFamily="18" charset="0"/>
                <a:cs typeface="Times New Roman" panose="02020603050405020304" pitchFamily="18" charset="0"/>
              </a:rPr>
              <a:t>Audit: </a:t>
            </a:r>
            <a:r>
              <a:rPr lang="en-US" sz="1600" dirty="0" b="0">
                <a:solidFill>
                  <a:srgbClr val="003300"/>
                </a:solidFill>
                <a:latin typeface="Times New Roman" panose="02020603050405020304" pitchFamily="18" charset="0"/>
                <a:cs typeface="Times New Roman" panose="02020603050405020304" pitchFamily="18" charset="0"/>
              </a:rPr>
              <a:t>every stage is logged in the screening history, so each ranking can be audited later.</a:t>
            </a:r>
          </a:p>
        </p:txBody>
      </p:sp>
    </p:spTree>
    <p:extLst>
      <p:ext uri="{BB962C8B-B14F-4D97-AF65-F5344CB8AC3E}">
        <p14:creationId xmlns:p14="http://schemas.microsoft.com/office/powerpoint/2010/main" val="1960863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00273-F7C7-D369-3077-E43751641D9D}"/>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1F3BC477-F895-6E27-A960-B7B104364289}"/>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4034E92A-FE69-9CB4-4AF9-1D9800F886B5}"/>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15412593-88B2-89A3-5094-4C90D37B68BA}"/>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8FC1CA5A-B4DA-01F1-990B-C761EFB3D0D4}"/>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30111714-4CFE-0120-1436-D49EB1C9A9E4}"/>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1A3D4D5E-959F-FDD5-9FA3-02E61E0486E1}"/>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882C3CDE-7C4B-464A-AC15-0BAD326A337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5169C503-752A-81CC-F880-231EBD4645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6" name="TextBox 5">
            <a:extLst>
              <a:ext uri="{FF2B5EF4-FFF2-40B4-BE49-F238E27FC236}">
                <a16:creationId xmlns:a16="http://schemas.microsoft.com/office/drawing/2014/main" id="{BD5B54B5-1CD7-7BEA-C795-E4B94E9764A6}"/>
              </a:ext>
            </a:extLst>
          </p:cNvPr>
          <p:cNvSpPr txBox="1"/>
          <p:nvPr/>
        </p:nvSpPr>
        <p:spPr>
          <a:xfrm>
            <a:off x="264816" y="1025101"/>
            <a:ext cx="614516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ARCHITECTURAL DESIGN</a:t>
            </a:r>
            <a:endParaRPr lang="en-IN" sz="2800" b="1" dirty="0"/>
          </a:p>
        </p:txBody>
      </p:sp>
      <p:sp>
        <p:nvSpPr>
          <p:cNvPr id="25" name="Rectangle 24"/>
          <p:cNvSpPr/>
          <p:nvPr/>
        </p:nvSpPr>
        <p:spPr>
          <a:xfrm>
            <a:off x="1296000" y="1650000"/>
            <a:ext cx="9600000" cy="94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600" b="1">
                <a:solidFill>
                  <a:srgbClr val="1A1A1A"/>
                </a:solidFill>
                <a:latin typeface="Arial"/>
              </a:rPr>
              <a:t>Presentation layer</a:t>
            </a:r>
          </a:p>
          <a:p>
            <a:pPr algn="ctr"/>
            <a:r>
              <a:rPr sz="1200">
                <a:solidFill>
                  <a:srgbClr val="1A1A1A"/>
                </a:solidFill>
                <a:latin typeface="Arial"/>
              </a:rPr>
              <a:t>React web app (Nexus ATS, Vercel)  |  Streamlit recruiter workspace  |  Recruiter dashboard: leaderboard, interview kit, chatbot</a:t>
            </a:r>
          </a:p>
        </p:txBody>
      </p:sp>
      <p:sp>
        <p:nvSpPr>
          <p:cNvPr id="26" name="Rectangle 25"/>
          <p:cNvSpPr/>
          <p:nvPr/>
        </p:nvSpPr>
        <p:spPr>
          <a:xfrm>
            <a:off x="1296000" y="2820000"/>
            <a:ext cx="9600000" cy="94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600" b="1">
                <a:solidFill>
                  <a:srgbClr val="1A1A1A"/>
                </a:solidFill>
                <a:latin typeface="Arial"/>
              </a:rPr>
              <a:t>Service layer</a:t>
            </a:r>
          </a:p>
          <a:p>
            <a:pPr algn="ctr"/>
            <a:r>
              <a:rPr sz="1200">
                <a:solidFill>
                  <a:srgbClr val="1A1A1A"/>
                </a:solidFill>
                <a:latin typeface="Arial"/>
              </a:rPr>
              <a:t>FastAPI REST service: screening engine and accounts (Render)
Secure sign-in: hashed passwords, 7-day sessions, Google verified on the server</a:t>
            </a:r>
          </a:p>
        </p:txBody>
      </p:sp>
      <p:cxnSp>
        <p:nvCxnSpPr>
          <p:cNvPr id="27" name="Connector arrow"/>
          <p:cNvCxnSpPr/>
          <p:nvPr/>
        </p:nvCxnSpPr>
        <p:spPr>
          <a:xfrm>
            <a:off x="6096000" y="2590000"/>
            <a:ext cx="0" cy="230000"/>
          </a:xfrm>
          <a:prstGeom prst="line">
            <a:avLst/>
          </a:prstGeom>
          <a:ln w="12700">
            <a:solidFill>
              <a:srgbClr val="9DB8D2"/>
            </a:solidFill>
            <a:tailEnd type="triangle" w="med" len="med"/>
          </a:ln>
        </p:spPr>
      </p:cxnSp>
      <p:sp>
        <p:nvSpPr>
          <p:cNvPr id="28" name="Rectangle 27"/>
          <p:cNvSpPr/>
          <p:nvPr/>
        </p:nvSpPr>
        <p:spPr>
          <a:xfrm>
            <a:off x="1296000" y="3990000"/>
            <a:ext cx="9600000" cy="94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600" b="1">
                <a:solidFill>
                  <a:srgbClr val="1A1A1A"/>
                </a:solidFill>
                <a:latin typeface="Arial"/>
              </a:rPr>
              <a:t>Intelligence engine</a:t>
            </a:r>
          </a:p>
          <a:p>
            <a:pPr algn="ctr"/>
            <a:r>
              <a:rPr sz="1200">
                <a:solidFill>
                  <a:srgbClr val="1A1A1A"/>
                </a:solidFill>
                <a:latin typeface="Arial"/>
              </a:rPr>
              <a:t>Resume parser (PDF, DOCX, TXT, OCR)  |  Skill ontology  |  Hybrid ranker (7 weighted scores)
Four-agent council  |  Interview kit (20+ questions)</a:t>
            </a:r>
          </a:p>
        </p:txBody>
      </p:sp>
      <p:cxnSp>
        <p:nvCxnSpPr>
          <p:cNvPr id="29" name="Connector arrow"/>
          <p:cNvCxnSpPr/>
          <p:nvPr/>
        </p:nvCxnSpPr>
        <p:spPr>
          <a:xfrm>
            <a:off x="6096000" y="3760000"/>
            <a:ext cx="0" cy="230000"/>
          </a:xfrm>
          <a:prstGeom prst="line">
            <a:avLst/>
          </a:prstGeom>
          <a:ln w="12700">
            <a:solidFill>
              <a:srgbClr val="9DB8D2"/>
            </a:solidFill>
            <a:tailEnd type="triangle" w="med" len="med"/>
          </a:ln>
        </p:spPr>
      </p:cxnSp>
      <p:sp>
        <p:nvSpPr>
          <p:cNvPr id="30" name="Rectangle 29"/>
          <p:cNvSpPr/>
          <p:nvPr/>
        </p:nvSpPr>
        <p:spPr>
          <a:xfrm>
            <a:off x="1296000" y="5160000"/>
            <a:ext cx="9600000" cy="94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600" b="1">
                <a:solidFill>
                  <a:srgbClr val="1A1A1A"/>
                </a:solidFill>
                <a:latin typeface="Arial"/>
              </a:rPr>
              <a:t>Data layer</a:t>
            </a:r>
          </a:p>
          <a:p>
            <a:pPr algn="ctr"/>
            <a:r>
              <a:rPr sz="1200">
                <a:solidFill>
                  <a:srgbClr val="1A1A1A"/>
                </a:solidFill>
                <a:latin typeface="Arial"/>
              </a:rPr>
              <a:t>MongoDB Atlas: accounts, sessions, candidate pools  |  SQLite: screening runs, audit trail  |  Job roles: required and preferred skills</a:t>
            </a:r>
          </a:p>
        </p:txBody>
      </p:sp>
      <p:cxnSp>
        <p:nvCxnSpPr>
          <p:cNvPr id="31" name="Connector arrow"/>
          <p:cNvCxnSpPr/>
          <p:nvPr/>
        </p:nvCxnSpPr>
        <p:spPr>
          <a:xfrm>
            <a:off x="6096000" y="4930000"/>
            <a:ext cx="0" cy="230000"/>
          </a:xfrm>
          <a:prstGeom prst="line">
            <a:avLst/>
          </a:prstGeom>
          <a:ln w="12700">
            <a:solidFill>
              <a:srgbClr val="9DB8D2"/>
            </a:solidFill>
            <a:tailEnd type="triangle" w="med" len="med"/>
          </a:ln>
        </p:spPr>
      </p:cxnSp>
    </p:spTree>
    <p:extLst>
      <p:ext uri="{BB962C8B-B14F-4D97-AF65-F5344CB8AC3E}">
        <p14:creationId xmlns:p14="http://schemas.microsoft.com/office/powerpoint/2010/main" val="1592086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C7AD6-5AA8-8896-E352-5A6BE806DDC7}"/>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92382421-C0AF-D47D-6E46-FDA4100E8ADE}"/>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D92C163B-3233-D1EA-7752-F7F668017DA4}"/>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8053E706-4DFB-5F5B-BBAE-9E5FB86A3DDC}"/>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DA5E4479-8E60-255F-7A4A-4641BA35CAF8}"/>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6E7FF7F6-247D-75D7-CE23-854A84E539CF}"/>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DF9D982-58FB-C568-338C-3B482C3F0EAC}"/>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31FE0282-DF5C-D455-0EB3-805C53B2EEFA}"/>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9D1DFEB8-F7A2-BD8E-57E0-FA070EC36E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05BC9AE0-AAF6-E36B-B762-58ACC0C2E085}"/>
              </a:ext>
            </a:extLst>
          </p:cNvPr>
          <p:cNvSpPr txBox="1"/>
          <p:nvPr/>
        </p:nvSpPr>
        <p:spPr>
          <a:xfrm>
            <a:off x="264816" y="1079173"/>
            <a:ext cx="816569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IMPLEMENTATION</a:t>
            </a:r>
            <a:endParaRPr lang="en-IN" sz="2800" b="1" dirty="0">
              <a:latin typeface="Times New Roman" panose="02020603050405020304" pitchFamily="18" charset="0"/>
              <a:cs typeface="Times New Roman" panose="02020603050405020304" pitchFamily="18" charset="0"/>
            </a:endParaRPr>
          </a:p>
        </p:txBody>
      </p:sp>
      <p:sp>
        <p:nvSpPr>
          <p:cNvPr id="49" name="TextBox 48"/>
          <p:cNvSpPr txBox="1"/>
          <p:nvPr/>
        </p:nvSpPr>
        <p:spPr>
          <a:xfrm>
            <a:off x="7950000" y="1650000"/>
            <a:ext cx="4000000" cy="4600000"/>
          </a:xfrm>
          <a:prstGeom prst="rect">
            <a:avLst/>
          </a:prstGeom>
          <a:noFill/>
        </p:spPr>
        <p:txBody>
          <a:bodyPr wrap="square" lIns="60000" tIns="30000" rIns="60000" bIns="30000" anchor="t">
            <a:spAutoFit/>
          </a:bodyPr>
          <a:lstStyle/>
          <a:p>
            <a:pPr marL="285750" indent="-285750" algn="l">
              <a:lnSpc>
                <a:spcPct val="115000"/>
              </a:lnSpc>
              <a:spcAft>
                <a:spcPts val="800"/>
              </a:spcAft>
              <a:buFont typeface="Arial"/>
              <a:buChar char="•"/>
            </a:pPr>
            <a:r>
              <a:rPr sz="1500" b="1">
                <a:solidFill>
                  <a:srgbClr val="000000"/>
                </a:solidFill>
                <a:latin typeface="Times New Roman"/>
              </a:rPr>
              <a:t>Input: </a:t>
            </a:r>
            <a:r>
              <a:rPr sz="1500" b="0">
                <a:solidFill>
                  <a:srgbClr val="000000"/>
                </a:solidFill>
                <a:latin typeface="Times New Roman"/>
              </a:rPr>
              <a:t>the job description and resumes are parsed into structured profiles.</a:t>
            </a:r>
          </a:p>
          <a:p>
            <a:pPr marL="285750" indent="-285750" algn="l">
              <a:lnSpc>
                <a:spcPct val="115000"/>
              </a:lnSpc>
              <a:spcAft>
                <a:spcPts val="800"/>
              </a:spcAft>
              <a:buFont typeface="Arial"/>
              <a:buChar char="•"/>
            </a:pPr>
            <a:r>
              <a:rPr sz="1500" b="1">
                <a:solidFill>
                  <a:srgbClr val="000000"/>
                </a:solidFill>
                <a:latin typeface="Times New Roman"/>
              </a:rPr>
              <a:t>Fairness: </a:t>
            </a:r>
            <a:r>
              <a:rPr sz="1500" b="0">
                <a:solidFill>
                  <a:srgbClr val="000000"/>
                </a:solidFill>
                <a:latin typeface="Times New Roman"/>
              </a:rPr>
              <a:t>blind screening hides identity before any scoring.</a:t>
            </a:r>
          </a:p>
          <a:p>
            <a:pPr marL="285750" indent="-285750" algn="l">
              <a:lnSpc>
                <a:spcPct val="115000"/>
              </a:lnSpc>
              <a:spcAft>
                <a:spcPts val="800"/>
              </a:spcAft>
              <a:buFont typeface="Arial"/>
              <a:buChar char="•"/>
            </a:pPr>
            <a:r>
              <a:rPr sz="1500" b="1">
                <a:solidFill>
                  <a:srgbClr val="000000"/>
                </a:solidFill>
                <a:latin typeface="Times New Roman"/>
              </a:rPr>
              <a:t>Scoring: </a:t>
            </a:r>
            <a:r>
              <a:rPr sz="1500" b="0">
                <a:solidFill>
                  <a:srgbClr val="000000"/>
                </a:solidFill>
                <a:latin typeface="Times New Roman"/>
              </a:rPr>
              <a:t>the ontology feeds a ranker that blends seven signals.</a:t>
            </a:r>
          </a:p>
          <a:p>
            <a:pPr marL="285750" indent="-285750" algn="l">
              <a:lnSpc>
                <a:spcPct val="115000"/>
              </a:lnSpc>
              <a:spcAft>
                <a:spcPts val="800"/>
              </a:spcAft>
              <a:buFont typeface="Arial"/>
              <a:buChar char="•"/>
            </a:pPr>
            <a:r>
              <a:rPr sz="1500" b="1">
                <a:solidFill>
                  <a:srgbClr val="000000"/>
                </a:solidFill>
                <a:latin typeface="Times New Roman"/>
              </a:rPr>
              <a:t>Decision: </a:t>
            </a:r>
            <a:r>
              <a:rPr sz="1500" b="0">
                <a:solidFill>
                  <a:srgbClr val="000000"/>
                </a:solidFill>
                <a:latin typeface="Times New Roman"/>
              </a:rPr>
              <a:t>four agents score, debate and give a verdict with red flags.</a:t>
            </a:r>
          </a:p>
          <a:p>
            <a:pPr marL="285750" indent="-285750" algn="l">
              <a:lnSpc>
                <a:spcPct val="115000"/>
              </a:lnSpc>
              <a:spcAft>
                <a:spcPts val="800"/>
              </a:spcAft>
              <a:buFont typeface="Arial"/>
              <a:buChar char="•"/>
            </a:pPr>
            <a:r>
              <a:rPr sz="1500" b="1">
                <a:solidFill>
                  <a:srgbClr val="000000"/>
                </a:solidFill>
                <a:latin typeface="Times New Roman"/>
              </a:rPr>
              <a:t>Output: </a:t>
            </a:r>
            <a:r>
              <a:rPr sz="1500" b="0">
                <a:solidFill>
                  <a:srgbClr val="000000"/>
                </a:solidFill>
                <a:latin typeface="Times New Roman"/>
              </a:rPr>
              <a:t>leaderboard, skill gap, a 20-question interview kit and a chatbot; the engine is served through FastAPI, with accounts and candidate pools in MongoDB Atlas.</a:t>
            </a:r>
          </a:p>
        </p:txBody>
      </p:sp>
      <p:sp>
        <p:nvSpPr>
          <p:cNvPr id="50" name="Rectangle 49"/>
          <p:cNvSpPr/>
          <p:nvPr/>
        </p:nvSpPr>
        <p:spPr>
          <a:xfrm>
            <a:off x="260000" y="1620000"/>
            <a:ext cx="3550000" cy="50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200" b="1">
                <a:solidFill>
                  <a:srgbClr val="1A1A1A"/>
                </a:solidFill>
                <a:latin typeface="Arial"/>
              </a:rPr>
              <a:t>Job Description</a:t>
            </a:r>
          </a:p>
          <a:p>
            <a:pPr algn="ctr"/>
            <a:r>
              <a:rPr sz="1000">
                <a:solidFill>
                  <a:srgbClr val="1A1A1A"/>
                </a:solidFill>
                <a:latin typeface="Arial"/>
              </a:rPr>
              <a:t>pasted by the recruiter</a:t>
            </a:r>
          </a:p>
        </p:txBody>
      </p:sp>
      <p:sp>
        <p:nvSpPr>
          <p:cNvPr id="51" name="Rectangle 50"/>
          <p:cNvSpPr/>
          <p:nvPr/>
        </p:nvSpPr>
        <p:spPr>
          <a:xfrm>
            <a:off x="4010000" y="1620000"/>
            <a:ext cx="3550000" cy="50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200" b="1">
                <a:solidFill>
                  <a:srgbClr val="1A1A1A"/>
                </a:solidFill>
                <a:latin typeface="Arial"/>
              </a:rPr>
              <a:t>Resume Upload</a:t>
            </a:r>
          </a:p>
          <a:p>
            <a:pPr algn="ctr"/>
            <a:r>
              <a:rPr sz="1000">
                <a:solidFill>
                  <a:srgbClr val="1A1A1A"/>
                </a:solidFill>
                <a:latin typeface="Arial"/>
              </a:rPr>
              <a:t>PDF, DOCX, TXT, scanned (OCR)</a:t>
            </a:r>
          </a:p>
        </p:txBody>
      </p:sp>
      <p:cxnSp>
        <p:nvCxnSpPr>
          <p:cNvPr id="52" name="Connector arrow"/>
          <p:cNvCxnSpPr/>
          <p:nvPr/>
        </p:nvCxnSpPr>
        <p:spPr>
          <a:xfrm>
            <a:off x="2035000" y="2120000"/>
            <a:ext cx="0" cy="170000"/>
          </a:xfrm>
          <a:prstGeom prst="line">
            <a:avLst/>
          </a:prstGeom>
          <a:ln w="12700">
            <a:solidFill>
              <a:srgbClr val="9DB8D2"/>
            </a:solidFill>
            <a:tailEnd type="triangle" w="med" len="med"/>
          </a:ln>
        </p:spPr>
      </p:cxnSp>
      <p:cxnSp>
        <p:nvCxnSpPr>
          <p:cNvPr id="53" name="Connector arrow"/>
          <p:cNvCxnSpPr/>
          <p:nvPr/>
        </p:nvCxnSpPr>
        <p:spPr>
          <a:xfrm>
            <a:off x="5785000" y="2120000"/>
            <a:ext cx="0" cy="170000"/>
          </a:xfrm>
          <a:prstGeom prst="line">
            <a:avLst/>
          </a:prstGeom>
          <a:ln w="12700">
            <a:solidFill>
              <a:srgbClr val="9DB8D2"/>
            </a:solidFill>
            <a:tailEnd type="triangle" w="med" len="med"/>
          </a:ln>
        </p:spPr>
      </p:cxnSp>
      <p:sp>
        <p:nvSpPr>
          <p:cNvPr id="54" name="Rectangle 53"/>
          <p:cNvSpPr/>
          <p:nvPr/>
        </p:nvSpPr>
        <p:spPr>
          <a:xfrm>
            <a:off x="260000" y="2290000"/>
            <a:ext cx="3550000" cy="50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200" b="1">
                <a:solidFill>
                  <a:srgbClr val="1A1A1A"/>
                </a:solidFill>
                <a:latin typeface="Arial"/>
              </a:rPr>
              <a:t>JD Parser</a:t>
            </a:r>
          </a:p>
          <a:p>
            <a:pPr algn="ctr"/>
            <a:r>
              <a:rPr sz="1000">
                <a:solidFill>
                  <a:srgbClr val="1A1A1A"/>
                </a:solidFill>
                <a:latin typeface="Arial"/>
              </a:rPr>
              <a:t>required and preferred skills</a:t>
            </a:r>
          </a:p>
        </p:txBody>
      </p:sp>
      <p:sp>
        <p:nvSpPr>
          <p:cNvPr id="55" name="Rectangle 54"/>
          <p:cNvSpPr/>
          <p:nvPr/>
        </p:nvSpPr>
        <p:spPr>
          <a:xfrm>
            <a:off x="4010000" y="2290000"/>
            <a:ext cx="3550000" cy="50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200" b="1">
                <a:solidFill>
                  <a:srgbClr val="1A1A1A"/>
                </a:solidFill>
                <a:latin typeface="Arial"/>
              </a:rPr>
              <a:t>Resume Parser</a:t>
            </a:r>
          </a:p>
          <a:p>
            <a:pPr algn="ctr"/>
            <a:r>
              <a:rPr sz="1000">
                <a:solidFill>
                  <a:srgbClr val="1A1A1A"/>
                </a:solidFill>
                <a:latin typeface="Arial"/>
              </a:rPr>
              <a:t>skills, experience, education, projects</a:t>
            </a:r>
          </a:p>
        </p:txBody>
      </p:sp>
      <p:cxnSp>
        <p:nvCxnSpPr>
          <p:cNvPr id="56" name="Connector arrow"/>
          <p:cNvCxnSpPr/>
          <p:nvPr/>
        </p:nvCxnSpPr>
        <p:spPr>
          <a:xfrm>
            <a:off x="2035000" y="2790000"/>
            <a:ext cx="0" cy="170000"/>
          </a:xfrm>
          <a:prstGeom prst="line">
            <a:avLst/>
          </a:prstGeom>
          <a:ln w="12700">
            <a:solidFill>
              <a:srgbClr val="9DB8D2"/>
            </a:solidFill>
            <a:tailEnd type="triangle" w="med" len="med"/>
          </a:ln>
        </p:spPr>
      </p:cxnSp>
      <p:cxnSp>
        <p:nvCxnSpPr>
          <p:cNvPr id="57" name="Connector arrow"/>
          <p:cNvCxnSpPr/>
          <p:nvPr/>
        </p:nvCxnSpPr>
        <p:spPr>
          <a:xfrm>
            <a:off x="5785000" y="2790000"/>
            <a:ext cx="0" cy="170000"/>
          </a:xfrm>
          <a:prstGeom prst="line">
            <a:avLst/>
          </a:prstGeom>
          <a:ln w="12700">
            <a:solidFill>
              <a:srgbClr val="9DB8D2"/>
            </a:solidFill>
            <a:tailEnd type="triangle" w="med" len="med"/>
          </a:ln>
        </p:spPr>
      </p:cxnSp>
      <p:sp>
        <p:nvSpPr>
          <p:cNvPr id="58" name="Rectangle 57"/>
          <p:cNvSpPr/>
          <p:nvPr/>
        </p:nvSpPr>
        <p:spPr>
          <a:xfrm>
            <a:off x="260000" y="2960000"/>
            <a:ext cx="7300000" cy="50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200" b="1">
                <a:solidFill>
                  <a:srgbClr val="1A1A1A"/>
                </a:solidFill>
                <a:latin typeface="Arial"/>
              </a:rPr>
              <a:t>Blind Screening (optional)</a:t>
            </a:r>
          </a:p>
          <a:p>
            <a:pPr algn="ctr"/>
            <a:r>
              <a:rPr sz="1000">
                <a:solidFill>
                  <a:srgbClr val="1A1A1A"/>
                </a:solidFill>
                <a:latin typeface="Arial"/>
              </a:rPr>
              <a:t>names and contact details replaced by Candidate #00N</a:t>
            </a:r>
          </a:p>
        </p:txBody>
      </p:sp>
      <p:cxnSp>
        <p:nvCxnSpPr>
          <p:cNvPr id="59" name="Connector arrow"/>
          <p:cNvCxnSpPr/>
          <p:nvPr/>
        </p:nvCxnSpPr>
        <p:spPr>
          <a:xfrm>
            <a:off x="3910000" y="3460000"/>
            <a:ext cx="0" cy="170000"/>
          </a:xfrm>
          <a:prstGeom prst="line">
            <a:avLst/>
          </a:prstGeom>
          <a:ln w="12700">
            <a:solidFill>
              <a:srgbClr val="9DB8D2"/>
            </a:solidFill>
            <a:tailEnd type="triangle" w="med" len="med"/>
          </a:ln>
        </p:spPr>
      </p:cxnSp>
      <p:sp>
        <p:nvSpPr>
          <p:cNvPr id="60" name="Rectangle 59"/>
          <p:cNvSpPr/>
          <p:nvPr/>
        </p:nvSpPr>
        <p:spPr>
          <a:xfrm>
            <a:off x="260000" y="3630000"/>
            <a:ext cx="7300000" cy="50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200" b="1">
                <a:solidFill>
                  <a:srgbClr val="1A1A1A"/>
                </a:solidFill>
                <a:latin typeface="Arial"/>
              </a:rPr>
              <a:t>Skill Ontology</a:t>
            </a:r>
          </a:p>
          <a:p>
            <a:pPr algn="ctr"/>
            <a:r>
              <a:rPr sz="1000">
                <a:solidFill>
                  <a:srgbClr val="1A1A1A"/>
                </a:solidFill>
                <a:latin typeface="Arial"/>
              </a:rPr>
              <a:t>synonyms, partial credit</a:t>
            </a:r>
          </a:p>
        </p:txBody>
      </p:sp>
      <p:cxnSp>
        <p:nvCxnSpPr>
          <p:cNvPr id="61" name="Connector arrow"/>
          <p:cNvCxnSpPr/>
          <p:nvPr/>
        </p:nvCxnSpPr>
        <p:spPr>
          <a:xfrm>
            <a:off x="3910000" y="4130000"/>
            <a:ext cx="0" cy="170000"/>
          </a:xfrm>
          <a:prstGeom prst="line">
            <a:avLst/>
          </a:prstGeom>
          <a:ln w="12700">
            <a:solidFill>
              <a:srgbClr val="9DB8D2"/>
            </a:solidFill>
            <a:tailEnd type="triangle" w="med" len="med"/>
          </a:ln>
        </p:spPr>
      </p:cxnSp>
      <p:sp>
        <p:nvSpPr>
          <p:cNvPr id="62" name="Rectangle 61"/>
          <p:cNvSpPr/>
          <p:nvPr/>
        </p:nvSpPr>
        <p:spPr>
          <a:xfrm>
            <a:off x="260000" y="4300000"/>
            <a:ext cx="7300000" cy="50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200" b="1">
                <a:solidFill>
                  <a:srgbClr val="1A1A1A"/>
                </a:solidFill>
                <a:latin typeface="Arial"/>
              </a:rPr>
              <a:t>Hybrid Ranker</a:t>
            </a:r>
          </a:p>
          <a:p>
            <a:pPr algn="ctr"/>
            <a:r>
              <a:rPr sz="1000">
                <a:solidFill>
                  <a:srgbClr val="1A1A1A"/>
                </a:solidFill>
                <a:latin typeface="Arial"/>
              </a:rPr>
              <a:t>7 weighted scores = match %</a:t>
            </a:r>
          </a:p>
        </p:txBody>
      </p:sp>
      <p:cxnSp>
        <p:nvCxnSpPr>
          <p:cNvPr id="63" name="Connector arrow"/>
          <p:cNvCxnSpPr/>
          <p:nvPr/>
        </p:nvCxnSpPr>
        <p:spPr>
          <a:xfrm>
            <a:off x="3910000" y="4800000"/>
            <a:ext cx="0" cy="170000"/>
          </a:xfrm>
          <a:prstGeom prst="line">
            <a:avLst/>
          </a:prstGeom>
          <a:ln w="12700">
            <a:solidFill>
              <a:srgbClr val="9DB8D2"/>
            </a:solidFill>
            <a:tailEnd type="triangle" w="med" len="med"/>
          </a:ln>
        </p:spPr>
      </p:cxnSp>
      <p:sp>
        <p:nvSpPr>
          <p:cNvPr id="64" name="Rectangle 63"/>
          <p:cNvSpPr/>
          <p:nvPr/>
        </p:nvSpPr>
        <p:spPr>
          <a:xfrm>
            <a:off x="260000" y="4970000"/>
            <a:ext cx="7300000" cy="50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200" b="1">
                <a:solidFill>
                  <a:srgbClr val="1A1A1A"/>
                </a:solidFill>
                <a:latin typeface="Arial"/>
              </a:rPr>
              <a:t>Four-Agent Council</a:t>
            </a:r>
          </a:p>
          <a:p>
            <a:pPr algn="ctr"/>
            <a:r>
              <a:rPr sz="1000">
                <a:solidFill>
                  <a:srgbClr val="1A1A1A"/>
                </a:solidFill>
                <a:latin typeface="Arial"/>
              </a:rPr>
              <a:t>Tech Lead, Culture, Fair Auditor, Seniority</a:t>
            </a:r>
          </a:p>
        </p:txBody>
      </p:sp>
      <p:cxnSp>
        <p:nvCxnSpPr>
          <p:cNvPr id="65" name="Connector arrow"/>
          <p:cNvCxnSpPr/>
          <p:nvPr/>
        </p:nvCxnSpPr>
        <p:spPr>
          <a:xfrm>
            <a:off x="3910000" y="5470000"/>
            <a:ext cx="0" cy="170000"/>
          </a:xfrm>
          <a:prstGeom prst="line">
            <a:avLst/>
          </a:prstGeom>
          <a:ln w="12700">
            <a:solidFill>
              <a:srgbClr val="9DB8D2"/>
            </a:solidFill>
            <a:tailEnd type="triangle" w="med" len="med"/>
          </a:ln>
        </p:spPr>
      </p:cxnSp>
      <p:sp>
        <p:nvSpPr>
          <p:cNvPr id="66" name="Rectangle 65"/>
          <p:cNvSpPr/>
          <p:nvPr/>
        </p:nvSpPr>
        <p:spPr>
          <a:xfrm>
            <a:off x="260000" y="5640000"/>
            <a:ext cx="7300000" cy="50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200" b="1">
                <a:solidFill>
                  <a:srgbClr val="1A1A1A"/>
                </a:solidFill>
                <a:latin typeface="Arial"/>
              </a:rPr>
              <a:t>Verdict + Dashboard</a:t>
            </a:r>
          </a:p>
          <a:p>
            <a:pPr algn="ctr"/>
            <a:r>
              <a:rPr sz="1000">
                <a:solidFill>
                  <a:srgbClr val="1A1A1A"/>
                </a:solidFill>
                <a:latin typeface="Arial"/>
              </a:rPr>
              <a:t>skill gap, interview kit, chatbot</a:t>
            </a:r>
          </a:p>
        </p:txBody>
      </p:sp>
    </p:spTree>
    <p:extLst>
      <p:ext uri="{BB962C8B-B14F-4D97-AF65-F5344CB8AC3E}">
        <p14:creationId xmlns:p14="http://schemas.microsoft.com/office/powerpoint/2010/main" val="37961424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06187-2497-66A0-93D1-0BBF55D9BBA5}"/>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435BB231-5BFC-F5BB-E890-FD4F63A42053}"/>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8F493131-68C6-1571-C341-D175C93B50D0}"/>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723D9AA1-9870-4237-6139-F7153A9669CA}"/>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D125C2F9-D07C-789C-BB46-7ACAC4C3F8B6}"/>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E5590571-CCE8-B2F0-CF3E-A6338BA935EA}"/>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C1C8311-26B0-3AFA-8DA4-5D2E4907B25D}"/>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DA050632-EFC1-241A-AB94-C6F8D3517A3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F5EBBD26-B3A6-E795-991F-4E06339D08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1" name="Title"/>
          <p:cNvSpPr txBox="1"/>
          <p:nvPr/>
        </p:nvSpPr>
        <p:spPr>
          <a:xfrm>
            <a:off x="264816" y="1025101"/>
            <a:ext cx="9000000" cy="523220"/>
          </a:xfrm>
          <a:prstGeom prst="rect">
            <a:avLst/>
          </a:prstGeom>
          <a:noFill/>
        </p:spPr>
        <p:txBody>
          <a:bodyPr wrap="square" lIns="60000" tIns="30000" rIns="60000" bIns="30000" anchor="t">
            <a:spAutoFit/>
          </a:bodyPr>
          <a:lstStyle/>
          <a:p>
            <a:pPr algn="l">
              <a:lnSpc>
                <a:spcPct val="115000"/>
              </a:lnSpc>
              <a:spcAft>
                <a:spcPts val="600"/>
              </a:spcAft>
            </a:pPr>
            <a:r>
              <a:rPr sz="2800" b="1">
                <a:solidFill>
                  <a:srgbClr val="000000"/>
                </a:solidFill>
                <a:latin typeface="Times New Roman"/>
              </a:rPr>
              <a:t>HYBRID RANKING MODEL</a:t>
            </a:r>
          </a:p>
        </p:txBody>
      </p:sp>
      <p:graphicFrame>
        <p:nvGraphicFramePr>
          <p:cNvPr id="32" name="Chart 31"/>
          <p:cNvGraphicFramePr>
            <a:graphicFrameLocks noGrp="1"/>
          </p:cNvGraphicFramePr>
          <p:nvPr/>
        </p:nvGraphicFramePr>
        <p:xfrm>
          <a:off x="260000" y="1600000"/>
          <a:ext cx="6300000" cy="4600000"/>
        </p:xfrm>
        <a:graphic>
          <a:graphicData uri="http://schemas.openxmlformats.org/drawingml/2006/chart">
            <c:chart xmlns:c="http://schemas.openxmlformats.org/drawingml/2006/chart" xmlns:r="http://schemas.openxmlformats.org/officeDocument/2006/relationships" r:id="rId5"/>
          </a:graphicData>
        </a:graphic>
      </p:graphicFrame>
      <p:sp>
        <p:nvSpPr>
          <p:cNvPr id="33" name="TextBox 32"/>
          <p:cNvSpPr txBox="1"/>
          <p:nvPr/>
        </p:nvSpPr>
        <p:spPr>
          <a:xfrm>
            <a:off x="6750000" y="1650000"/>
            <a:ext cx="5200000" cy="4600000"/>
          </a:xfrm>
          <a:prstGeom prst="rect">
            <a:avLst/>
          </a:prstGeom>
          <a:noFill/>
        </p:spPr>
        <p:txBody>
          <a:bodyPr wrap="square" lIns="60000" tIns="30000" rIns="60000" bIns="30000" anchor="t">
            <a:spAutoFit/>
          </a:bodyPr>
          <a:lstStyle/>
          <a:p>
            <a:pPr marL="285750" indent="-285750" algn="l">
              <a:lnSpc>
                <a:spcPct val="115000"/>
              </a:lnSpc>
              <a:spcAft>
                <a:spcPts val="700"/>
              </a:spcAft>
              <a:buFont typeface="Arial"/>
              <a:buChar char="•"/>
            </a:pPr>
            <a:r>
              <a:rPr sz="1500" b="1">
                <a:solidFill>
                  <a:srgbClr val="000000"/>
                </a:solidFill>
                <a:latin typeface="Times New Roman"/>
              </a:rPr>
              <a:t>Match % </a:t>
            </a:r>
            <a:r>
              <a:rPr sz="1500" b="0">
                <a:solidFill>
                  <a:srgbClr val="000000"/>
                </a:solidFill>
                <a:latin typeface="Times New Roman"/>
              </a:rPr>
              <a:t>is the weighted sum of seven scores, each from 0 to 100.</a:t>
            </a:r>
          </a:p>
          <a:p>
            <a:pPr marL="285750" indent="-285750" algn="l">
              <a:lnSpc>
                <a:spcPct val="115000"/>
              </a:lnSpc>
              <a:spcAft>
                <a:spcPts val="700"/>
              </a:spcAft>
              <a:buFont typeface="Arial"/>
              <a:buChar char="•"/>
            </a:pPr>
            <a:r>
              <a:rPr sz="1500" b="1">
                <a:solidFill>
                  <a:srgbClr val="000000"/>
                </a:solidFill>
                <a:latin typeface="Times New Roman"/>
              </a:rPr>
              <a:t>Skills (35%): </a:t>
            </a:r>
            <a:r>
              <a:rPr sz="1500" b="0">
                <a:solidFill>
                  <a:srgbClr val="000000"/>
                </a:solidFill>
                <a:latin typeface="Times New Roman"/>
              </a:rPr>
              <a:t>required skills are matched through the ontology; related skills get partial credit (FastAPI through Flask counts 0.5).</a:t>
            </a:r>
          </a:p>
          <a:p>
            <a:pPr marL="285750" indent="-285750" algn="l">
              <a:lnSpc>
                <a:spcPct val="115000"/>
              </a:lnSpc>
              <a:spcAft>
                <a:spcPts val="700"/>
              </a:spcAft>
              <a:buFont typeface="Arial"/>
              <a:buChar char="•"/>
            </a:pPr>
            <a:r>
              <a:rPr sz="1500" b="1">
                <a:solidFill>
                  <a:srgbClr val="000000"/>
                </a:solidFill>
                <a:latin typeface="Times New Roman"/>
              </a:rPr>
              <a:t>Semantic fit (20%): </a:t>
            </a:r>
            <a:r>
              <a:rPr sz="1500" b="0">
                <a:solidFill>
                  <a:srgbClr val="000000"/>
                </a:solidFill>
                <a:latin typeface="Times New Roman"/>
              </a:rPr>
              <a:t>TF-IDF and BM25 offline, Sentence-BERT when installed.</a:t>
            </a:r>
          </a:p>
          <a:p>
            <a:pPr marL="285750" indent="-285750" algn="l">
              <a:lnSpc>
                <a:spcPct val="115000"/>
              </a:lnSpc>
              <a:spcAft>
                <a:spcPts val="700"/>
              </a:spcAft>
              <a:buFont typeface="Arial"/>
              <a:buChar char="•"/>
            </a:pPr>
            <a:r>
              <a:rPr sz="1500" b="1">
                <a:solidFill>
                  <a:srgbClr val="000000"/>
                </a:solidFill>
                <a:latin typeface="Times New Roman"/>
              </a:rPr>
              <a:t>Evidence weighting: </a:t>
            </a:r>
            <a:r>
              <a:rPr sz="1500" b="0">
                <a:solidFill>
                  <a:srgbClr val="000000"/>
                </a:solidFill>
                <a:latin typeface="Times New Roman"/>
              </a:rPr>
              <a:t>a skill that is listed but never shown in a project or result counts for less.</a:t>
            </a:r>
          </a:p>
          <a:p>
            <a:pPr marL="285750" indent="-285750" algn="l">
              <a:lnSpc>
                <a:spcPct val="115000"/>
              </a:lnSpc>
              <a:spcAft>
                <a:spcPts val="700"/>
              </a:spcAft>
              <a:buFont typeface="Arial"/>
              <a:buChar char="•"/>
            </a:pPr>
            <a:r>
              <a:rPr sz="1500" b="1">
                <a:solidFill>
                  <a:srgbClr val="000000"/>
                </a:solidFill>
                <a:latin typeface="Times New Roman"/>
              </a:rPr>
              <a:t>Flags: </a:t>
            </a:r>
            <a:r>
              <a:rPr sz="1500" b="0">
                <a:solidFill>
                  <a:srgbClr val="000000"/>
                </a:solidFill>
                <a:latin typeface="Times New Roman"/>
              </a:rPr>
              <a:t>experience deficit, skill stuffing and date inconsistency lower the verdict.</a:t>
            </a:r>
          </a:p>
        </p:txBody>
      </p:sp>
    </p:spTree>
    <p:extLst>
      <p:ext uri="{BB962C8B-B14F-4D97-AF65-F5344CB8AC3E}">
        <p14:creationId xmlns:p14="http://schemas.microsoft.com/office/powerpoint/2010/main" val="7098597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3F665-6C87-4E77-3DAD-0B07F39976A1}"/>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819FE947-474C-9A6D-569A-D04FDBF51F87}"/>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63E0F065-7326-7A28-ACF2-EDDCC0BA4964}"/>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2FCD1B2F-4F55-47FE-7EC7-0D39AE438885}"/>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E421DC59-8EBC-849F-D2AD-70666C48C349}"/>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E67C4EA3-C470-ED68-E249-48E2243C241C}"/>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B09BF77-7AA8-6E53-E1EA-24402A9B1898}"/>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A602778F-1918-95DE-C6E2-0D29F29613A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15C1016A-DCDA-9581-E9FC-01AEAFCD0A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1" name="Title"/>
          <p:cNvSpPr txBox="1"/>
          <p:nvPr/>
        </p:nvSpPr>
        <p:spPr>
          <a:xfrm>
            <a:off x="264816" y="1000000"/>
            <a:ext cx="9000000" cy="523220"/>
          </a:xfrm>
          <a:prstGeom prst="rect">
            <a:avLst/>
          </a:prstGeom>
          <a:noFill/>
        </p:spPr>
        <p:txBody>
          <a:bodyPr wrap="square" lIns="60000" tIns="30000" rIns="60000" bIns="30000" anchor="t">
            <a:spAutoFit/>
          </a:bodyPr>
          <a:lstStyle/>
          <a:p>
            <a:pPr algn="l">
              <a:lnSpc>
                <a:spcPct val="115000"/>
              </a:lnSpc>
              <a:spcAft>
                <a:spcPts val="600"/>
              </a:spcAft>
            </a:pPr>
            <a:r>
              <a:rPr sz="2800" b="1">
                <a:solidFill>
                  <a:srgbClr val="000000"/>
                </a:solidFill>
                <a:latin typeface="Times New Roman"/>
              </a:rPr>
              <a:t>FOUR-AGENT COUNCIL AND EXPLAINABILITY</a:t>
            </a:r>
          </a:p>
        </p:txBody>
      </p:sp>
      <p:graphicFrame>
        <p:nvGraphicFramePr>
          <p:cNvPr id="32" name="Chart 31"/>
          <p:cNvGraphicFramePr>
            <a:graphicFrameLocks noGrp="1"/>
          </p:cNvGraphicFramePr>
          <p:nvPr/>
        </p:nvGraphicFramePr>
        <p:xfrm>
          <a:off x="260000" y="1650000"/>
          <a:ext cx="6000000" cy="4550000"/>
        </p:xfrm>
        <a:graphic>
          <a:graphicData uri="http://schemas.openxmlformats.org/drawingml/2006/chart">
            <c:chart xmlns:c="http://schemas.openxmlformats.org/drawingml/2006/chart" xmlns:r="http://schemas.openxmlformats.org/officeDocument/2006/relationships" r:id="rId5"/>
          </a:graphicData>
        </a:graphic>
      </p:graphicFrame>
      <p:sp>
        <p:nvSpPr>
          <p:cNvPr id="33" name="TextBox 32"/>
          <p:cNvSpPr txBox="1"/>
          <p:nvPr/>
        </p:nvSpPr>
        <p:spPr>
          <a:xfrm>
            <a:off x="6450000" y="1650000"/>
            <a:ext cx="5500000" cy="4600000"/>
          </a:xfrm>
          <a:prstGeom prst="rect">
            <a:avLst/>
          </a:prstGeom>
          <a:noFill/>
        </p:spPr>
        <p:txBody>
          <a:bodyPr wrap="square" lIns="60000" tIns="30000" rIns="60000" bIns="30000" anchor="t">
            <a:spAutoFit/>
          </a:bodyPr>
          <a:lstStyle/>
          <a:p>
            <a:pPr marL="285750" indent="-285750" algn="l">
              <a:lnSpc>
                <a:spcPct val="115000"/>
              </a:lnSpc>
              <a:spcAft>
                <a:spcPts val="700"/>
              </a:spcAft>
              <a:buFont typeface="Arial"/>
              <a:buChar char="•"/>
            </a:pPr>
            <a:r>
              <a:rPr sz="1500" b="1">
                <a:solidFill>
                  <a:srgbClr val="000000"/>
                </a:solidFill>
                <a:latin typeface="Times New Roman"/>
              </a:rPr>
              <a:t>Tech Lead: </a:t>
            </a:r>
            <a:r>
              <a:rPr sz="1500" b="0">
                <a:solidFill>
                  <a:srgbClr val="000000"/>
                </a:solidFill>
                <a:latin typeface="Times New Roman"/>
              </a:rPr>
              <a:t>checks skill coverage, evidence and architecture signals.</a:t>
            </a:r>
          </a:p>
          <a:p>
            <a:pPr marL="285750" indent="-285750" algn="l">
              <a:lnSpc>
                <a:spcPct val="115000"/>
              </a:lnSpc>
              <a:spcAft>
                <a:spcPts val="700"/>
              </a:spcAft>
              <a:buFont typeface="Arial"/>
              <a:buChar char="•"/>
            </a:pPr>
            <a:r>
              <a:rPr sz="1500" b="1">
                <a:solidFill>
                  <a:srgbClr val="000000"/>
                </a:solidFill>
                <a:latin typeface="Times New Roman"/>
              </a:rPr>
              <a:t>Culture: </a:t>
            </a:r>
            <a:r>
              <a:rPr sz="1500" b="0">
                <a:solidFill>
                  <a:srgbClr val="000000"/>
                </a:solidFill>
                <a:latin typeface="Times New Roman"/>
              </a:rPr>
              <a:t>judges stability and retention risk.</a:t>
            </a:r>
          </a:p>
          <a:p>
            <a:pPr marL="285750" indent="-285750" algn="l">
              <a:lnSpc>
                <a:spcPct val="115000"/>
              </a:lnSpc>
              <a:spcAft>
                <a:spcPts val="700"/>
              </a:spcAft>
              <a:buFont typeface="Arial"/>
              <a:buChar char="•"/>
            </a:pPr>
            <a:r>
              <a:rPr sz="1500" b="1">
                <a:solidFill>
                  <a:srgbClr val="000000"/>
                </a:solidFill>
                <a:latin typeface="Times New Roman"/>
              </a:rPr>
              <a:t>Fair Auditor: </a:t>
            </a:r>
            <a:r>
              <a:rPr sz="1500" b="0">
                <a:solidFill>
                  <a:srgbClr val="000000"/>
                </a:solidFill>
                <a:latin typeface="Times New Roman"/>
              </a:rPr>
              <a:t>checks that the decision is neutral and bias-free.</a:t>
            </a:r>
          </a:p>
          <a:p>
            <a:pPr marL="285750" indent="-285750" algn="l">
              <a:lnSpc>
                <a:spcPct val="115000"/>
              </a:lnSpc>
              <a:spcAft>
                <a:spcPts val="700"/>
              </a:spcAft>
              <a:buFont typeface="Arial"/>
              <a:buChar char="•"/>
            </a:pPr>
            <a:r>
              <a:rPr sz="1500" b="1">
                <a:solidFill>
                  <a:srgbClr val="000000"/>
                </a:solidFill>
                <a:latin typeface="Times New Roman"/>
              </a:rPr>
              <a:t>Seniority and Compensation: </a:t>
            </a:r>
            <a:r>
              <a:rPr sz="1500" b="0">
                <a:solidFill>
                  <a:srgbClr val="000000"/>
                </a:solidFill>
                <a:latin typeface="Times New Roman"/>
              </a:rPr>
              <a:t>compares experience with the role level.</a:t>
            </a:r>
          </a:p>
          <a:p>
            <a:pPr marL="285750" indent="-285750" algn="l">
              <a:lnSpc>
                <a:spcPct val="115000"/>
              </a:lnSpc>
              <a:spcAft>
                <a:spcPts val="700"/>
              </a:spcAft>
              <a:buFont typeface="Arial"/>
              <a:buChar char="•"/>
            </a:pPr>
            <a:r>
              <a:rPr sz="1500" b="1">
                <a:solidFill>
                  <a:srgbClr val="000000"/>
                </a:solidFill>
                <a:latin typeface="Times New Roman"/>
              </a:rPr>
              <a:t>Consensus: </a:t>
            </a:r>
            <a:r>
              <a:rPr sz="1500" b="0">
                <a:solidFill>
                  <a:srgbClr val="000000"/>
                </a:solidFill>
                <a:latin typeface="Times New Roman"/>
              </a:rPr>
              <a:t>the agents cross-examine each other, then give one verdict (Strong Hire, Lean Hire or Reject) with red flags and a debate transcript.</a:t>
            </a:r>
          </a:p>
        </p:txBody>
      </p:sp>
    </p:spTree>
    <p:extLst>
      <p:ext uri="{BB962C8B-B14F-4D97-AF65-F5344CB8AC3E}">
        <p14:creationId xmlns:p14="http://schemas.microsoft.com/office/powerpoint/2010/main" val="2624496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C4B3C-236A-4313-7A1A-0A68222C6F73}"/>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E4D6207A-36B3-FF56-0E63-AF12ECEC52D9}"/>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319D93A8-EF2C-3482-8A9F-BD7330FBC68C}"/>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B93D9BE1-3DB7-8043-212E-211C2E23C87C}"/>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118C1FCD-E301-BA4E-83A3-A15907C0E760}"/>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F3B65CFB-AD09-30E4-CB08-7D124D7AB3FE}"/>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C8A852AA-FBD5-9F96-7311-76FF664325F9}"/>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F59F735A-2984-9D89-9ECE-0F64A90E96A2}"/>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E3D03F53-6026-4D84-60CA-2486D79BD7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7E7DE59B-73E5-2461-D2A8-A5DAB1C778B3}"/>
              </a:ext>
            </a:extLst>
          </p:cNvPr>
          <p:cNvSpPr txBox="1"/>
          <p:nvPr/>
        </p:nvSpPr>
        <p:spPr>
          <a:xfrm>
            <a:off x="264816" y="905450"/>
            <a:ext cx="614516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DATA FLOW DIAGRAM</a:t>
            </a:r>
            <a:endParaRPr lang="en-IN" sz="2800" b="1" dirty="0"/>
          </a:p>
        </p:txBody>
      </p:sp>
      <p:sp>
        <p:nvSpPr>
          <p:cNvPr id="7" name="TextBox 6">
            <a:extLst>
              <a:ext uri="{FF2B5EF4-FFF2-40B4-BE49-F238E27FC236}">
                <a16:creationId xmlns:a16="http://schemas.microsoft.com/office/drawing/2014/main" id="{B5DED190-22B8-8334-4AD4-F16234047828}"/>
              </a:ext>
            </a:extLst>
          </p:cNvPr>
          <p:cNvSpPr txBox="1"/>
          <p:nvPr/>
        </p:nvSpPr>
        <p:spPr>
          <a:xfrm>
            <a:off x="264816" y="1380354"/>
            <a:ext cx="614516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Resume screening flow:</a:t>
            </a:r>
            <a:endParaRPr lang="en-IN" sz="1800" dirty="0"/>
          </a:p>
        </p:txBody>
      </p:sp>
      <p:sp>
        <p:nvSpPr>
          <p:cNvPr id="12" name="TextBox 11">
            <a:extLst>
              <a:ext uri="{FF2B5EF4-FFF2-40B4-BE49-F238E27FC236}">
                <a16:creationId xmlns:a16="http://schemas.microsoft.com/office/drawing/2014/main" id="{DB226D70-825F-93A6-B73E-FE3C30003046}"/>
              </a:ext>
            </a:extLst>
          </p:cNvPr>
          <p:cNvSpPr txBox="1"/>
          <p:nvPr/>
        </p:nvSpPr>
        <p:spPr>
          <a:xfrm>
            <a:off x="264816" y="1694934"/>
            <a:ext cx="6768794" cy="4521109"/>
          </a:xfrm>
          <a:prstGeom prst="rect">
            <a:avLst/>
          </a:prstGeom>
          <a:noFill/>
        </p:spPr>
        <p:txBody>
          <a:bodyPr wrap="square">
            <a:spAutoFit/>
          </a:bodyPr>
          <a:lstStyle/>
          <a:p>
            <a:pPr marL="387350" marR="101600" indent="-285750" algn="just">
              <a:lnSpc>
                <a:spcPct val="150000"/>
              </a:lnSpc>
              <a:spcBef>
                <a:spcPts val="800"/>
              </a:spcBef>
              <a:buFont typeface="Arial" panose="020B0604020202020204" pitchFamily="34" charset="0"/>
              <a:buChar char="•"/>
            </a:pPr>
            <a:r>
              <a:rPr lang="en-US" sz="1600" dirty="0">
                <a:solidFill>
                  <a:srgbClr val="003300"/>
                </a:solidFill>
                <a:latin typeface="Times New Roman" panose="02020603050405020304" pitchFamily="18" charset="0"/>
                <a:cs typeface="Times New Roman" panose="02020603050405020304" pitchFamily="18" charset="0"/>
              </a:rPr>
              <a:t>The recruiter signs in and uploads the job description and the resumes.</a:t>
            </a:r>
          </a:p>
          <a:p>
            <a:pPr marL="387350" marR="101600" indent="-285750" algn="just">
              <a:lnSpc>
                <a:spcPct val="150000"/>
              </a:lnSpc>
              <a:spcBef>
                <a:spcPts val="800"/>
              </a:spcBef>
              <a:buFont typeface="Arial" panose="020B0604020202020204" pitchFamily="34" charset="0"/>
              <a:buChar char="•"/>
            </a:pPr>
            <a:r>
              <a:rPr lang="en-US" sz="1600" dirty="0">
                <a:solidFill>
                  <a:srgbClr val="003300"/>
                </a:solidFill>
                <a:latin typeface="Times New Roman" panose="02020603050405020304" pitchFamily="18" charset="0"/>
                <a:cs typeface="Times New Roman" panose="02020603050405020304" pitchFamily="18" charset="0"/>
              </a:rPr>
              <a:t>Each resume is parsed into skills, experience, education, projects and certifications.</a:t>
            </a:r>
          </a:p>
          <a:p>
            <a:pPr marL="387350" marR="101600" indent="-285750" algn="just">
              <a:lnSpc>
                <a:spcPct val="150000"/>
              </a:lnSpc>
              <a:spcBef>
                <a:spcPts val="800"/>
              </a:spcBef>
              <a:buFont typeface="Arial" panose="020B0604020202020204" pitchFamily="34" charset="0"/>
              <a:buChar char="•"/>
            </a:pPr>
            <a:r>
              <a:rPr lang="en-US" sz="1600" dirty="0">
                <a:solidFill>
                  <a:srgbClr val="003300"/>
                </a:solidFill>
                <a:latin typeface="Times New Roman" panose="02020603050405020304" pitchFamily="18" charset="0"/>
                <a:cs typeface="Times New Roman" panose="02020603050405020304" pitchFamily="18" charset="0"/>
              </a:rPr>
              <a:t>Blind screening, when switched on, hides the name and personal details.</a:t>
            </a:r>
          </a:p>
          <a:p>
            <a:pPr marL="387350" marR="101600" indent="-285750" algn="just">
              <a:lnSpc>
                <a:spcPct val="150000"/>
              </a:lnSpc>
              <a:spcBef>
                <a:spcPts val="800"/>
              </a:spcBef>
              <a:buFont typeface="Arial" panose="020B0604020202020204" pitchFamily="34" charset="0"/>
              <a:buChar char="•"/>
            </a:pPr>
            <a:r>
              <a:rPr lang="en-US" sz="1600" dirty="0">
                <a:solidFill>
                  <a:srgbClr val="003300"/>
                </a:solidFill>
                <a:latin typeface="Times New Roman" panose="02020603050405020304" pitchFamily="18" charset="0"/>
                <a:cs typeface="Times New Roman" panose="02020603050405020304" pitchFamily="18" charset="0"/>
              </a:rPr>
              <a:t>Every candidate is scored on seven signals using the skill ontology.</a:t>
            </a:r>
          </a:p>
          <a:p>
            <a:pPr marL="387350" marR="101600" indent="-285750" algn="just">
              <a:lnSpc>
                <a:spcPct val="150000"/>
              </a:lnSpc>
              <a:spcBef>
                <a:spcPts val="800"/>
              </a:spcBef>
              <a:buFont typeface="Arial" panose="020B0604020202020204" pitchFamily="34" charset="0"/>
              <a:buChar char="•"/>
            </a:pPr>
            <a:r>
              <a:rPr lang="en-US" sz="1600" dirty="0">
                <a:solidFill>
                  <a:srgbClr val="003300"/>
                </a:solidFill>
                <a:latin typeface="Times New Roman" panose="02020603050405020304" pitchFamily="18" charset="0"/>
                <a:cs typeface="Times New Roman" panose="02020603050405020304" pitchFamily="18" charset="0"/>
              </a:rPr>
              <a:t>The four-agent council reviews the scores and gives a verdict with red flags.</a:t>
            </a:r>
          </a:p>
          <a:p>
            <a:pPr marL="387350" marR="101600" indent="-285750" algn="just">
              <a:lnSpc>
                <a:spcPct val="150000"/>
              </a:lnSpc>
              <a:spcBef>
                <a:spcPts val="800"/>
              </a:spcBef>
              <a:buFont typeface="Arial" panose="020B0604020202020204" pitchFamily="34" charset="0"/>
              <a:buChar char="•"/>
            </a:pPr>
            <a:r>
              <a:rPr lang="en-US" sz="1600" dirty="0">
                <a:solidFill>
                  <a:srgbClr val="003300"/>
                </a:solidFill>
                <a:latin typeface="Times New Roman" panose="02020603050405020304" pitchFamily="18" charset="0"/>
                <a:cs typeface="Times New Roman" panose="02020603050405020304" pitchFamily="18" charset="0"/>
              </a:rPr>
              <a:t>Results are shown on the dashboard, and the API also saves them to the screening history.</a:t>
            </a:r>
          </a:p>
        </p:txBody>
      </p:sp>
      <p:sp>
        <p:nvSpPr>
          <p:cNvPr id="31" name="Rounded Rectangle 30"/>
          <p:cNvSpPr/>
          <p:nvPr/>
        </p:nvSpPr>
        <p:spPr>
          <a:xfrm>
            <a:off x="7900000" y="1450000"/>
            <a:ext cx="3700000" cy="600000"/>
          </a:xfrm>
          <a:prstGeom prst="rect">
            <a:avLst/>
          </a:prstGeom>
          <a:solidFill>
            <a:srgbClr val="B8CCD9"/>
          </a:solidFill>
          <a:ln w="9525">
            <a:solidFill>
              <a:srgbClr val="3D3D3D"/>
            </a:solidFill>
          </a:ln>
          <a:effectLst/>
        </p:spPr>
        <p:txBody>
          <a:bodyPr wrap="square" lIns="50000" tIns="20000" rIns="50000" bIns="20000" rtlCol="0" anchor="ctr"/>
          <a:lstStyle/>
          <a:p>
            <a:pPr algn="ctr"/>
            <a:r>
              <a:rPr sz="1500" b="0">
                <a:solidFill>
                  <a:srgbClr val="1A1A1A"/>
                </a:solidFill>
                <a:latin typeface="Arial"/>
              </a:rPr>
              <a:t>Recruiter signs in, uploads JD + resumes</a:t>
            </a:r>
          </a:p>
        </p:txBody>
      </p:sp>
      <p:cxnSp>
        <p:nvCxnSpPr>
          <p:cNvPr id="32" name="Connector 31"/>
          <p:cNvCxnSpPr/>
          <p:nvPr/>
        </p:nvCxnSpPr>
        <p:spPr>
          <a:xfrm>
            <a:off x="9750000" y="2050000"/>
            <a:ext cx="0" cy="230000"/>
          </a:xfrm>
          <a:prstGeom prst="line">
            <a:avLst/>
          </a:prstGeom>
          <a:ln w="12700">
            <a:solidFill>
              <a:srgbClr val="9DB8D2"/>
            </a:solidFill>
            <a:tailEnd type="triangle" w="med" len="med"/>
          </a:ln>
        </p:spPr>
      </p:cxnSp>
      <p:sp>
        <p:nvSpPr>
          <p:cNvPr id="33" name="Rounded Rectangle 32"/>
          <p:cNvSpPr/>
          <p:nvPr/>
        </p:nvSpPr>
        <p:spPr>
          <a:xfrm>
            <a:off x="7900000" y="2280000"/>
            <a:ext cx="3700000" cy="600000"/>
          </a:xfrm>
          <a:prstGeom prst="rect">
            <a:avLst/>
          </a:prstGeom>
          <a:solidFill>
            <a:srgbClr val="B8CCD9"/>
          </a:solidFill>
          <a:ln w="9525">
            <a:solidFill>
              <a:srgbClr val="3D3D3D"/>
            </a:solidFill>
          </a:ln>
          <a:effectLst/>
        </p:spPr>
        <p:txBody>
          <a:bodyPr wrap="square" lIns="50000" tIns="20000" rIns="50000" bIns="20000" rtlCol="0" anchor="ctr"/>
          <a:lstStyle/>
          <a:p>
            <a:pPr algn="ctr"/>
            <a:r>
              <a:rPr sz="1500" b="0">
                <a:solidFill>
                  <a:srgbClr val="1A1A1A"/>
                </a:solidFill>
                <a:latin typeface="Arial"/>
              </a:rPr>
              <a:t>Resume parsing</a:t>
            </a:r>
          </a:p>
        </p:txBody>
      </p:sp>
      <p:cxnSp>
        <p:nvCxnSpPr>
          <p:cNvPr id="34" name="Connector 33"/>
          <p:cNvCxnSpPr/>
          <p:nvPr/>
        </p:nvCxnSpPr>
        <p:spPr>
          <a:xfrm>
            <a:off x="9750000" y="2880000"/>
            <a:ext cx="0" cy="230000"/>
          </a:xfrm>
          <a:prstGeom prst="line">
            <a:avLst/>
          </a:prstGeom>
          <a:ln w="12700">
            <a:solidFill>
              <a:srgbClr val="9DB8D2"/>
            </a:solidFill>
            <a:tailEnd type="triangle" w="med" len="med"/>
          </a:ln>
        </p:spPr>
      </p:cxnSp>
      <p:sp>
        <p:nvSpPr>
          <p:cNvPr id="35" name="Rounded Rectangle 34"/>
          <p:cNvSpPr/>
          <p:nvPr/>
        </p:nvSpPr>
        <p:spPr>
          <a:xfrm>
            <a:off x="7900000" y="3110000"/>
            <a:ext cx="3700000" cy="600000"/>
          </a:xfrm>
          <a:prstGeom prst="rect">
            <a:avLst/>
          </a:prstGeom>
          <a:solidFill>
            <a:srgbClr val="B8CCD9"/>
          </a:solidFill>
          <a:ln w="9525">
            <a:solidFill>
              <a:srgbClr val="3D3D3D"/>
            </a:solidFill>
          </a:ln>
          <a:effectLst/>
        </p:spPr>
        <p:txBody>
          <a:bodyPr wrap="square" lIns="50000" tIns="20000" rIns="50000" bIns="20000" rtlCol="0" anchor="ctr"/>
          <a:lstStyle/>
          <a:p>
            <a:pPr algn="ctr"/>
            <a:r>
              <a:rPr sz="1500" b="0">
                <a:solidFill>
                  <a:srgbClr val="1A1A1A"/>
                </a:solidFill>
                <a:latin typeface="Arial"/>
              </a:rPr>
              <a:t>Blind screening (optional)</a:t>
            </a:r>
          </a:p>
        </p:txBody>
      </p:sp>
      <p:cxnSp>
        <p:nvCxnSpPr>
          <p:cNvPr id="36" name="Connector 35"/>
          <p:cNvCxnSpPr/>
          <p:nvPr/>
        </p:nvCxnSpPr>
        <p:spPr>
          <a:xfrm>
            <a:off x="9750000" y="3710000"/>
            <a:ext cx="0" cy="230000"/>
          </a:xfrm>
          <a:prstGeom prst="line">
            <a:avLst/>
          </a:prstGeom>
          <a:ln w="12700">
            <a:solidFill>
              <a:srgbClr val="9DB8D2"/>
            </a:solidFill>
            <a:tailEnd type="triangle" w="med" len="med"/>
          </a:ln>
        </p:spPr>
      </p:cxnSp>
      <p:sp>
        <p:nvSpPr>
          <p:cNvPr id="37" name="Rounded Rectangle 36"/>
          <p:cNvSpPr/>
          <p:nvPr/>
        </p:nvSpPr>
        <p:spPr>
          <a:xfrm>
            <a:off x="7900000" y="3940000"/>
            <a:ext cx="3700000" cy="600000"/>
          </a:xfrm>
          <a:prstGeom prst="rect">
            <a:avLst/>
          </a:prstGeom>
          <a:solidFill>
            <a:srgbClr val="B8CCD9"/>
          </a:solidFill>
          <a:ln w="9525">
            <a:solidFill>
              <a:srgbClr val="3D3D3D"/>
            </a:solidFill>
          </a:ln>
          <a:effectLst/>
        </p:spPr>
        <p:txBody>
          <a:bodyPr wrap="square" lIns="50000" tIns="20000" rIns="50000" bIns="20000" rtlCol="0" anchor="ctr"/>
          <a:lstStyle/>
          <a:p>
            <a:pPr algn="ctr"/>
            <a:r>
              <a:rPr sz="1500" b="0">
                <a:solidFill>
                  <a:srgbClr val="1A1A1A"/>
                </a:solidFill>
                <a:latin typeface="Arial"/>
              </a:rPr>
              <a:t>Scoring on 7 signals</a:t>
            </a:r>
          </a:p>
        </p:txBody>
      </p:sp>
      <p:cxnSp>
        <p:nvCxnSpPr>
          <p:cNvPr id="38" name="Connector 37"/>
          <p:cNvCxnSpPr/>
          <p:nvPr/>
        </p:nvCxnSpPr>
        <p:spPr>
          <a:xfrm>
            <a:off x="9750000" y="4540000"/>
            <a:ext cx="0" cy="230000"/>
          </a:xfrm>
          <a:prstGeom prst="line">
            <a:avLst/>
          </a:prstGeom>
          <a:ln w="12700">
            <a:solidFill>
              <a:srgbClr val="9DB8D2"/>
            </a:solidFill>
            <a:tailEnd type="triangle" w="med" len="med"/>
          </a:ln>
        </p:spPr>
      </p:cxnSp>
      <p:sp>
        <p:nvSpPr>
          <p:cNvPr id="39" name="Rounded Rectangle 38"/>
          <p:cNvSpPr/>
          <p:nvPr/>
        </p:nvSpPr>
        <p:spPr>
          <a:xfrm>
            <a:off x="7900000" y="4770000"/>
            <a:ext cx="3700000" cy="600000"/>
          </a:xfrm>
          <a:prstGeom prst="rect">
            <a:avLst/>
          </a:prstGeom>
          <a:solidFill>
            <a:srgbClr val="B8CCD9"/>
          </a:solidFill>
          <a:ln w="9525">
            <a:solidFill>
              <a:srgbClr val="3D3D3D"/>
            </a:solidFill>
          </a:ln>
          <a:effectLst/>
        </p:spPr>
        <p:txBody>
          <a:bodyPr wrap="square" lIns="50000" tIns="20000" rIns="50000" bIns="20000" rtlCol="0" anchor="ctr"/>
          <a:lstStyle/>
          <a:p>
            <a:pPr algn="ctr"/>
            <a:r>
              <a:rPr sz="1500" b="0">
                <a:solidFill>
                  <a:srgbClr val="1A1A1A"/>
                </a:solidFill>
                <a:latin typeface="Arial"/>
              </a:rPr>
              <a:t>Council verdict + flags</a:t>
            </a:r>
          </a:p>
        </p:txBody>
      </p:sp>
      <p:cxnSp>
        <p:nvCxnSpPr>
          <p:cNvPr id="40" name="Connector 39"/>
          <p:cNvCxnSpPr/>
          <p:nvPr/>
        </p:nvCxnSpPr>
        <p:spPr>
          <a:xfrm>
            <a:off x="9750000" y="5370000"/>
            <a:ext cx="0" cy="230000"/>
          </a:xfrm>
          <a:prstGeom prst="line">
            <a:avLst/>
          </a:prstGeom>
          <a:ln w="12700">
            <a:solidFill>
              <a:srgbClr val="9DB8D2"/>
            </a:solidFill>
            <a:tailEnd type="triangle" w="med" len="med"/>
          </a:ln>
        </p:spPr>
      </p:cxnSp>
      <p:sp>
        <p:nvSpPr>
          <p:cNvPr id="41" name="Rounded Rectangle 40"/>
          <p:cNvSpPr/>
          <p:nvPr/>
        </p:nvSpPr>
        <p:spPr>
          <a:xfrm>
            <a:off x="7900000" y="5600000"/>
            <a:ext cx="3700000" cy="600000"/>
          </a:xfrm>
          <a:prstGeom prst="rect">
            <a:avLst/>
          </a:prstGeom>
          <a:solidFill>
            <a:srgbClr val="B8CCD9"/>
          </a:solidFill>
          <a:ln w="9525">
            <a:solidFill>
              <a:srgbClr val="3D3D3D"/>
            </a:solidFill>
          </a:ln>
          <a:effectLst/>
        </p:spPr>
        <p:txBody>
          <a:bodyPr wrap="square" lIns="50000" tIns="20000" rIns="50000" bIns="20000" rtlCol="0" anchor="ctr"/>
          <a:lstStyle/>
          <a:p>
            <a:pPr algn="ctr"/>
            <a:r>
              <a:rPr sz="1500" b="0">
                <a:solidFill>
                  <a:srgbClr val="1A1A1A"/>
                </a:solidFill>
                <a:latin typeface="Arial"/>
              </a:rPr>
              <a:t>Dashboard + saved history</a:t>
            </a:r>
          </a:p>
        </p:txBody>
      </p:sp>
    </p:spTree>
    <p:extLst>
      <p:ext uri="{BB962C8B-B14F-4D97-AF65-F5344CB8AC3E}">
        <p14:creationId xmlns:p14="http://schemas.microsoft.com/office/powerpoint/2010/main" val="173401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6D5F3-78DC-988B-480A-EE84138E5D06}"/>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ACB02CED-8EA2-2618-E822-0FDF6BE67A57}"/>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62D2FF99-D64E-DDB4-E10F-146C67072836}"/>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F8F4B657-A86D-F81F-BE12-ED91F5FE6A63}"/>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1E4E5E20-1B7F-61EB-6657-281BA41D2D0F}"/>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AB85E18E-7265-A043-D002-8EFE4C417579}"/>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1B88DF49-BC09-1156-0D44-8C819D73A2B3}"/>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568BD70E-41F4-F04A-B0EC-79CB78690833}"/>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AB60834A-620B-4BD2-C47B-808C352F7D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CAF81426-DDC3-6E6B-9AFE-B105EA26CC44}"/>
              </a:ext>
            </a:extLst>
          </p:cNvPr>
          <p:cNvSpPr txBox="1"/>
          <p:nvPr/>
        </p:nvSpPr>
        <p:spPr>
          <a:xfrm>
            <a:off x="408039" y="995858"/>
            <a:ext cx="614516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Council decision flow:</a:t>
            </a:r>
            <a:endParaRPr lang="en-IN" sz="1800" dirty="0"/>
          </a:p>
        </p:txBody>
      </p:sp>
      <p:sp>
        <p:nvSpPr>
          <p:cNvPr id="8" name="TextBox 7">
            <a:extLst>
              <a:ext uri="{FF2B5EF4-FFF2-40B4-BE49-F238E27FC236}">
                <a16:creationId xmlns:a16="http://schemas.microsoft.com/office/drawing/2014/main" id="{F37DD8F5-3E5F-B457-43B4-8E8D658129D5}"/>
              </a:ext>
            </a:extLst>
          </p:cNvPr>
          <p:cNvSpPr txBox="1"/>
          <p:nvPr/>
        </p:nvSpPr>
        <p:spPr>
          <a:xfrm>
            <a:off x="614516" y="1417994"/>
            <a:ext cx="6145160" cy="4500206"/>
          </a:xfrm>
          <a:prstGeom prst="rect">
            <a:avLst/>
          </a:prstGeom>
          <a:noFill/>
        </p:spPr>
        <p:txBody>
          <a:bodyPr wrap="square">
            <a:spAutoFit/>
          </a:bodyPr>
          <a:lstStyle/>
          <a:p>
            <a:pPr marL="101600" marR="101600" indent="0">
              <a:lnSpc>
                <a:spcPct val="150000"/>
              </a:lnSpc>
              <a:spcBef>
                <a:spcPts val="800"/>
              </a:spcBef>
              <a:buNone/>
            </a:pPr>
            <a:r>
              <a:rPr lang="en-US" sz="1800" dirty="0">
                <a:solidFill>
                  <a:srgbClr val="003300"/>
                </a:solidFill>
                <a:latin typeface="Times New Roman" panose="02020603050405020304" pitchFamily="18" charset="0"/>
                <a:cs typeface="Times New Roman" panose="02020603050405020304" pitchFamily="18" charset="0"/>
              </a:rPr>
              <a:t>The scored candidate profile, anonymised when blind screening is on, is sent to the council.</a:t>
            </a:r>
          </a:p>
          <a:p>
            <a:pPr marL="101600" marR="101600" indent="0">
              <a:lnSpc>
                <a:spcPct val="150000"/>
              </a:lnSpc>
              <a:spcBef>
                <a:spcPts val="800"/>
              </a:spcBef>
              <a:buNone/>
            </a:pPr>
            <a:r>
              <a:rPr lang="en-US" sz="1800" dirty="0">
                <a:solidFill>
                  <a:srgbClr val="003300"/>
                </a:solidFill>
                <a:latin typeface="Times New Roman" panose="02020603050405020304" pitchFamily="18" charset="0"/>
                <a:cs typeface="Times New Roman" panose="02020603050405020304" pitchFamily="18" charset="0"/>
              </a:rPr>
              <a:t>Four agents score it independently: Tech Lead, Culture, Fair Auditor and Seniority.</a:t>
            </a:r>
          </a:p>
          <a:p>
            <a:pPr marL="101600" marR="101600" indent="0">
              <a:lnSpc>
                <a:spcPct val="150000"/>
              </a:lnSpc>
              <a:spcBef>
                <a:spcPts val="800"/>
              </a:spcBef>
              <a:buNone/>
            </a:pPr>
            <a:r>
              <a:rPr lang="en-US" sz="1800" dirty="0">
                <a:solidFill>
                  <a:srgbClr val="003300"/>
                </a:solidFill>
                <a:latin typeface="Times New Roman" panose="02020603050405020304" pitchFamily="18" charset="0"/>
                <a:cs typeface="Times New Roman" panose="02020603050405020304" pitchFamily="18" charset="0"/>
              </a:rPr>
              <a:t>The agents debate and cross-examine each other's findings.</a:t>
            </a:r>
          </a:p>
          <a:p>
            <a:pPr marL="101600" marR="101600" indent="0">
              <a:lnSpc>
                <a:spcPct val="150000"/>
              </a:lnSpc>
              <a:spcBef>
                <a:spcPts val="800"/>
              </a:spcBef>
              <a:buNone/>
            </a:pPr>
            <a:r>
              <a:rPr lang="en-US" sz="1800" dirty="0">
                <a:solidFill>
                  <a:srgbClr val="003300"/>
                </a:solidFill>
                <a:latin typeface="Times New Roman" panose="02020603050405020304" pitchFamily="18" charset="0"/>
                <a:cs typeface="Times New Roman" panose="02020603050405020304" pitchFamily="18" charset="0"/>
              </a:rPr>
              <a:t>A consensus score and a confidence value are calculated.</a:t>
            </a:r>
          </a:p>
          <a:p>
            <a:pPr marL="101600" marR="101600" indent="0">
              <a:lnSpc>
                <a:spcPct val="150000"/>
              </a:lnSpc>
              <a:spcBef>
                <a:spcPts val="800"/>
              </a:spcBef>
              <a:buNone/>
            </a:pPr>
            <a:r>
              <a:rPr lang="en-US" sz="1800" dirty="0">
                <a:solidFill>
                  <a:srgbClr val="003300"/>
                </a:solidFill>
                <a:latin typeface="Times New Roman" panose="02020603050405020304" pitchFamily="18" charset="0"/>
                <a:cs typeface="Times New Roman" panose="02020603050405020304" pitchFamily="18" charset="0"/>
              </a:rPr>
              <a:t>The verdict (Strong Hire, Lean Hire or Reject) is issued with red flags and a rationale.</a:t>
            </a:r>
          </a:p>
          <a:p>
            <a:pPr marL="101600" marR="101600" indent="0">
              <a:lnSpc>
                <a:spcPct val="150000"/>
              </a:lnSpc>
              <a:spcBef>
                <a:spcPts val="800"/>
              </a:spcBef>
              <a:buNone/>
            </a:pPr>
            <a:r>
              <a:rPr lang="en-US" sz="1800" dirty="0">
                <a:solidFill>
                  <a:srgbClr val="003300"/>
                </a:solidFill>
                <a:latin typeface="Times New Roman" panose="02020603050405020304" pitchFamily="18" charset="0"/>
                <a:cs typeface="Times New Roman" panose="02020603050405020304" pitchFamily="18" charset="0"/>
              </a:rPr>
              <a:t>Low-confidence cases are marked for human review.</a:t>
            </a:r>
          </a:p>
        </p:txBody>
      </p:sp>
      <p:sp>
        <p:nvSpPr>
          <p:cNvPr id="25" name="Rectangle 24"/>
          <p:cNvSpPr/>
          <p:nvPr/>
        </p:nvSpPr>
        <p:spPr>
          <a:xfrm>
            <a:off x="7500000" y="1100000"/>
            <a:ext cx="4300000" cy="46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Scored candidate profile</a:t>
            </a:r>
          </a:p>
        </p:txBody>
      </p:sp>
      <p:cxnSp>
        <p:nvCxnSpPr>
          <p:cNvPr id="26" name="Connector arrow"/>
          <p:cNvCxnSpPr/>
          <p:nvPr/>
        </p:nvCxnSpPr>
        <p:spPr>
          <a:xfrm>
            <a:off x="9650000" y="1560000"/>
            <a:ext cx="0" cy="170000"/>
          </a:xfrm>
          <a:prstGeom prst="line">
            <a:avLst/>
          </a:prstGeom>
          <a:ln w="12700">
            <a:solidFill>
              <a:srgbClr val="9DB8D2"/>
            </a:solidFill>
            <a:tailEnd type="triangle" w="med" len="med"/>
          </a:ln>
        </p:spPr>
      </p:cxnSp>
      <p:sp>
        <p:nvSpPr>
          <p:cNvPr id="27" name="Rectangle 26"/>
          <p:cNvSpPr/>
          <p:nvPr/>
        </p:nvSpPr>
        <p:spPr>
          <a:xfrm>
            <a:off x="7500000" y="1730000"/>
            <a:ext cx="2075000" cy="46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Tech Lead</a:t>
            </a:r>
          </a:p>
        </p:txBody>
      </p:sp>
      <p:sp>
        <p:nvSpPr>
          <p:cNvPr id="28" name="Rectangle 27"/>
          <p:cNvSpPr/>
          <p:nvPr/>
        </p:nvSpPr>
        <p:spPr>
          <a:xfrm>
            <a:off x="9725000" y="1730000"/>
            <a:ext cx="2075000" cy="46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Culture</a:t>
            </a:r>
          </a:p>
        </p:txBody>
      </p:sp>
      <p:sp>
        <p:nvSpPr>
          <p:cNvPr id="29" name="Rectangle 28"/>
          <p:cNvSpPr/>
          <p:nvPr/>
        </p:nvSpPr>
        <p:spPr>
          <a:xfrm>
            <a:off x="7500000" y="2280000"/>
            <a:ext cx="2075000" cy="46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Fair Auditor</a:t>
            </a:r>
          </a:p>
        </p:txBody>
      </p:sp>
      <p:sp>
        <p:nvSpPr>
          <p:cNvPr id="30" name="Rectangle 29"/>
          <p:cNvSpPr/>
          <p:nvPr/>
        </p:nvSpPr>
        <p:spPr>
          <a:xfrm>
            <a:off x="9725000" y="2280000"/>
            <a:ext cx="2075000" cy="46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Seniority</a:t>
            </a:r>
          </a:p>
        </p:txBody>
      </p:sp>
      <p:cxnSp>
        <p:nvCxnSpPr>
          <p:cNvPr id="31" name="Connector arrow"/>
          <p:cNvCxnSpPr/>
          <p:nvPr/>
        </p:nvCxnSpPr>
        <p:spPr>
          <a:xfrm>
            <a:off x="9650000" y="2740000"/>
            <a:ext cx="0" cy="170000"/>
          </a:xfrm>
          <a:prstGeom prst="line">
            <a:avLst/>
          </a:prstGeom>
          <a:ln w="12700">
            <a:solidFill>
              <a:srgbClr val="9DB8D2"/>
            </a:solidFill>
            <a:tailEnd type="triangle" w="med" len="med"/>
          </a:ln>
        </p:spPr>
      </p:cxnSp>
      <p:sp>
        <p:nvSpPr>
          <p:cNvPr id="32" name="Rectangle 31"/>
          <p:cNvSpPr/>
          <p:nvPr/>
        </p:nvSpPr>
        <p:spPr>
          <a:xfrm>
            <a:off x="7500000" y="2910000"/>
            <a:ext cx="4300000" cy="46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Debate and cross-examination</a:t>
            </a:r>
          </a:p>
        </p:txBody>
      </p:sp>
      <p:cxnSp>
        <p:nvCxnSpPr>
          <p:cNvPr id="33" name="Connector arrow"/>
          <p:cNvCxnSpPr/>
          <p:nvPr/>
        </p:nvCxnSpPr>
        <p:spPr>
          <a:xfrm>
            <a:off x="9650000" y="3370000"/>
            <a:ext cx="0" cy="170000"/>
          </a:xfrm>
          <a:prstGeom prst="line">
            <a:avLst/>
          </a:prstGeom>
          <a:ln w="12700">
            <a:solidFill>
              <a:srgbClr val="9DB8D2"/>
            </a:solidFill>
            <a:tailEnd type="triangle" w="med" len="med"/>
          </a:ln>
        </p:spPr>
      </p:cxnSp>
      <p:sp>
        <p:nvSpPr>
          <p:cNvPr id="34" name="Rectangle 33"/>
          <p:cNvSpPr/>
          <p:nvPr/>
        </p:nvSpPr>
        <p:spPr>
          <a:xfrm>
            <a:off x="7500000" y="3540000"/>
            <a:ext cx="4300000" cy="46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Consensus score + confidence</a:t>
            </a:r>
          </a:p>
        </p:txBody>
      </p:sp>
      <p:cxnSp>
        <p:nvCxnSpPr>
          <p:cNvPr id="35" name="Connector arrow"/>
          <p:cNvCxnSpPr/>
          <p:nvPr/>
        </p:nvCxnSpPr>
        <p:spPr>
          <a:xfrm>
            <a:off x="9650000" y="4000000"/>
            <a:ext cx="0" cy="170000"/>
          </a:xfrm>
          <a:prstGeom prst="line">
            <a:avLst/>
          </a:prstGeom>
          <a:ln w="12700">
            <a:solidFill>
              <a:srgbClr val="9DB8D2"/>
            </a:solidFill>
            <a:tailEnd type="triangle" w="med" len="med"/>
          </a:ln>
        </p:spPr>
      </p:cxnSp>
      <p:sp>
        <p:nvSpPr>
          <p:cNvPr id="36" name="Rectangle 35"/>
          <p:cNvSpPr/>
          <p:nvPr/>
        </p:nvSpPr>
        <p:spPr>
          <a:xfrm>
            <a:off x="7500000" y="4170000"/>
            <a:ext cx="4300000" cy="46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Verdict + red flags</a:t>
            </a:r>
          </a:p>
        </p:txBody>
      </p:sp>
      <p:cxnSp>
        <p:nvCxnSpPr>
          <p:cNvPr id="37" name="Connector arrow"/>
          <p:cNvCxnSpPr/>
          <p:nvPr/>
        </p:nvCxnSpPr>
        <p:spPr>
          <a:xfrm>
            <a:off x="9650000" y="4630000"/>
            <a:ext cx="0" cy="170000"/>
          </a:xfrm>
          <a:prstGeom prst="line">
            <a:avLst/>
          </a:prstGeom>
          <a:ln w="12700">
            <a:solidFill>
              <a:srgbClr val="9DB8D2"/>
            </a:solidFill>
            <a:tailEnd type="triangle" w="med" len="med"/>
          </a:ln>
        </p:spPr>
      </p:cxnSp>
      <p:sp>
        <p:nvSpPr>
          <p:cNvPr id="38" name="Rectangle 37"/>
          <p:cNvSpPr/>
          <p:nvPr/>
        </p:nvSpPr>
        <p:spPr>
          <a:xfrm>
            <a:off x="7500000" y="4800000"/>
            <a:ext cx="4300000" cy="460000"/>
          </a:xfrm>
          <a:prstGeom prst="rect">
            <a:avLst/>
          </a:prstGeom>
          <a:solidFill>
            <a:srgbClr val="B8CCD9"/>
          </a:solidFill>
          <a:ln w="9525">
            <a:solidFill>
              <a:srgbClr val="3D3D3D"/>
            </a:solidFill>
          </a:ln>
          <a:effectLst/>
        </p:spPr>
        <p:txBody>
          <a:bodyPr rtlCol="0" anchor="ctr" wrap="square" lIns="50000" rIns="50000" tIns="10000" bIns="10000"/>
          <a:lstStyle/>
          <a:p>
            <a:pPr algn="ctr"/>
            <a:r>
              <a:rPr sz="1300" b="0">
                <a:solidFill>
                  <a:srgbClr val="1A1A1A"/>
                </a:solidFill>
                <a:latin typeface="Arial"/>
              </a:rPr>
              <a:t>Low confidence: human review</a:t>
            </a:r>
          </a:p>
        </p:txBody>
      </p:sp>
    </p:spTree>
    <p:extLst>
      <p:ext uri="{BB962C8B-B14F-4D97-AF65-F5344CB8AC3E}">
        <p14:creationId xmlns:p14="http://schemas.microsoft.com/office/powerpoint/2010/main" val="18518935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9D285-798E-8104-528C-E5668AFCFD8A}"/>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48CB5381-9FD1-C4DF-B656-C8292085B585}"/>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0B8F925F-11FB-EFF6-4960-9B0BA07BA68C}"/>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F0F9DA9A-5A8B-A2A8-A0DB-CE4B28BEA715}"/>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60AA83D1-4743-C373-91AF-AE8273F03D6E}"/>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B000574D-CA1D-FA51-564A-12F3557DDA87}"/>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373E52F-59E8-CBB1-F75A-CE7D3B93C217}"/>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12AF24BB-1249-0D8A-7587-2844CF63167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6B8E28D7-CD89-E10A-967C-1560DA9D90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4F63C572-271A-E280-4DD6-64C1ADB72556}"/>
              </a:ext>
            </a:extLst>
          </p:cNvPr>
          <p:cNvSpPr txBox="1"/>
          <p:nvPr/>
        </p:nvSpPr>
        <p:spPr>
          <a:xfrm>
            <a:off x="264816" y="995858"/>
            <a:ext cx="614516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sym typeface="+mn-ea"/>
              </a:rPr>
              <a:t>TEST CASES WITH RESULTS</a:t>
            </a:r>
            <a:endParaRPr lang="en-IN" sz="2800" b="1" dirty="0"/>
          </a:p>
        </p:txBody>
      </p:sp>
      <p:sp>
        <p:nvSpPr>
          <p:cNvPr id="32" name="TextBox 31"/>
          <p:cNvSpPr txBox="1"/>
          <p:nvPr/>
        </p:nvSpPr>
        <p:spPr>
          <a:xfrm>
            <a:off x="330000" y="5890000"/>
            <a:ext cx="11500000" cy="700000"/>
          </a:xfrm>
          <a:prstGeom prst="rect">
            <a:avLst/>
          </a:prstGeom>
          <a:noFill/>
        </p:spPr>
        <p:txBody>
          <a:bodyPr wrap="square" lIns="60000" tIns="30000" rIns="60000" bIns="30000" anchor="t"/>
          <a:lstStyle/>
          <a:p>
            <a:pPr algn="l">
              <a:lnSpc>
                <a:spcPct val="115000"/>
              </a:lnSpc>
              <a:spcAft>
                <a:spcPts val="600"/>
              </a:spcAft>
            </a:pPr>
            <a:r>
              <a:rPr sz="1300" b="0">
                <a:solidFill>
                  <a:srgbClr val="595959"/>
                </a:solidFill>
                <a:latin typeface="Times New Roman"/>
              </a:rPr>
              <a:t>8 of 8 test cases passed on the real pipeline (no mock data); cases 1 to 4 are in the automated suite of 78 passing tests.</a:t>
            </a:r>
          </a:p>
        </p:txBody>
      </p:sp>
      <p:graphicFrame>
        <p:nvGraphicFramePr>
          <p:cNvPr id="33" name="Test cases table"/>
          <p:cNvGraphicFramePr>
            <a:graphicFrameLocks noGrp="1"/>
          </p:cNvGraphicFramePr>
          <p:nvPr/>
        </p:nvGraphicFramePr>
        <p:xfrm>
          <a:off x="330000" y="1500000"/>
          <a:ext cx="11500000" cy="4330000"/>
        </p:xfrm>
        <a:graphic>
          <a:graphicData uri="http://schemas.openxmlformats.org/drawingml/2006/table">
            <a:tbl>
              <a:tblPr firstRow="1" bandRow="1">
                <a:tableStyleId>{5C22544A-7EE6-4342-B048-85BDC9FD1C3A}</a:tableStyleId>
              </a:tblPr>
              <a:tblGrid>
                <a:gridCol w="575000"/>
                <a:gridCol w="1725000"/>
                <a:gridCol w="2300000"/>
                <a:gridCol w="2875000"/>
                <a:gridCol w="3105000"/>
                <a:gridCol w="920000"/>
              </a:tblGrid>
              <a:tr h="330000">
                <a:tc>
                  <a:txBody>
                    <a:bodyPr wrap="square"/>
                    <a:lstStyle/>
                    <a:p>
                      <a:pPr algn="ctr"/>
                      <a:r>
                        <a:rPr sz="1300" b="1">
                          <a:solidFill>
                            <a:srgbClr val="FFFFFF"/>
                          </a:solidFill>
                          <a:latin typeface="Times New Roman"/>
                        </a:rPr>
                        <a:t>No.</a:t>
                      </a:r>
                    </a:p>
                  </a:txBody>
                  <a:tcPr marL="60000" marR="60000" marT="20000" marB="20000" anchor="ctr"/>
                </a:tc>
                <a:tc>
                  <a:txBody>
                    <a:bodyPr wrap="square"/>
                    <a:lstStyle/>
                    <a:p>
                      <a:pPr algn="ctr"/>
                      <a:r>
                        <a:rPr sz="1300" b="1">
                          <a:solidFill>
                            <a:srgbClr val="FFFFFF"/>
                          </a:solidFill>
                          <a:latin typeface="Times New Roman"/>
                        </a:rPr>
                        <a:t>Test case</a:t>
                      </a:r>
                    </a:p>
                  </a:txBody>
                  <a:tcPr marL="60000" marR="60000" marT="20000" marB="20000" anchor="ctr"/>
                </a:tc>
                <a:tc>
                  <a:txBody>
                    <a:bodyPr wrap="square"/>
                    <a:lstStyle/>
                    <a:p>
                      <a:pPr algn="ctr"/>
                      <a:r>
                        <a:rPr sz="1300" b="1">
                          <a:solidFill>
                            <a:srgbClr val="FFFFFF"/>
                          </a:solidFill>
                          <a:latin typeface="Times New Roman"/>
                        </a:rPr>
                        <a:t>Scenario</a:t>
                      </a:r>
                    </a:p>
                  </a:txBody>
                  <a:tcPr marL="60000" marR="60000" marT="20000" marB="20000" anchor="ctr"/>
                </a:tc>
                <a:tc>
                  <a:txBody>
                    <a:bodyPr wrap="square"/>
                    <a:lstStyle/>
                    <a:p>
                      <a:pPr algn="ctr"/>
                      <a:r>
                        <a:rPr sz="1300" b="1">
                          <a:solidFill>
                            <a:srgbClr val="FFFFFF"/>
                          </a:solidFill>
                          <a:latin typeface="Times New Roman"/>
                        </a:rPr>
                        <a:t>Expected result</a:t>
                      </a:r>
                    </a:p>
                  </a:txBody>
                  <a:tcPr marL="60000" marR="60000" marT="20000" marB="20000" anchor="ctr"/>
                </a:tc>
                <a:tc>
                  <a:txBody>
                    <a:bodyPr wrap="square"/>
                    <a:lstStyle/>
                    <a:p>
                      <a:pPr algn="ctr"/>
                      <a:r>
                        <a:rPr sz="1300" b="1">
                          <a:solidFill>
                            <a:srgbClr val="FFFFFF"/>
                          </a:solidFill>
                          <a:latin typeface="Times New Roman"/>
                        </a:rPr>
                        <a:t>Actual result</a:t>
                      </a:r>
                    </a:p>
                  </a:txBody>
                  <a:tcPr marL="60000" marR="60000" marT="20000" marB="20000" anchor="ctr"/>
                </a:tc>
                <a:tc>
                  <a:txBody>
                    <a:bodyPr wrap="square"/>
                    <a:lstStyle/>
                    <a:p>
                      <a:pPr algn="ctr"/>
                      <a:r>
                        <a:rPr sz="1300" b="1">
                          <a:solidFill>
                            <a:srgbClr val="FFFFFF"/>
                          </a:solidFill>
                          <a:latin typeface="Times New Roman"/>
                        </a:rPr>
                        <a:t>Result</a:t>
                      </a:r>
                    </a:p>
                  </a:txBody>
                  <a:tcPr marL="60000" marR="60000" marT="20000" marB="20000" anchor="ctr"/>
                </a:tc>
              </a:tr>
              <a:tr h="500000">
                <a:tc>
                  <a:txBody>
                    <a:bodyPr wrap="square"/>
                    <a:lstStyle/>
                    <a:p>
                      <a:pPr algn="ctr"/>
                      <a:r>
                        <a:rPr sz="1100" b="0">
                          <a:latin typeface="Times New Roman"/>
                        </a:rPr>
                        <a:t>1</a:t>
                      </a:r>
                    </a:p>
                  </a:txBody>
                  <a:tcPr marL="60000" marR="60000" marT="20000" marB="20000" anchor="ctr"/>
                </a:tc>
                <a:tc>
                  <a:txBody>
                    <a:bodyPr wrap="square"/>
                    <a:lstStyle/>
                    <a:p>
                      <a:pPr algn="l"/>
                      <a:r>
                        <a:rPr sz="1100" b="1">
                          <a:latin typeface="Times New Roman"/>
                        </a:rPr>
                        <a:t>Gold Standard</a:t>
                      </a:r>
                    </a:p>
                  </a:txBody>
                  <a:tcPr marL="60000" marR="60000" marT="20000" marB="20000" anchor="ctr"/>
                </a:tc>
                <a:tc>
                  <a:txBody>
                    <a:bodyPr wrap="square"/>
                    <a:lstStyle/>
                    <a:p>
                      <a:pPr algn="l"/>
                      <a:r>
                        <a:rPr sz="1100" b="0">
                          <a:latin typeface="Times New Roman"/>
                        </a:rPr>
                        <a:t>Strong ML engineer, evidence of results</a:t>
                      </a:r>
                    </a:p>
                  </a:txBody>
                  <a:tcPr marL="60000" marR="60000" marT="20000" marB="20000" anchor="ctr"/>
                </a:tc>
                <a:tc>
                  <a:txBody>
                    <a:bodyPr wrap="square"/>
                    <a:lstStyle/>
                    <a:p>
                      <a:pPr algn="l"/>
                      <a:r>
                        <a:rPr sz="1100" b="0">
                          <a:latin typeface="Times New Roman"/>
                        </a:rPr>
                        <a:t>Rank 1, match 85% or more, STRONG HIRE, no red flags</a:t>
                      </a:r>
                    </a:p>
                  </a:txBody>
                  <a:tcPr marL="60000" marR="60000" marT="20000" marB="20000" anchor="ctr"/>
                </a:tc>
                <a:tc>
                  <a:txBody>
                    <a:bodyPr wrap="square"/>
                    <a:lstStyle/>
                    <a:p>
                      <a:pPr algn="l"/>
                      <a:r>
                        <a:rPr sz="1100" b="0">
                          <a:latin typeface="Times New Roman"/>
                        </a:rPr>
                        <a:t>Rank 1, 88.1%, STRONG HIRE, no flags</a:t>
                      </a:r>
                    </a:p>
                  </a:txBody>
                  <a:tcPr marL="60000" marR="60000" marT="20000" marB="20000" anchor="ctr"/>
                </a:tc>
                <a:tc>
                  <a:txBody>
                    <a:bodyPr wrap="square"/>
                    <a:lstStyle/>
                    <a:p>
                      <a:pPr algn="ctr"/>
                      <a:r>
                        <a:rPr sz="1200" b="1">
                          <a:solidFill>
                            <a:srgbClr val="006100"/>
                          </a:solidFill>
                          <a:latin typeface="Times New Roman"/>
                        </a:rPr>
                        <a:t>PASS</a:t>
                      </a:r>
                    </a:p>
                  </a:txBody>
                  <a:tcPr marL="60000" marR="60000" marT="20000" marB="20000" anchor="ctr">
                    <a:solidFill>
                      <a:srgbClr val="C6EFCE"/>
                    </a:solidFill>
                  </a:tcPr>
                </a:tc>
              </a:tr>
              <a:tr h="500000">
                <a:tc>
                  <a:txBody>
                    <a:bodyPr wrap="square"/>
                    <a:lstStyle/>
                    <a:p>
                      <a:pPr algn="ctr"/>
                      <a:r>
                        <a:rPr sz="1100" b="0">
                          <a:latin typeface="Times New Roman"/>
                        </a:rPr>
                        <a:t>2</a:t>
                      </a:r>
                    </a:p>
                  </a:txBody>
                  <a:tcPr marL="60000" marR="60000" marT="20000" marB="20000" anchor="ctr"/>
                </a:tc>
                <a:tc>
                  <a:txBody>
                    <a:bodyPr wrap="square"/>
                    <a:lstStyle/>
                    <a:p>
                      <a:pPr algn="l"/>
                      <a:r>
                        <a:rPr sz="1100" b="1">
                          <a:latin typeface="Times New Roman"/>
                        </a:rPr>
                        <a:t>Buzzword Exaggeration</a:t>
                      </a:r>
                    </a:p>
                  </a:txBody>
                  <a:tcPr marL="60000" marR="60000" marT="20000" marB="20000" anchor="ctr"/>
                </a:tc>
                <a:tc>
                  <a:txBody>
                    <a:bodyPr wrap="square"/>
                    <a:lstStyle/>
                    <a:p>
                      <a:pPr algn="l"/>
                      <a:r>
                        <a:rPr sz="1100" b="0">
                          <a:latin typeface="Times New Roman"/>
                        </a:rPr>
                        <a:t>35 listed skills, 4 months of experience</a:t>
                      </a:r>
                    </a:p>
                  </a:txBody>
                  <a:tcPr marL="60000" marR="60000" marT="20000" marB="20000" anchor="ctr"/>
                </a:tc>
                <a:tc>
                  <a:txBody>
                    <a:bodyPr wrap="square"/>
                    <a:lstStyle/>
                    <a:p>
                      <a:pPr algn="l"/>
                      <a:r>
                        <a:rPr sz="1100" b="0">
                          <a:latin typeface="Times New Roman"/>
                        </a:rPr>
                        <a:t>Match below 45%, REJECT, unverified-claims flag</a:t>
                      </a:r>
                    </a:p>
                  </a:txBody>
                  <a:tcPr marL="60000" marR="60000" marT="20000" marB="20000" anchor="ctr"/>
                </a:tc>
                <a:tc>
                  <a:txBody>
                    <a:bodyPr wrap="square"/>
                    <a:lstStyle/>
                    <a:p>
                      <a:pPr algn="l"/>
                      <a:r>
                        <a:rPr sz="1100" b="0">
                          <a:latin typeface="Times New Roman"/>
                        </a:rPr>
                        <a:t>41.6%, REJECT, flags: experience deficit, unverified claims, skill stuffing</a:t>
                      </a:r>
                    </a:p>
                  </a:txBody>
                  <a:tcPr marL="60000" marR="60000" marT="20000" marB="20000" anchor="ctr"/>
                </a:tc>
                <a:tc>
                  <a:txBody>
                    <a:bodyPr wrap="square"/>
                    <a:lstStyle/>
                    <a:p>
                      <a:pPr algn="ctr"/>
                      <a:r>
                        <a:rPr sz="1200" b="1">
                          <a:solidFill>
                            <a:srgbClr val="006100"/>
                          </a:solidFill>
                          <a:latin typeface="Times New Roman"/>
                        </a:rPr>
                        <a:t>PASS</a:t>
                      </a:r>
                    </a:p>
                  </a:txBody>
                  <a:tcPr marL="60000" marR="60000" marT="20000" marB="20000" anchor="ctr">
                    <a:solidFill>
                      <a:srgbClr val="C6EFCE"/>
                    </a:solidFill>
                  </a:tcPr>
                </a:tc>
              </a:tr>
              <a:tr h="500000">
                <a:tc>
                  <a:txBody>
                    <a:bodyPr wrap="square"/>
                    <a:lstStyle/>
                    <a:p>
                      <a:pPr algn="ctr"/>
                      <a:r>
                        <a:rPr sz="1100" b="0">
                          <a:latin typeface="Times New Roman"/>
                        </a:rPr>
                        <a:t>3</a:t>
                      </a:r>
                    </a:p>
                  </a:txBody>
                  <a:tcPr marL="60000" marR="60000" marT="20000" marB="20000" anchor="ctr"/>
                </a:tc>
                <a:tc>
                  <a:txBody>
                    <a:bodyPr wrap="square"/>
                    <a:lstStyle/>
                    <a:p>
                      <a:pPr algn="l"/>
                      <a:r>
                        <a:rPr sz="1100" b="1">
                          <a:latin typeface="Times New Roman"/>
                        </a:rPr>
                        <a:t>Lateral Partial Match</a:t>
                      </a:r>
                    </a:p>
                  </a:txBody>
                  <a:tcPr marL="60000" marR="60000" marT="20000" marB="20000" anchor="ctr"/>
                </a:tc>
                <a:tc>
                  <a:txBody>
                    <a:bodyPr wrap="square"/>
                    <a:lstStyle/>
                    <a:p>
                      <a:pPr algn="l"/>
                      <a:r>
                        <a:rPr sz="1100" b="0">
                          <a:latin typeface="Times New Roman"/>
                        </a:rPr>
                        <a:t>Flask developer, FastAPI via Flask</a:t>
                      </a:r>
                    </a:p>
                  </a:txBody>
                  <a:tcPr marL="60000" marR="60000" marT="20000" marB="20000" anchor="ctr"/>
                </a:tc>
                <a:tc>
                  <a:txBody>
                    <a:bodyPr wrap="square"/>
                    <a:lstStyle/>
                    <a:p>
                      <a:pPr algn="l"/>
                      <a:r>
                        <a:rPr sz="1100" b="0">
                          <a:latin typeface="Times New Roman"/>
                        </a:rPr>
                        <a:t>LEAN HIRE, FastAPI partial, PyTorch missing</a:t>
                      </a:r>
                    </a:p>
                  </a:txBody>
                  <a:tcPr marL="60000" marR="60000" marT="20000" marB="20000" anchor="ctr"/>
                </a:tc>
                <a:tc>
                  <a:txBody>
                    <a:bodyPr wrap="square"/>
                    <a:lstStyle/>
                    <a:p>
                      <a:pPr algn="l"/>
                      <a:r>
                        <a:rPr sz="1100" b="0">
                          <a:latin typeface="Times New Roman"/>
                        </a:rPr>
                        <a:t>61.3%, LEAN HIRE, FastAPI partial, PyTorch missing</a:t>
                      </a:r>
                    </a:p>
                  </a:txBody>
                  <a:tcPr marL="60000" marR="60000" marT="20000" marB="20000" anchor="ctr"/>
                </a:tc>
                <a:tc>
                  <a:txBody>
                    <a:bodyPr wrap="square"/>
                    <a:lstStyle/>
                    <a:p>
                      <a:pPr algn="ctr"/>
                      <a:r>
                        <a:rPr sz="1200" b="1">
                          <a:solidFill>
                            <a:srgbClr val="006100"/>
                          </a:solidFill>
                          <a:latin typeface="Times New Roman"/>
                        </a:rPr>
                        <a:t>PASS</a:t>
                      </a:r>
                    </a:p>
                  </a:txBody>
                  <a:tcPr marL="60000" marR="60000" marT="20000" marB="20000" anchor="ctr">
                    <a:solidFill>
                      <a:srgbClr val="C6EFCE"/>
                    </a:solidFill>
                  </a:tcPr>
                </a:tc>
              </a:tr>
              <a:tr h="500000">
                <a:tc>
                  <a:txBody>
                    <a:bodyPr wrap="square"/>
                    <a:lstStyle/>
                    <a:p>
                      <a:pPr algn="ctr"/>
                      <a:r>
                        <a:rPr sz="1100" b="0">
                          <a:latin typeface="Times New Roman"/>
                        </a:rPr>
                        <a:t>4</a:t>
                      </a:r>
                    </a:p>
                  </a:txBody>
                  <a:tcPr marL="60000" marR="60000" marT="20000" marB="20000" anchor="ctr"/>
                </a:tc>
                <a:tc>
                  <a:txBody>
                    <a:bodyPr wrap="square"/>
                    <a:lstStyle/>
                    <a:p>
                      <a:pPr algn="l"/>
                      <a:r>
                        <a:rPr sz="1100" b="1">
                          <a:latin typeface="Times New Roman"/>
                        </a:rPr>
                        <a:t>Corrupt ATS Format</a:t>
                      </a:r>
                    </a:p>
                  </a:txBody>
                  <a:tcPr marL="60000" marR="60000" marT="20000" marB="20000" anchor="ctr"/>
                </a:tc>
                <a:tc>
                  <a:txBody>
                    <a:bodyPr wrap="square"/>
                    <a:lstStyle/>
                    <a:p>
                      <a:pPr algn="l"/>
                      <a:r>
                        <a:rPr sz="1100" b="0">
                          <a:latin typeface="Times New Roman"/>
                        </a:rPr>
                        <a:t>Damaged layout, inconsistent dates</a:t>
                      </a:r>
                    </a:p>
                  </a:txBody>
                  <a:tcPr marL="60000" marR="60000" marT="20000" marB="20000" anchor="ctr"/>
                </a:tc>
                <a:tc>
                  <a:txBody>
                    <a:bodyPr wrap="square"/>
                    <a:lstStyle/>
                    <a:p>
                      <a:pPr algn="l"/>
                      <a:r>
                        <a:rPr sz="1100" b="0">
                          <a:latin typeface="Times New Roman"/>
                        </a:rPr>
                        <a:t>ATS score below 35, date-inconsistency flag</a:t>
                      </a:r>
                    </a:p>
                  </a:txBody>
                  <a:tcPr marL="60000" marR="60000" marT="20000" marB="20000" anchor="ctr"/>
                </a:tc>
                <a:tc>
                  <a:txBody>
                    <a:bodyPr wrap="square"/>
                    <a:lstStyle/>
                    <a:p>
                      <a:pPr algn="l"/>
                      <a:r>
                        <a:rPr sz="1100" b="0">
                          <a:latin typeface="Times New Roman"/>
                        </a:rPr>
                        <a:t>ATS 23, REJECT, flags: date inconsistency, no quantified impact</a:t>
                      </a:r>
                    </a:p>
                  </a:txBody>
                  <a:tcPr marL="60000" marR="60000" marT="20000" marB="20000" anchor="ctr"/>
                </a:tc>
                <a:tc>
                  <a:txBody>
                    <a:bodyPr wrap="square"/>
                    <a:lstStyle/>
                    <a:p>
                      <a:pPr algn="ctr"/>
                      <a:r>
                        <a:rPr sz="1200" b="1">
                          <a:solidFill>
                            <a:srgbClr val="006100"/>
                          </a:solidFill>
                          <a:latin typeface="Times New Roman"/>
                        </a:rPr>
                        <a:t>PASS</a:t>
                      </a:r>
                    </a:p>
                  </a:txBody>
                  <a:tcPr marL="60000" marR="60000" marT="20000" marB="20000" anchor="ctr">
                    <a:solidFill>
                      <a:srgbClr val="C6EFCE"/>
                    </a:solidFill>
                  </a:tcPr>
                </a:tc>
              </a:tr>
              <a:tr h="500000">
                <a:tc>
                  <a:txBody>
                    <a:bodyPr wrap="square"/>
                    <a:lstStyle/>
                    <a:p>
                      <a:pPr algn="ctr"/>
                      <a:r>
                        <a:rPr sz="1100" b="0">
                          <a:latin typeface="Times New Roman"/>
                        </a:rPr>
                        <a:t>5</a:t>
                      </a:r>
                    </a:p>
                  </a:txBody>
                  <a:tcPr marL="60000" marR="60000" marT="20000" marB="20000" anchor="ctr"/>
                </a:tc>
                <a:tc>
                  <a:txBody>
                    <a:bodyPr wrap="square"/>
                    <a:lstStyle/>
                    <a:p>
                      <a:pPr algn="l"/>
                      <a:r>
                        <a:rPr sz="1100" b="1">
                          <a:latin typeface="Times New Roman"/>
                        </a:rPr>
                        <a:t>Second Strong Candidate</a:t>
                      </a:r>
                    </a:p>
                  </a:txBody>
                  <a:tcPr marL="60000" marR="60000" marT="20000" marB="20000" anchor="ctr"/>
                </a:tc>
                <a:tc>
                  <a:txBody>
                    <a:bodyPr wrap="square"/>
                    <a:lstStyle/>
                    <a:p>
                      <a:pPr algn="l"/>
                      <a:r>
                        <a:rPr sz="1100" b="0">
                          <a:latin typeface="Times New Roman"/>
                        </a:rPr>
                        <a:t>ML Systems Engineer, 3.8 years</a:t>
                      </a:r>
                    </a:p>
                  </a:txBody>
                  <a:tcPr marL="60000" marR="60000" marT="20000" marB="20000" anchor="ctr"/>
                </a:tc>
                <a:tc>
                  <a:txBody>
                    <a:bodyPr wrap="square"/>
                    <a:lstStyle/>
                    <a:p>
                      <a:pPr algn="l"/>
                      <a:r>
                        <a:rPr sz="1100" b="0">
                          <a:latin typeface="Times New Roman"/>
                        </a:rPr>
                        <a:t>STRONG HIRE, no red flags, ranked below the gold standard</a:t>
                      </a:r>
                    </a:p>
                  </a:txBody>
                  <a:tcPr marL="60000" marR="60000" marT="20000" marB="20000" anchor="ctr"/>
                </a:tc>
                <a:tc>
                  <a:txBody>
                    <a:bodyPr wrap="square"/>
                    <a:lstStyle/>
                    <a:p>
                      <a:pPr algn="l"/>
                      <a:r>
                        <a:rPr sz="1100" b="0">
                          <a:latin typeface="Times New Roman"/>
                        </a:rPr>
                        <a:t>Rank 2, 82.3%, STRONG HIRE, no flags</a:t>
                      </a:r>
                    </a:p>
                  </a:txBody>
                  <a:tcPr marL="60000" marR="60000" marT="20000" marB="20000" anchor="ctr"/>
                </a:tc>
                <a:tc>
                  <a:txBody>
                    <a:bodyPr wrap="square"/>
                    <a:lstStyle/>
                    <a:p>
                      <a:pPr algn="ctr"/>
                      <a:r>
                        <a:rPr sz="1200" b="1">
                          <a:solidFill>
                            <a:srgbClr val="006100"/>
                          </a:solidFill>
                          <a:latin typeface="Times New Roman"/>
                        </a:rPr>
                        <a:t>PASS</a:t>
                      </a:r>
                    </a:p>
                  </a:txBody>
                  <a:tcPr marL="60000" marR="60000" marT="20000" marB="20000" anchor="ctr">
                    <a:solidFill>
                      <a:srgbClr val="C6EFCE"/>
                    </a:solidFill>
                  </a:tcPr>
                </a:tc>
              </a:tr>
              <a:tr h="500000">
                <a:tc>
                  <a:txBody>
                    <a:bodyPr wrap="square"/>
                    <a:lstStyle/>
                    <a:p>
                      <a:pPr algn="ctr"/>
                      <a:r>
                        <a:rPr sz="1100" b="0">
                          <a:latin typeface="Times New Roman"/>
                        </a:rPr>
                        <a:t>6</a:t>
                      </a:r>
                    </a:p>
                  </a:txBody>
                  <a:tcPr marL="60000" marR="60000" marT="20000" marB="20000" anchor="ctr"/>
                </a:tc>
                <a:tc>
                  <a:txBody>
                    <a:bodyPr wrap="square"/>
                    <a:lstStyle/>
                    <a:p>
                      <a:pPr algn="l"/>
                      <a:r>
                        <a:rPr sz="1100" b="1">
                          <a:latin typeface="Times New Roman"/>
                        </a:rPr>
                        <a:t>Junior Candidate</a:t>
                      </a:r>
                    </a:p>
                  </a:txBody>
                  <a:tcPr marL="60000" marR="60000" marT="20000" marB="20000" anchor="ctr"/>
                </a:tc>
                <a:tc>
                  <a:txBody>
                    <a:bodyPr wrap="square"/>
                    <a:lstStyle/>
                    <a:p>
                      <a:pPr algn="l"/>
                      <a:r>
                        <a:rPr sz="1100" b="0">
                          <a:latin typeface="Times New Roman"/>
                        </a:rPr>
                        <a:t>Junior profile, 1 year of experience</a:t>
                      </a:r>
                    </a:p>
                  </a:txBody>
                  <a:tcPr marL="60000" marR="60000" marT="20000" marB="20000" anchor="ctr"/>
                </a:tc>
                <a:tc>
                  <a:txBody>
                    <a:bodyPr wrap="square"/>
                    <a:lstStyle/>
                    <a:p>
                      <a:pPr algn="l"/>
                      <a:r>
                        <a:rPr sz="1100" b="0">
                          <a:latin typeface="Times New Roman"/>
                        </a:rPr>
                        <a:t>REJECT with an experience-deficit flag</a:t>
                      </a:r>
                    </a:p>
                  </a:txBody>
                  <a:tcPr marL="60000" marR="60000" marT="20000" marB="20000" anchor="ctr"/>
                </a:tc>
                <a:tc>
                  <a:txBody>
                    <a:bodyPr wrap="square"/>
                    <a:lstStyle/>
                    <a:p>
                      <a:pPr algn="l"/>
                      <a:r>
                        <a:rPr sz="1100" b="0">
                          <a:latin typeface="Times New Roman"/>
                        </a:rPr>
                        <a:t>47.4%, REJECT, flags: experience deficit, required skills missing</a:t>
                      </a:r>
                    </a:p>
                  </a:txBody>
                  <a:tcPr marL="60000" marR="60000" marT="20000" marB="20000" anchor="ctr"/>
                </a:tc>
                <a:tc>
                  <a:txBody>
                    <a:bodyPr wrap="square"/>
                    <a:lstStyle/>
                    <a:p>
                      <a:pPr algn="ctr"/>
                      <a:r>
                        <a:rPr sz="1200" b="1">
                          <a:solidFill>
                            <a:srgbClr val="006100"/>
                          </a:solidFill>
                          <a:latin typeface="Times New Roman"/>
                        </a:rPr>
                        <a:t>PASS</a:t>
                      </a:r>
                    </a:p>
                  </a:txBody>
                  <a:tcPr marL="60000" marR="60000" marT="20000" marB="20000" anchor="ctr">
                    <a:solidFill>
                      <a:srgbClr val="C6EFCE"/>
                    </a:solidFill>
                  </a:tcPr>
                </a:tc>
              </a:tr>
              <a:tr h="500000">
                <a:tc>
                  <a:txBody>
                    <a:bodyPr wrap="square"/>
                    <a:lstStyle/>
                    <a:p>
                      <a:pPr algn="ctr"/>
                      <a:r>
                        <a:rPr sz="1100" b="0">
                          <a:latin typeface="Times New Roman"/>
                        </a:rPr>
                        <a:t>7</a:t>
                      </a:r>
                    </a:p>
                  </a:txBody>
                  <a:tcPr marL="60000" marR="60000" marT="20000" marB="20000" anchor="ctr"/>
                </a:tc>
                <a:tc>
                  <a:txBody>
                    <a:bodyPr wrap="square"/>
                    <a:lstStyle/>
                    <a:p>
                      <a:pPr algn="l"/>
                      <a:r>
                        <a:rPr sz="1100" b="1">
                          <a:latin typeface="Times New Roman"/>
                        </a:rPr>
                        <a:t>Missing Sections</a:t>
                      </a:r>
                    </a:p>
                  </a:txBody>
                  <a:tcPr marL="60000" marR="60000" marT="20000" marB="20000" anchor="ctr"/>
                </a:tc>
                <a:tc>
                  <a:txBody>
                    <a:bodyPr wrap="square"/>
                    <a:lstStyle/>
                    <a:p>
                      <a:pPr algn="l"/>
                      <a:r>
                        <a:rPr sz="1100" b="0">
                          <a:latin typeface="Times New Roman"/>
                        </a:rPr>
                        <a:t>Resume with missing sections</a:t>
                      </a:r>
                    </a:p>
                  </a:txBody>
                  <a:tcPr marL="60000" marR="60000" marT="20000" marB="20000" anchor="ctr"/>
                </a:tc>
                <a:tc>
                  <a:txBody>
                    <a:bodyPr wrap="square"/>
                    <a:lstStyle/>
                    <a:p>
                      <a:pPr algn="l"/>
                      <a:r>
                        <a:rPr sz="1100" b="0">
                          <a:latin typeface="Times New Roman"/>
                        </a:rPr>
                        <a:t>Still scored (no crash), REJECT, experience-deficit flag</a:t>
                      </a:r>
                    </a:p>
                  </a:txBody>
                  <a:tcPr marL="60000" marR="60000" marT="20000" marB="20000" anchor="ctr"/>
                </a:tc>
                <a:tc>
                  <a:txBody>
                    <a:bodyPr wrap="square"/>
                    <a:lstStyle/>
                    <a:p>
                      <a:pPr algn="l"/>
                      <a:r>
                        <a:rPr sz="1100" b="0">
                          <a:latin typeface="Times New Roman"/>
                        </a:rPr>
                        <a:t>28.3%, ATS 40, REJECT, flags: experience deficit</a:t>
                      </a:r>
                    </a:p>
                  </a:txBody>
                  <a:tcPr marL="60000" marR="60000" marT="20000" marB="20000" anchor="ctr"/>
                </a:tc>
                <a:tc>
                  <a:txBody>
                    <a:bodyPr wrap="square"/>
                    <a:lstStyle/>
                    <a:p>
                      <a:pPr algn="ctr"/>
                      <a:r>
                        <a:rPr sz="1200" b="1">
                          <a:solidFill>
                            <a:srgbClr val="006100"/>
                          </a:solidFill>
                          <a:latin typeface="Times New Roman"/>
                        </a:rPr>
                        <a:t>PASS</a:t>
                      </a:r>
                    </a:p>
                  </a:txBody>
                  <a:tcPr marL="60000" marR="60000" marT="20000" marB="20000" anchor="ctr">
                    <a:solidFill>
                      <a:srgbClr val="C6EFCE"/>
                    </a:solidFill>
                  </a:tcPr>
                </a:tc>
              </a:tr>
              <a:tr h="500000">
                <a:tc>
                  <a:txBody>
                    <a:bodyPr wrap="square"/>
                    <a:lstStyle/>
                    <a:p>
                      <a:pPr algn="ctr"/>
                      <a:r>
                        <a:rPr sz="1100" b="0">
                          <a:latin typeface="Times New Roman"/>
                        </a:rPr>
                        <a:t>8</a:t>
                      </a:r>
                    </a:p>
                  </a:txBody>
                  <a:tcPr marL="60000" marR="60000" marT="20000" marB="20000" anchor="ctr"/>
                </a:tc>
                <a:tc>
                  <a:txBody>
                    <a:bodyPr wrap="square"/>
                    <a:lstStyle/>
                    <a:p>
                      <a:pPr algn="l"/>
                      <a:r>
                        <a:rPr sz="1100" b="1">
                          <a:latin typeface="Times New Roman"/>
                        </a:rPr>
                        <a:t>Name-Swap Fairness</a:t>
                      </a:r>
                    </a:p>
                  </a:txBody>
                  <a:tcPr marL="60000" marR="60000" marT="20000" marB="20000" anchor="ctr"/>
                </a:tc>
                <a:tc>
                  <a:txBody>
                    <a:bodyPr wrap="square"/>
                    <a:lstStyle/>
                    <a:p>
                      <a:pPr algn="l"/>
                      <a:r>
                        <a:rPr sz="1100" b="0">
                          <a:latin typeface="Times New Roman"/>
                        </a:rPr>
                        <a:t>Same resume, candidate name changed</a:t>
                      </a:r>
                    </a:p>
                  </a:txBody>
                  <a:tcPr marL="60000" marR="60000" marT="20000" marB="20000" anchor="ctr"/>
                </a:tc>
                <a:tc>
                  <a:txBody>
                    <a:bodyPr wrap="square"/>
                    <a:lstStyle/>
                    <a:p>
                      <a:pPr algn="l"/>
                      <a:r>
                        <a:rPr sz="1100" b="0">
                          <a:latin typeface="Times New Roman"/>
                        </a:rPr>
                        <a:t>No change in any score, in plain and blind mode</a:t>
                      </a:r>
                    </a:p>
                  </a:txBody>
                  <a:tcPr marL="60000" marR="60000" marT="20000" marB="20000" anchor="ctr"/>
                </a:tc>
                <a:tc>
                  <a:txBody>
                    <a:bodyPr wrap="square"/>
                    <a:lstStyle/>
                    <a:p>
                      <a:pPr algn="l"/>
                      <a:r>
                        <a:rPr sz="1100" b="0">
                          <a:latin typeface="Times New Roman"/>
                        </a:rPr>
                        <a:t>Maximum score change 0.0 (plain and blind)</a:t>
                      </a:r>
                    </a:p>
                  </a:txBody>
                  <a:tcPr marL="60000" marR="60000" marT="20000" marB="20000" anchor="ctr"/>
                </a:tc>
                <a:tc>
                  <a:txBody>
                    <a:bodyPr wrap="square"/>
                    <a:lstStyle/>
                    <a:p>
                      <a:pPr algn="ctr"/>
                      <a:r>
                        <a:rPr sz="1200" b="1">
                          <a:solidFill>
                            <a:srgbClr val="006100"/>
                          </a:solidFill>
                          <a:latin typeface="Times New Roman"/>
                        </a:rPr>
                        <a:t>PASS</a:t>
                      </a:r>
                    </a:p>
                  </a:txBody>
                  <a:tcPr marL="60000" marR="60000" marT="20000" marB="20000" anchor="ctr">
                    <a:solidFill>
                      <a:srgbClr val="C6EFCE"/>
                    </a:solidFill>
                  </a:tcPr>
                </a:tc>
              </a:tr>
            </a:tbl>
          </a:graphicData>
        </a:graphic>
      </p:graphicFrame>
    </p:spTree>
    <p:extLst>
      <p:ext uri="{BB962C8B-B14F-4D97-AF65-F5344CB8AC3E}">
        <p14:creationId xmlns:p14="http://schemas.microsoft.com/office/powerpoint/2010/main" val="1066131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48352-7F16-A538-CA34-9E93AC13B3DD}"/>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9802A688-D420-4932-8380-3B5255A67BAD}"/>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AD249F90-DF57-CFB9-8031-FB0FE46C84F0}"/>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048337FC-8029-24EF-AF99-039771DDA80E}"/>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3D37A14E-283C-A4CE-84B2-9402609A4428}"/>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38DFAB8A-014F-5692-FEAC-C37364912AEE}"/>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7B7262D-24F3-9233-556A-AFA30334F2FD}"/>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9A09DF37-958D-3747-C9BF-D1E41152B36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1499695E-AA4D-C975-8113-6E05048A22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1" name="Title"/>
          <p:cNvSpPr txBox="1"/>
          <p:nvPr/>
        </p:nvSpPr>
        <p:spPr>
          <a:xfrm>
            <a:off x="264816" y="1025101"/>
            <a:ext cx="9000000" cy="523220"/>
          </a:xfrm>
          <a:prstGeom prst="rect">
            <a:avLst/>
          </a:prstGeom>
          <a:noFill/>
        </p:spPr>
        <p:txBody>
          <a:bodyPr wrap="square" lIns="60000" tIns="30000" rIns="60000" bIns="30000" anchor="t">
            <a:spAutoFit/>
          </a:bodyPr>
          <a:lstStyle/>
          <a:p>
            <a:pPr algn="l">
              <a:lnSpc>
                <a:spcPct val="115000"/>
              </a:lnSpc>
              <a:spcAft>
                <a:spcPts val="600"/>
              </a:spcAft>
            </a:pPr>
            <a:r>
              <a:rPr sz="2800" b="1">
                <a:solidFill>
                  <a:srgbClr val="000000"/>
                </a:solidFill>
                <a:latin typeface="Times New Roman"/>
              </a:rPr>
              <a:t>TEST CASES WITH RESULTS (CONTD.)</a:t>
            </a:r>
          </a:p>
        </p:txBody>
      </p:sp>
      <p:graphicFrame>
        <p:nvGraphicFramePr>
          <p:cNvPr id="32" name="Table 31"/>
          <p:cNvGraphicFramePr>
            <a:graphicFrameLocks noGrp="1"/>
          </p:cNvGraphicFramePr>
          <p:nvPr/>
        </p:nvGraphicFramePr>
        <p:xfrm>
          <a:off x="330000" y="1600000"/>
          <a:ext cx="11500000" cy="3100000"/>
        </p:xfrm>
        <a:graphic>
          <a:graphicData uri="http://schemas.openxmlformats.org/drawingml/2006/table">
            <a:tbl>
              <a:tblPr firstRow="1" bandRow="1">
                <a:tableStyleId>{5C22544A-7EE6-4342-B048-85BDC9FD1C3A}</a:tableStyleId>
              </a:tblPr>
              <a:tblGrid>
                <a:gridCol w="2300000">
                  <a:extLst>
                    <a:ext uri="{9D8B030D-6E8A-4147-A177-3AD203B41FA5}">
                      <a16:colId xmlns:a16="http://schemas.microsoft.com/office/drawing/2014/main" val="20000"/>
                    </a:ext>
                  </a:extLst>
                </a:gridCol>
                <a:gridCol w="4140000">
                  <a:extLst>
                    <a:ext uri="{9D8B030D-6E8A-4147-A177-3AD203B41FA5}">
                      <a16:colId xmlns:a16="http://schemas.microsoft.com/office/drawing/2014/main" val="20001"/>
                    </a:ext>
                  </a:extLst>
                </a:gridCol>
                <a:gridCol w="1840000">
                  <a:extLst>
                    <a:ext uri="{9D8B030D-6E8A-4147-A177-3AD203B41FA5}">
                      <a16:colId xmlns:a16="http://schemas.microsoft.com/office/drawing/2014/main" val="20002"/>
                    </a:ext>
                  </a:extLst>
                </a:gridCol>
                <a:gridCol w="1840000">
                  <a:extLst>
                    <a:ext uri="{9D8B030D-6E8A-4147-A177-3AD203B41FA5}">
                      <a16:colId xmlns:a16="http://schemas.microsoft.com/office/drawing/2014/main" val="20003"/>
                    </a:ext>
                  </a:extLst>
                </a:gridCol>
                <a:gridCol w="1380000">
                  <a:extLst>
                    <a:ext uri="{9D8B030D-6E8A-4147-A177-3AD203B41FA5}">
                      <a16:colId xmlns:a16="http://schemas.microsoft.com/office/drawing/2014/main" val="20004"/>
                    </a:ext>
                  </a:extLst>
                </a:gridCol>
              </a:tblGrid>
              <a:tr h="620000">
                <a:tc>
                  <a:txBody>
                    <a:bodyPr/>
                    <a:lstStyle/>
                    <a:p>
                      <a:pPr algn="ctr"/>
                      <a:r>
                        <a:rPr sz="1500" b="1">
                          <a:solidFill>
                            <a:srgbClr val="FFFFFF"/>
                          </a:solidFill>
                          <a:latin typeface="Times New Roman"/>
                        </a:rPr>
                        <a:t>Test resume</a:t>
                      </a:r>
                    </a:p>
                  </a:txBody>
                  <a:tcPr marL="70000" marR="70000" anchor="ctr"/>
                </a:tc>
                <a:tc>
                  <a:txBody>
                    <a:bodyPr/>
                    <a:lstStyle/>
                    <a:p>
                      <a:pPr algn="ctr"/>
                      <a:r>
                        <a:rPr sz="1500" b="1">
                          <a:solidFill>
                            <a:srgbClr val="FFFFFF"/>
                          </a:solidFill>
                          <a:latin typeface="Times New Roman"/>
                        </a:rPr>
                        <a:t>What it checks</a:t>
                      </a:r>
                    </a:p>
                  </a:txBody>
                  <a:tcPr marL="70000" marR="70000" anchor="ctr"/>
                </a:tc>
                <a:tc>
                  <a:txBody>
                    <a:bodyPr/>
                    <a:lstStyle/>
                    <a:p>
                      <a:pPr algn="ctr"/>
                      <a:r>
                        <a:rPr sz="1500" b="1">
                          <a:solidFill>
                            <a:srgbClr val="FFFFFF"/>
                          </a:solidFill>
                          <a:latin typeface="Times New Roman"/>
                        </a:rPr>
                        <a:t>Phase 1 keyword score</a:t>
                      </a:r>
                    </a:p>
                  </a:txBody>
                  <a:tcPr marL="70000" marR="70000" anchor="ctr"/>
                </a:tc>
                <a:tc>
                  <a:txBody>
                    <a:bodyPr/>
                    <a:lstStyle/>
                    <a:p>
                      <a:pPr algn="ctr"/>
                      <a:r>
                        <a:rPr sz="1500" b="1">
                          <a:solidFill>
                            <a:srgbClr val="FFFFFF"/>
                          </a:solidFill>
                          <a:latin typeface="Times New Roman"/>
                        </a:rPr>
                        <a:t>Phase 2 hybrid score</a:t>
                      </a:r>
                    </a:p>
                  </a:txBody>
                  <a:tcPr marL="70000" marR="70000" anchor="ctr"/>
                </a:tc>
                <a:tc>
                  <a:txBody>
                    <a:bodyPr/>
                    <a:lstStyle/>
                    <a:p>
                      <a:pPr algn="ctr"/>
                      <a:r>
                        <a:rPr sz="1500" b="1">
                          <a:solidFill>
                            <a:srgbClr val="FFFFFF"/>
                          </a:solidFill>
                          <a:latin typeface="Times New Roman"/>
                        </a:rPr>
                        <a:t>Council score</a:t>
                      </a:r>
                    </a:p>
                  </a:txBody>
                  <a:tcPr marL="70000" marR="70000" anchor="ctr"/>
                </a:tc>
                <a:extLst>
                  <a:ext uri="{0D108BD9-81ED-4DB2-BD59-A6C34878D82A}">
                    <a16:rowId xmlns:a16="http://schemas.microsoft.com/office/drawing/2014/main" val="10000"/>
                  </a:ext>
                </a:extLst>
              </a:tr>
              <a:tr h="620000">
                <a:tc>
                  <a:txBody>
                    <a:bodyPr/>
                    <a:lstStyle/>
                    <a:p>
                      <a:pPr algn="l"/>
                      <a:r>
                        <a:rPr sz="1400" b="0">
                          <a:solidFill>
                            <a:srgbClr val="000000"/>
                          </a:solidFill>
                          <a:latin typeface="Times New Roman"/>
                        </a:rPr>
                        <a:t>Gold Standard</a:t>
                      </a:r>
                    </a:p>
                  </a:txBody>
                  <a:tcPr marL="70000" marR="70000" anchor="ctr"/>
                </a:tc>
                <a:tc>
                  <a:txBody>
                    <a:bodyPr/>
                    <a:lstStyle/>
                    <a:p>
                      <a:pPr algn="l"/>
                      <a:r>
                        <a:rPr sz="1400" b="0">
                          <a:solidFill>
                            <a:srgbClr val="000000"/>
                          </a:solidFill>
                          <a:latin typeface="Times New Roman"/>
                        </a:rPr>
                        <a:t>No inflated perfect score for a strong candidate</a:t>
                      </a:r>
                    </a:p>
                  </a:txBody>
                  <a:tcPr marL="70000" marR="70000" anchor="ctr"/>
                </a:tc>
                <a:tc>
                  <a:txBody>
                    <a:bodyPr/>
                    <a:lstStyle/>
                    <a:p>
                      <a:pPr algn="ctr"/>
                      <a:r>
                        <a:rPr sz="1400" b="0">
                          <a:solidFill>
                            <a:srgbClr val="000000"/>
                          </a:solidFill>
                          <a:latin typeface="Times New Roman"/>
                        </a:rPr>
                        <a:t>100.0</a:t>
                      </a:r>
                    </a:p>
                  </a:txBody>
                  <a:tcPr marL="70000" marR="70000" anchor="ctr"/>
                </a:tc>
                <a:tc>
                  <a:txBody>
                    <a:bodyPr/>
                    <a:lstStyle/>
                    <a:p>
                      <a:pPr algn="ctr"/>
                      <a:r>
                        <a:rPr sz="1400" b="0">
                          <a:solidFill>
                            <a:srgbClr val="000000"/>
                          </a:solidFill>
                          <a:latin typeface="Times New Roman"/>
                        </a:rPr>
                        <a:t>88.1</a:t>
                      </a:r>
                    </a:p>
                  </a:txBody>
                  <a:tcPr marL="70000" marR="70000" anchor="ctr"/>
                </a:tc>
                <a:tc>
                  <a:txBody>
                    <a:bodyPr/>
                    <a:lstStyle/>
                    <a:p>
                      <a:pPr algn="l"/>
                      <a:r>
                        <a:rPr sz="1400" b="0">
                          <a:solidFill>
                            <a:srgbClr val="000000"/>
                          </a:solidFill>
                          <a:latin typeface="Times New Roman"/>
                        </a:rPr>
                        <a:t>91.4</a:t>
                      </a:r>
                    </a:p>
                  </a:txBody>
                  <a:tcPr marL="70000" marR="70000" anchor="ctr"/>
                </a:tc>
                <a:extLst>
                  <a:ext uri="{0D108BD9-81ED-4DB2-BD59-A6C34878D82A}">
                    <a16:rowId xmlns:a16="http://schemas.microsoft.com/office/drawing/2014/main" val="10001"/>
                  </a:ext>
                </a:extLst>
              </a:tr>
              <a:tr h="620000">
                <a:tc>
                  <a:txBody>
                    <a:bodyPr/>
                    <a:lstStyle/>
                    <a:p>
                      <a:pPr algn="l"/>
                      <a:r>
                        <a:rPr sz="1400" b="0">
                          <a:solidFill>
                            <a:srgbClr val="000000"/>
                          </a:solidFill>
                          <a:latin typeface="Times New Roman"/>
                        </a:rPr>
                        <a:t>Buzzword Exaggeration</a:t>
                      </a:r>
                    </a:p>
                  </a:txBody>
                  <a:tcPr marL="70000" marR="70000" anchor="ctr"/>
                </a:tc>
                <a:tc>
                  <a:txBody>
                    <a:bodyPr/>
                    <a:lstStyle/>
                    <a:p>
                      <a:pPr algn="l"/>
                      <a:r>
                        <a:rPr sz="1400" b="0">
                          <a:solidFill>
                            <a:srgbClr val="000000"/>
                          </a:solidFill>
                          <a:latin typeface="Times New Roman"/>
                        </a:rPr>
                        <a:t>Stuffed skills are not rewarded</a:t>
                      </a:r>
                    </a:p>
                  </a:txBody>
                  <a:tcPr marL="70000" marR="70000" anchor="ctr"/>
                </a:tc>
                <a:tc>
                  <a:txBody>
                    <a:bodyPr/>
                    <a:lstStyle/>
                    <a:p>
                      <a:pPr algn="ctr"/>
                      <a:r>
                        <a:rPr sz="1400" b="0">
                          <a:solidFill>
                            <a:srgbClr val="000000"/>
                          </a:solidFill>
                          <a:latin typeface="Times New Roman"/>
                        </a:rPr>
                        <a:t>47.1</a:t>
                      </a:r>
                    </a:p>
                  </a:txBody>
                  <a:tcPr marL="70000" marR="70000" anchor="ctr"/>
                </a:tc>
                <a:tc>
                  <a:txBody>
                    <a:bodyPr/>
                    <a:lstStyle/>
                    <a:p>
                      <a:pPr algn="ctr"/>
                      <a:r>
                        <a:rPr sz="1400" b="0">
                          <a:solidFill>
                            <a:srgbClr val="000000"/>
                          </a:solidFill>
                          <a:latin typeface="Times New Roman"/>
                        </a:rPr>
                        <a:t>41.6</a:t>
                      </a:r>
                    </a:p>
                  </a:txBody>
                  <a:tcPr marL="70000" marR="70000" anchor="ctr"/>
                </a:tc>
                <a:tc>
                  <a:txBody>
                    <a:bodyPr/>
                    <a:lstStyle/>
                    <a:p>
                      <a:pPr algn="l"/>
                      <a:r>
                        <a:rPr sz="1400" b="0">
                          <a:solidFill>
                            <a:srgbClr val="000000"/>
                          </a:solidFill>
                          <a:latin typeface="Times New Roman"/>
                        </a:rPr>
                        <a:t>50.3</a:t>
                      </a:r>
                    </a:p>
                  </a:txBody>
                  <a:tcPr marL="70000" marR="70000" anchor="ctr"/>
                </a:tc>
                <a:extLst>
                  <a:ext uri="{0D108BD9-81ED-4DB2-BD59-A6C34878D82A}">
                    <a16:rowId xmlns:a16="http://schemas.microsoft.com/office/drawing/2014/main" val="10002"/>
                  </a:ext>
                </a:extLst>
              </a:tr>
              <a:tr h="620000">
                <a:tc>
                  <a:txBody>
                    <a:bodyPr/>
                    <a:lstStyle/>
                    <a:p>
                      <a:pPr algn="l"/>
                      <a:r>
                        <a:rPr sz="1400" b="0">
                          <a:solidFill>
                            <a:srgbClr val="000000"/>
                          </a:solidFill>
                          <a:latin typeface="Times New Roman"/>
                        </a:rPr>
                        <a:t>Lateral Partial Match</a:t>
                      </a:r>
                    </a:p>
                  </a:txBody>
                  <a:tcPr marL="70000" marR="70000" anchor="ctr"/>
                </a:tc>
                <a:tc>
                  <a:txBody>
                    <a:bodyPr/>
                    <a:lstStyle/>
                    <a:p>
                      <a:pPr algn="l"/>
                      <a:r>
                        <a:rPr sz="1400" b="0">
                          <a:solidFill>
                            <a:srgbClr val="000000"/>
                          </a:solidFill>
                          <a:latin typeface="Times New Roman"/>
                        </a:rPr>
                        <a:t>Related skills earn partial credit</a:t>
                      </a:r>
                    </a:p>
                  </a:txBody>
                  <a:tcPr marL="70000" marR="70000" anchor="ctr"/>
                </a:tc>
                <a:tc>
                  <a:txBody>
                    <a:bodyPr/>
                    <a:lstStyle/>
                    <a:p>
                      <a:pPr algn="ctr"/>
                      <a:r>
                        <a:rPr sz="1400" b="0">
                          <a:solidFill>
                            <a:srgbClr val="000000"/>
                          </a:solidFill>
                          <a:latin typeface="Times New Roman"/>
                        </a:rPr>
                        <a:t>47.1</a:t>
                      </a:r>
                    </a:p>
                  </a:txBody>
                  <a:tcPr marL="70000" marR="70000" anchor="ctr"/>
                </a:tc>
                <a:tc>
                  <a:txBody>
                    <a:bodyPr/>
                    <a:lstStyle/>
                    <a:p>
                      <a:pPr algn="ctr"/>
                      <a:r>
                        <a:rPr sz="1400" b="0">
                          <a:solidFill>
                            <a:srgbClr val="000000"/>
                          </a:solidFill>
                          <a:latin typeface="Times New Roman"/>
                        </a:rPr>
                        <a:t>61.3</a:t>
                      </a:r>
                    </a:p>
                  </a:txBody>
                  <a:tcPr marL="70000" marR="70000" anchor="ctr"/>
                </a:tc>
                <a:tc>
                  <a:txBody>
                    <a:bodyPr/>
                    <a:lstStyle/>
                    <a:p>
                      <a:pPr algn="l"/>
                      <a:r>
                        <a:rPr sz="1400" b="0">
                          <a:solidFill>
                            <a:srgbClr val="000000"/>
                          </a:solidFill>
                          <a:latin typeface="Times New Roman"/>
                        </a:rPr>
                        <a:t>76.0</a:t>
                      </a:r>
                    </a:p>
                  </a:txBody>
                  <a:tcPr marL="70000" marR="70000" anchor="ctr"/>
                </a:tc>
                <a:extLst>
                  <a:ext uri="{0D108BD9-81ED-4DB2-BD59-A6C34878D82A}">
                    <a16:rowId xmlns:a16="http://schemas.microsoft.com/office/drawing/2014/main" val="10003"/>
                  </a:ext>
                </a:extLst>
              </a:tr>
              <a:tr h="620000">
                <a:tc>
                  <a:txBody>
                    <a:bodyPr/>
                    <a:lstStyle/>
                    <a:p>
                      <a:pPr algn="l"/>
                      <a:r>
                        <a:rPr sz="1400" b="0">
                          <a:solidFill>
                            <a:srgbClr val="000000"/>
                          </a:solidFill>
                          <a:latin typeface="Times New Roman"/>
                        </a:rPr>
                        <a:t>Corrupt ATS Format</a:t>
                      </a:r>
                    </a:p>
                  </a:txBody>
                  <a:tcPr marL="70000" marR="70000" anchor="ctr"/>
                </a:tc>
                <a:tc>
                  <a:txBody>
                    <a:bodyPr/>
                    <a:lstStyle/>
                    <a:p>
                      <a:pPr algn="l"/>
                      <a:r>
                        <a:rPr sz="1400" b="0" dirty="0">
                          <a:solidFill>
                            <a:srgbClr val="000000"/>
                          </a:solidFill>
                          <a:latin typeface="Times New Roman"/>
                        </a:rPr>
                        <a:t>Damaged resume is still scored and flagged</a:t>
                      </a:r>
                    </a:p>
                  </a:txBody>
                  <a:tcPr marL="70000" marR="70000" anchor="ctr"/>
                </a:tc>
                <a:tc>
                  <a:txBody>
                    <a:bodyPr/>
                    <a:lstStyle/>
                    <a:p>
                      <a:pPr algn="ctr"/>
                      <a:r>
                        <a:rPr sz="1400" b="0">
                          <a:solidFill>
                            <a:srgbClr val="000000"/>
                          </a:solidFill>
                          <a:latin typeface="Times New Roman"/>
                        </a:rPr>
                        <a:t>0.0</a:t>
                      </a:r>
                    </a:p>
                  </a:txBody>
                  <a:tcPr marL="70000" marR="70000" anchor="ctr"/>
                </a:tc>
                <a:tc>
                  <a:txBody>
                    <a:bodyPr/>
                    <a:lstStyle/>
                    <a:p>
                      <a:pPr algn="ctr"/>
                      <a:r>
                        <a:rPr sz="1400" b="0">
                          <a:solidFill>
                            <a:srgbClr val="000000"/>
                          </a:solidFill>
                          <a:latin typeface="Times New Roman"/>
                        </a:rPr>
                        <a:t>34.0</a:t>
                      </a:r>
                    </a:p>
                  </a:txBody>
                  <a:tcPr marL="70000" marR="70000" anchor="ctr"/>
                </a:tc>
                <a:tc>
                  <a:txBody>
                    <a:bodyPr/>
                    <a:lstStyle/>
                    <a:p>
                      <a:pPr algn="l"/>
                      <a:r>
                        <a:rPr sz="1400" b="0" dirty="0">
                          <a:solidFill>
                            <a:srgbClr val="000000"/>
                          </a:solidFill>
                          <a:latin typeface="Times New Roman"/>
                        </a:rPr>
                        <a:t>38.5</a:t>
                      </a:r>
                    </a:p>
                  </a:txBody>
                  <a:tcPr marL="70000" marR="70000" anchor="ctr"/>
                </a:tc>
                <a:extLst>
                  <a:ext uri="{0D108BD9-81ED-4DB2-BD59-A6C34878D82A}">
                    <a16:rowId xmlns:a16="http://schemas.microsoft.com/office/drawing/2014/main" val="10004"/>
                  </a:ext>
                </a:extLst>
              </a:tr>
            </a:tbl>
          </a:graphicData>
        </a:graphic>
      </p:graphicFrame>
      <p:sp>
        <p:nvSpPr>
          <p:cNvPr id="33" name="TextBox 32"/>
          <p:cNvSpPr txBox="1"/>
          <p:nvPr/>
        </p:nvSpPr>
        <p:spPr>
          <a:xfrm>
            <a:off x="330000" y="4900000"/>
            <a:ext cx="11500000" cy="1300000"/>
          </a:xfrm>
          <a:prstGeom prst="rect">
            <a:avLst/>
          </a:prstGeom>
          <a:noFill/>
        </p:spPr>
        <p:txBody>
          <a:bodyPr wrap="square" lIns="60000" tIns="30000" rIns="60000" bIns="30000" anchor="t">
            <a:spAutoFit/>
          </a:bodyPr>
          <a:lstStyle/>
          <a:p>
            <a:pPr marL="285750" indent="-285750" algn="l">
              <a:lnSpc>
                <a:spcPct val="115000"/>
              </a:lnSpc>
              <a:spcAft>
                <a:spcPts val="600"/>
              </a:spcAft>
              <a:buFont typeface="Arial"/>
              <a:buChar char="•"/>
            </a:pPr>
            <a:r>
              <a:rPr sz="1600" b="1">
                <a:solidFill>
                  <a:srgbClr val="000000"/>
                </a:solidFill>
                <a:latin typeface="Times New Roman"/>
              </a:rPr>
              <a:t>Fairness test: </a:t>
            </a:r>
            <a:r>
              <a:rPr sz="1600" b="0">
                <a:solidFill>
                  <a:srgbClr val="000000"/>
                </a:solidFill>
                <a:latin typeface="Times New Roman"/>
              </a:rPr>
              <a:t>swapping a candidate's name changed no score (maximum change 0.0) in plain or blind mode.</a:t>
            </a:r>
          </a:p>
          <a:p>
            <a:pPr marL="285750" indent="-285750" algn="l">
              <a:lnSpc>
                <a:spcPct val="115000"/>
              </a:lnSpc>
              <a:spcAft>
                <a:spcPts val="600"/>
              </a:spcAft>
              <a:buFont typeface="Arial"/>
              <a:buChar char="•"/>
            </a:pPr>
            <a:r>
              <a:rPr sz="1600" b="1">
                <a:solidFill>
                  <a:srgbClr val="000000"/>
                </a:solidFill>
                <a:latin typeface="Times New Roman"/>
              </a:rPr>
              <a:t>Ablation: </a:t>
            </a:r>
            <a:r>
              <a:rPr sz="1600" b="0">
                <a:solidFill>
                  <a:srgbClr val="000000"/>
                </a:solidFill>
                <a:latin typeface="Times New Roman"/>
              </a:rPr>
              <a:t>without evidence weighting, two REJECT verdicts would have become LEAN HIRE.</a:t>
            </a:r>
          </a:p>
        </p:txBody>
      </p:sp>
    </p:spTree>
    <p:extLst>
      <p:ext uri="{BB962C8B-B14F-4D97-AF65-F5344CB8AC3E}">
        <p14:creationId xmlns:p14="http://schemas.microsoft.com/office/powerpoint/2010/main" val="1594942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8D899-0514-CE61-D3A8-18150FA2AA2A}"/>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E7ED12DC-4C0B-4390-DCEF-273E43F6A866}"/>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BBDDE4A4-ABB0-BE74-47A6-E12FBBCE4B36}"/>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4859D228-018C-349F-F972-15E65BB2645A}"/>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D6821ADA-C110-6757-9AA9-B44B4BE0F410}"/>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874B0BD2-4145-59BE-4B99-EC7E5098D870}"/>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F43803A4-4570-A6EF-5E16-8C312C2D2B5D}"/>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F4977EA2-374A-A141-AB1D-AACAF3BD84A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B835D229-9A93-D767-654F-99961D3AAE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E425DED6-684F-A823-941E-382E9950BDBD}"/>
              </a:ext>
            </a:extLst>
          </p:cNvPr>
          <p:cNvSpPr txBox="1"/>
          <p:nvPr/>
        </p:nvSpPr>
        <p:spPr>
          <a:xfrm>
            <a:off x="264816" y="1100683"/>
            <a:ext cx="614516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INTERFACE DESIGN</a:t>
            </a:r>
            <a:endParaRPr lang="en-IN" sz="2800" b="1" dirty="0"/>
          </a:p>
        </p:txBody>
      </p:sp>
      <p:sp>
        <p:nvSpPr>
          <p:cNvPr id="33" name="TextBox 32"/>
          <p:cNvSpPr txBox="1"/>
          <p:nvPr/>
        </p:nvSpPr>
        <p:spPr>
          <a:xfrm>
            <a:off x="280000" y="5850000"/>
            <a:ext cx="3801242" cy="330000"/>
          </a:xfrm>
          <a:prstGeom prst="rect">
            <a:avLst/>
          </a:prstGeom>
          <a:noFill/>
        </p:spPr>
        <p:txBody>
          <a:bodyPr wrap="square" lIns="60000" tIns="30000" rIns="60000" bIns="30000" anchor="t">
            <a:spAutoFit/>
          </a:bodyPr>
          <a:lstStyle/>
          <a:p>
            <a:pPr algn="ctr">
              <a:lnSpc>
                <a:spcPct val="115000"/>
              </a:lnSpc>
              <a:spcAft>
                <a:spcPts val="600"/>
              </a:spcAft>
            </a:pPr>
            <a:r>
              <a:rPr sz="1400" b="0">
                <a:solidFill>
                  <a:srgbClr val="595959"/>
                </a:solidFill>
                <a:latin typeface="Times New Roman"/>
              </a:rPr>
              <a:t>Sign-in (live site)</a:t>
            </a:r>
          </a:p>
        </p:txBody>
      </p:sp>
      <p:sp>
        <p:nvSpPr>
          <p:cNvPr id="34" name="TextBox 33"/>
          <p:cNvSpPr txBox="1"/>
          <p:nvPr/>
        </p:nvSpPr>
        <p:spPr>
          <a:xfrm>
            <a:off x="4281242" y="5850000"/>
            <a:ext cx="6265356" cy="288533"/>
          </a:xfrm>
          <a:prstGeom prst="rect">
            <a:avLst/>
          </a:prstGeom>
          <a:noFill/>
        </p:spPr>
        <p:txBody>
          <a:bodyPr wrap="square" lIns="60000" tIns="30000" rIns="60000" bIns="30000" anchor="t">
            <a:spAutoFit/>
          </a:bodyPr>
          <a:lstStyle/>
          <a:p>
            <a:pPr algn="ctr">
              <a:lnSpc>
                <a:spcPct val="115000"/>
              </a:lnSpc>
              <a:spcAft>
                <a:spcPts val="600"/>
              </a:spcAft>
            </a:pPr>
            <a:r>
              <a:rPr lang="en-US" sz="1400" dirty="0">
                <a:solidFill>
                  <a:srgbClr val="595959"/>
                </a:solidFill>
                <a:latin typeface="Times New Roman"/>
              </a:rPr>
              <a:t>Job Management</a:t>
            </a:r>
            <a:endParaRPr sz="1400" b="0" dirty="0">
              <a:solidFill>
                <a:srgbClr val="595959"/>
              </a:solidFill>
              <a:latin typeface="Times New Roman"/>
            </a:endParaRPr>
          </a:p>
        </p:txBody>
      </p:sp>
      <p:pic>
        <p:nvPicPr>
          <p:cNvPr id="6" name="Picture 5" descr="A user interface for signing into an Explainable ATS account, featuring options for corporate email, password, and an invitation to sign up if no account exists.&#10;&#10;AI-generated content may be incorrect.">
            <a:extLst>
              <a:ext uri="{FF2B5EF4-FFF2-40B4-BE49-F238E27FC236}">
                <a16:creationId xmlns:a16="http://schemas.microsoft.com/office/drawing/2014/main" id="{3CC06B0E-8E04-82B2-480B-2CF417407B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6511" y="1550000"/>
            <a:ext cx="3546839" cy="4160391"/>
          </a:xfrm>
          <a:prstGeom prst="rect">
            <a:avLst/>
          </a:prstGeom>
        </p:spPr>
      </p:pic>
      <p:pic>
        <p:nvPicPr>
          <p:cNvPr id="8" name="Picture 7">
            <a:extLst>
              <a:ext uri="{FF2B5EF4-FFF2-40B4-BE49-F238E27FC236}">
                <a16:creationId xmlns:a16="http://schemas.microsoft.com/office/drawing/2014/main" id="{2C766873-5DDC-0D9E-6CAC-4BA17EC602E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16036" y="1623664"/>
            <a:ext cx="7329305" cy="3762013"/>
          </a:xfrm>
          <a:prstGeom prst="rect">
            <a:avLst/>
          </a:prstGeom>
        </p:spPr>
      </p:pic>
    </p:spTree>
    <p:extLst>
      <p:ext uri="{BB962C8B-B14F-4D97-AF65-F5344CB8AC3E}">
        <p14:creationId xmlns:p14="http://schemas.microsoft.com/office/powerpoint/2010/main" val="979181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1F1B3-16F9-33A6-7BC1-3D66BE776A18}"/>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DCFBD738-DE7B-E1D1-D54F-E8A4AF92979D}"/>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39222298-D899-8163-FB51-B55E9790DDCF}"/>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31C53A6C-B4D7-4975-DDF2-5C1D445DC57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8DB0D12-C9D0-86A4-23C0-96658FC5A8E3}"/>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D6251A4B-FD3B-9795-F27F-B73710F121C6}"/>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AC217B8-3E78-9C7F-00B1-D498E196D81D}"/>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A344EAD2-0402-4E17-26A2-D09C467C096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72D27B62-1100-EB26-59EF-B4C6E5F9A8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1" name="Title"/>
          <p:cNvSpPr txBox="1"/>
          <p:nvPr/>
        </p:nvSpPr>
        <p:spPr>
          <a:xfrm>
            <a:off x="264816" y="1000000"/>
            <a:ext cx="9000000" cy="523220"/>
          </a:xfrm>
          <a:prstGeom prst="rect">
            <a:avLst/>
          </a:prstGeom>
          <a:noFill/>
        </p:spPr>
        <p:txBody>
          <a:bodyPr wrap="square" lIns="60000" tIns="30000" rIns="60000" bIns="30000" anchor="t">
            <a:spAutoFit/>
          </a:bodyPr>
          <a:lstStyle/>
          <a:p>
            <a:pPr algn="l">
              <a:lnSpc>
                <a:spcPct val="115000"/>
              </a:lnSpc>
              <a:spcAft>
                <a:spcPts val="600"/>
              </a:spcAft>
            </a:pPr>
            <a:r>
              <a:rPr sz="2800" b="1">
                <a:solidFill>
                  <a:srgbClr val="000000"/>
                </a:solidFill>
                <a:latin typeface="Times New Roman"/>
              </a:rPr>
              <a:t>RESULTS (CONTD.)</a:t>
            </a:r>
          </a:p>
        </p:txBody>
      </p:sp>
      <p:pic>
        <p:nvPicPr>
          <p:cNvPr id="32" name="Picture 31" descr="img_fig_leaderboard.jpg"/>
          <p:cNvPicPr>
            <a:picLocks noChangeAspect="1"/>
          </p:cNvPicPr>
          <p:nvPr/>
        </p:nvPicPr>
        <p:blipFill>
          <a:blip r:embed="rId5"/>
          <a:stretch>
            <a:fillRect/>
          </a:stretch>
        </p:blipFill>
        <p:spPr>
          <a:xfrm>
            <a:off x="700000" y="1500000"/>
            <a:ext cx="4338565" cy="4300000"/>
          </a:xfrm>
          <a:prstGeom prst="rect">
            <a:avLst/>
          </a:prstGeom>
          <a:ln w="9525">
            <a:solidFill>
              <a:srgbClr val="BFBFBF"/>
            </a:solidFill>
          </a:ln>
        </p:spPr>
      </p:pic>
      <p:pic>
        <p:nvPicPr>
          <p:cNvPr id="33" name="Picture 32" descr="img_fig_blind_screening.jpg"/>
          <p:cNvPicPr>
            <a:picLocks noChangeAspect="1"/>
          </p:cNvPicPr>
          <p:nvPr/>
        </p:nvPicPr>
        <p:blipFill>
          <a:blip r:embed="rId6"/>
          <a:stretch>
            <a:fillRect/>
          </a:stretch>
        </p:blipFill>
        <p:spPr>
          <a:xfrm>
            <a:off x="5438565" y="1500000"/>
            <a:ext cx="3325571" cy="4300000"/>
          </a:xfrm>
          <a:prstGeom prst="rect">
            <a:avLst/>
          </a:prstGeom>
          <a:ln w="9525">
            <a:solidFill>
              <a:srgbClr val="BFBFBF"/>
            </a:solidFill>
          </a:ln>
        </p:spPr>
      </p:pic>
      <p:sp>
        <p:nvSpPr>
          <p:cNvPr id="34" name="TextBox 33"/>
          <p:cNvSpPr txBox="1"/>
          <p:nvPr/>
        </p:nvSpPr>
        <p:spPr>
          <a:xfrm>
            <a:off x="700000" y="5850000"/>
            <a:ext cx="4338565" cy="330000"/>
          </a:xfrm>
          <a:prstGeom prst="rect">
            <a:avLst/>
          </a:prstGeom>
          <a:noFill/>
        </p:spPr>
        <p:txBody>
          <a:bodyPr wrap="square" lIns="60000" tIns="30000" rIns="60000" bIns="30000" anchor="t">
            <a:spAutoFit/>
          </a:bodyPr>
          <a:lstStyle/>
          <a:p>
            <a:pPr algn="ctr">
              <a:lnSpc>
                <a:spcPct val="115000"/>
              </a:lnSpc>
              <a:spcAft>
                <a:spcPts val="600"/>
              </a:spcAft>
            </a:pPr>
            <a:r>
              <a:rPr sz="1400" b="0">
                <a:solidFill>
                  <a:srgbClr val="595959"/>
                </a:solidFill>
                <a:latin typeface="Times New Roman"/>
              </a:rPr>
              <a:t>(a) Leaderboard with verified evidence</a:t>
            </a:r>
          </a:p>
        </p:txBody>
      </p:sp>
      <p:sp>
        <p:nvSpPr>
          <p:cNvPr id="35" name="TextBox 34"/>
          <p:cNvSpPr txBox="1"/>
          <p:nvPr/>
        </p:nvSpPr>
        <p:spPr>
          <a:xfrm>
            <a:off x="5438565" y="5850000"/>
            <a:ext cx="3325571" cy="330000"/>
          </a:xfrm>
          <a:prstGeom prst="rect">
            <a:avLst/>
          </a:prstGeom>
          <a:noFill/>
        </p:spPr>
        <p:txBody>
          <a:bodyPr wrap="square" lIns="60000" tIns="30000" rIns="60000" bIns="30000" anchor="t">
            <a:spAutoFit/>
          </a:bodyPr>
          <a:lstStyle/>
          <a:p>
            <a:pPr algn="ctr">
              <a:lnSpc>
                <a:spcPct val="115000"/>
              </a:lnSpc>
              <a:spcAft>
                <a:spcPts val="600"/>
              </a:spcAft>
            </a:pPr>
            <a:r>
              <a:rPr sz="1400" b="0">
                <a:solidFill>
                  <a:srgbClr val="595959"/>
                </a:solidFill>
                <a:latin typeface="Times New Roman"/>
              </a:rPr>
              <a:t>(b) Blind screening on: identities hidden</a:t>
            </a:r>
          </a:p>
        </p:txBody>
      </p:sp>
    </p:spTree>
    <p:extLst>
      <p:ext uri="{BB962C8B-B14F-4D97-AF65-F5344CB8AC3E}">
        <p14:creationId xmlns:p14="http://schemas.microsoft.com/office/powerpoint/2010/main" val="2915470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DA74F-E32B-3897-E07B-78BE28246F49}"/>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F98D7D66-A49B-2F96-518C-F83A485A8AB5}"/>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2FA13F83-FB3C-0185-FA1D-C7C9CC055B32}"/>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3DC15FB3-F13A-08DF-8E44-5AF5DCBA04F8}"/>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5CAF1612-4A33-BF6B-8305-495A13DB5777}"/>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ECD96C2D-2D74-E46F-774A-E81393E9D5EC}"/>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DA42C77-A6CB-A07F-E212-482D0090B29E}"/>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0813E838-DE8F-28F2-A5FD-98D362E2C593}"/>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3908080F-2F90-654E-309C-886043A662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1" name="Title"/>
          <p:cNvSpPr txBox="1"/>
          <p:nvPr/>
        </p:nvSpPr>
        <p:spPr>
          <a:xfrm>
            <a:off x="264816" y="1000000"/>
            <a:ext cx="9000000" cy="523220"/>
          </a:xfrm>
          <a:prstGeom prst="rect">
            <a:avLst/>
          </a:prstGeom>
          <a:noFill/>
        </p:spPr>
        <p:txBody>
          <a:bodyPr wrap="square" lIns="60000" tIns="30000" rIns="60000" bIns="30000" anchor="t">
            <a:spAutoFit/>
          </a:bodyPr>
          <a:lstStyle/>
          <a:p>
            <a:pPr algn="l">
              <a:lnSpc>
                <a:spcPct val="115000"/>
              </a:lnSpc>
              <a:spcAft>
                <a:spcPts val="600"/>
              </a:spcAft>
            </a:pPr>
            <a:r>
              <a:rPr sz="2800" b="1">
                <a:solidFill>
                  <a:srgbClr val="000000"/>
                </a:solidFill>
                <a:latin typeface="Times New Roman"/>
              </a:rPr>
              <a:t>RECRUITER COPILOT</a:t>
            </a:r>
          </a:p>
        </p:txBody>
      </p:sp>
      <p:pic>
        <p:nvPicPr>
          <p:cNvPr id="32" name="Picture 31" descr="img_chat_flags.jpg"/>
          <p:cNvPicPr>
            <a:picLocks noChangeAspect="1"/>
          </p:cNvPicPr>
          <p:nvPr/>
        </p:nvPicPr>
        <p:blipFill>
          <a:blip r:embed="rId5"/>
          <a:stretch>
            <a:fillRect/>
          </a:stretch>
        </p:blipFill>
        <p:spPr>
          <a:xfrm>
            <a:off x="246615" y="1500000"/>
            <a:ext cx="5749385" cy="3900000"/>
          </a:xfrm>
          <a:prstGeom prst="rect">
            <a:avLst/>
          </a:prstGeom>
          <a:ln w="9525">
            <a:solidFill>
              <a:srgbClr val="BFBFBF"/>
            </a:solidFill>
          </a:ln>
        </p:spPr>
      </p:pic>
      <p:pic>
        <p:nvPicPr>
          <p:cNvPr id="33" name="Picture 32" descr="img_chat_followup.jpg"/>
          <p:cNvPicPr>
            <a:picLocks noChangeAspect="1"/>
          </p:cNvPicPr>
          <p:nvPr/>
        </p:nvPicPr>
        <p:blipFill>
          <a:blip r:embed="rId6"/>
          <a:stretch>
            <a:fillRect/>
          </a:stretch>
        </p:blipFill>
        <p:spPr>
          <a:xfrm>
            <a:off x="6196000" y="1500000"/>
            <a:ext cx="5749385" cy="3900000"/>
          </a:xfrm>
          <a:prstGeom prst="rect">
            <a:avLst/>
          </a:prstGeom>
          <a:ln w="9525">
            <a:solidFill>
              <a:srgbClr val="BFBFBF"/>
            </a:solidFill>
          </a:ln>
        </p:spPr>
      </p:pic>
      <p:sp>
        <p:nvSpPr>
          <p:cNvPr id="34" name="TextBox 33"/>
          <p:cNvSpPr txBox="1"/>
          <p:nvPr/>
        </p:nvSpPr>
        <p:spPr>
          <a:xfrm>
            <a:off x="300000" y="5460000"/>
            <a:ext cx="11600000" cy="330000"/>
          </a:xfrm>
          <a:prstGeom prst="rect">
            <a:avLst/>
          </a:prstGeom>
          <a:noFill/>
        </p:spPr>
        <p:txBody>
          <a:bodyPr wrap="square" lIns="60000" tIns="30000" rIns="60000" bIns="30000" anchor="t">
            <a:spAutoFit/>
          </a:bodyPr>
          <a:lstStyle/>
          <a:p>
            <a:pPr algn="ctr">
              <a:lnSpc>
                <a:spcPct val="115000"/>
              </a:lnSpc>
              <a:spcAft>
                <a:spcPts val="600"/>
              </a:spcAft>
            </a:pPr>
            <a:r>
              <a:rPr sz="1400" b="0">
                <a:solidFill>
                  <a:srgbClr val="595959"/>
                </a:solidFill>
                <a:latin typeface="Times New Roman"/>
              </a:rPr>
              <a:t>(a) Red-flag audit of the screened pool    (b) Follow-up questions with clickable suggestions</a:t>
            </a:r>
          </a:p>
        </p:txBody>
      </p:sp>
    </p:spTree>
    <p:extLst>
      <p:ext uri="{BB962C8B-B14F-4D97-AF65-F5344CB8AC3E}">
        <p14:creationId xmlns:p14="http://schemas.microsoft.com/office/powerpoint/2010/main" val="1718348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F93FE-A991-9996-FF51-6FC7F96DA21C}"/>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E091BC32-79A1-63D4-FAE2-52A04B5B0732}"/>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CF331E95-14C5-56C3-A7F6-1AFCF5FDC1F5}"/>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EAE5F194-0274-1359-C3D0-F328F3667BB8}"/>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D3061978-8899-DE27-A50F-0A5204407ECE}"/>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A80D1916-45B5-50F8-4E2F-E5BB07271706}"/>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6ABF0A97-E0F1-9D97-539C-EF6BA3BD3EFB}"/>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A44B33CF-BB11-36DA-91CA-0D544FC0DA3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AA4D5192-B1B0-4510-C082-1BD9BD6783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1" name="Title"/>
          <p:cNvSpPr txBox="1"/>
          <p:nvPr/>
        </p:nvSpPr>
        <p:spPr>
          <a:xfrm>
            <a:off x="264816" y="1000000"/>
            <a:ext cx="9000000" cy="523220"/>
          </a:xfrm>
          <a:prstGeom prst="rect">
            <a:avLst/>
          </a:prstGeom>
          <a:noFill/>
        </p:spPr>
        <p:txBody>
          <a:bodyPr wrap="square" lIns="60000" tIns="30000" rIns="60000" bIns="30000" anchor="t">
            <a:spAutoFit/>
          </a:bodyPr>
          <a:lstStyle/>
          <a:p>
            <a:pPr algn="l">
              <a:lnSpc>
                <a:spcPct val="115000"/>
              </a:lnSpc>
              <a:spcAft>
                <a:spcPts val="600"/>
              </a:spcAft>
            </a:pPr>
            <a:r>
              <a:rPr sz="2800" b="1">
                <a:solidFill>
                  <a:srgbClr val="000000"/>
                </a:solidFill>
                <a:latin typeface="Times New Roman"/>
              </a:rPr>
              <a:t>SPEED AND ROBUSTNESS</a:t>
            </a:r>
          </a:p>
        </p:txBody>
      </p:sp>
      <p:graphicFrame>
        <p:nvGraphicFramePr>
          <p:cNvPr id="32" name="Chart 31"/>
          <p:cNvGraphicFramePr>
            <a:graphicFrameLocks noGrp="1"/>
          </p:cNvGraphicFramePr>
          <p:nvPr/>
        </p:nvGraphicFramePr>
        <p:xfrm>
          <a:off x="260000" y="1600000"/>
          <a:ext cx="5600000" cy="4600000"/>
        </p:xfrm>
        <a:graphic>
          <a:graphicData uri="http://schemas.openxmlformats.org/drawingml/2006/chart">
            <c:chart xmlns:c="http://schemas.openxmlformats.org/drawingml/2006/chart" xmlns:r="http://schemas.openxmlformats.org/officeDocument/2006/relationships" r:id="rId5"/>
          </a:graphicData>
        </a:graphic>
      </p:graphicFrame>
      <p:sp>
        <p:nvSpPr>
          <p:cNvPr id="33" name="TextBox 32"/>
          <p:cNvSpPr txBox="1"/>
          <p:nvPr/>
        </p:nvSpPr>
        <p:spPr>
          <a:xfrm>
            <a:off x="6100000" y="1650000"/>
            <a:ext cx="5800000" cy="4600000"/>
          </a:xfrm>
          <a:prstGeom prst="rect">
            <a:avLst/>
          </a:prstGeom>
          <a:noFill/>
        </p:spPr>
        <p:txBody>
          <a:bodyPr wrap="square" lIns="60000" tIns="30000" rIns="60000" bIns="30000" anchor="t">
            <a:spAutoFit/>
          </a:bodyPr>
          <a:lstStyle/>
          <a:p>
            <a:pPr marL="285750" indent="-285750" algn="l">
              <a:lnSpc>
                <a:spcPct val="115000"/>
              </a:lnSpc>
              <a:spcAft>
                <a:spcPts val="700"/>
              </a:spcAft>
              <a:buFont typeface="Arial"/>
              <a:buChar char="•"/>
            </a:pPr>
            <a:r>
              <a:rPr sz="1500" b="1">
                <a:solidFill>
                  <a:srgbClr val="000000"/>
                </a:solidFill>
                <a:latin typeface="Times New Roman"/>
              </a:rPr>
              <a:t>Fast: </a:t>
            </a:r>
            <a:r>
              <a:rPr sz="1500" b="0">
                <a:solidFill>
                  <a:srgbClr val="000000"/>
                </a:solidFill>
                <a:latin typeface="Times New Roman"/>
              </a:rPr>
              <a:t>about 30 ms per resume end to end, fully offline.</a:t>
            </a:r>
          </a:p>
          <a:p>
            <a:pPr marL="285750" indent="-285750" algn="l">
              <a:lnSpc>
                <a:spcPct val="115000"/>
              </a:lnSpc>
              <a:spcAft>
                <a:spcPts val="700"/>
              </a:spcAft>
              <a:buFont typeface="Arial"/>
              <a:buChar char="•"/>
            </a:pPr>
            <a:r>
              <a:rPr sz="1500" b="1">
                <a:solidFill>
                  <a:srgbClr val="000000"/>
                </a:solidFill>
                <a:latin typeface="Times New Roman"/>
              </a:rPr>
              <a:t>Stable: </a:t>
            </a:r>
            <a:r>
              <a:rPr sz="1500" b="0">
                <a:solidFill>
                  <a:srgbClr val="000000"/>
                </a:solidFill>
                <a:latin typeface="Times New Roman"/>
              </a:rPr>
              <a:t>over 200 random changes to the scoring weights, the top candidate stayed first in every run and the average rank correlation was 0.97.</a:t>
            </a:r>
          </a:p>
          <a:p>
            <a:pPr marL="285750" indent="-285750" algn="l">
              <a:lnSpc>
                <a:spcPct val="115000"/>
              </a:lnSpc>
              <a:spcAft>
                <a:spcPts val="700"/>
              </a:spcAft>
              <a:buFont typeface="Arial"/>
              <a:buChar char="•"/>
            </a:pPr>
            <a:r>
              <a:rPr sz="1500" b="1">
                <a:solidFill>
                  <a:srgbClr val="000000"/>
                </a:solidFill>
                <a:latin typeface="Times New Roman"/>
              </a:rPr>
              <a:t>Fair: </a:t>
            </a:r>
            <a:r>
              <a:rPr sz="1500" b="0">
                <a:solidFill>
                  <a:srgbClr val="000000"/>
                </a:solidFill>
                <a:latin typeface="Times New Roman"/>
              </a:rPr>
              <a:t>swapping names changed no score, in plain or blind mode.</a:t>
            </a:r>
          </a:p>
          <a:p>
            <a:pPr marL="285750" indent="-285750" algn="l">
              <a:lnSpc>
                <a:spcPct val="115000"/>
              </a:lnSpc>
              <a:spcAft>
                <a:spcPts val="700"/>
              </a:spcAft>
              <a:buFont typeface="Arial"/>
              <a:buChar char="•"/>
            </a:pPr>
            <a:r>
              <a:rPr sz="1500" b="1">
                <a:solidFill>
                  <a:srgbClr val="000000"/>
                </a:solidFill>
                <a:latin typeface="Times New Roman"/>
              </a:rPr>
              <a:t>Evidence matters: </a:t>
            </a:r>
            <a:r>
              <a:rPr sz="1500" b="0">
                <a:solidFill>
                  <a:srgbClr val="000000"/>
                </a:solidFill>
                <a:latin typeface="Times New Roman"/>
              </a:rPr>
              <a:t>removing evidence weighting turned two REJECT verdicts into LEAN HIRE.</a:t>
            </a:r>
          </a:p>
          <a:p>
            <a:pPr marL="285750" indent="-285750" algn="l">
              <a:lnSpc>
                <a:spcPct val="115000"/>
              </a:lnSpc>
              <a:spcAft>
                <a:spcPts val="700"/>
              </a:spcAft>
              <a:buFont typeface="Arial"/>
              <a:buChar char="•"/>
            </a:pPr>
            <a:r>
              <a:rPr sz="1500" b="1">
                <a:solidFill>
                  <a:srgbClr val="000000"/>
                </a:solidFill>
                <a:latin typeface="Times New Roman"/>
              </a:rPr>
              <a:t>Different from Phase 1: </a:t>
            </a:r>
            <a:r>
              <a:rPr sz="1500" b="0">
                <a:solidFill>
                  <a:srgbClr val="000000"/>
                </a:solidFill>
                <a:latin typeface="Times New Roman"/>
              </a:rPr>
              <a:t>rank correlation with the keyword baseline is only 0.67, so the ranking really changed.</a:t>
            </a:r>
          </a:p>
        </p:txBody>
      </p:sp>
    </p:spTree>
    <p:extLst>
      <p:ext uri="{BB962C8B-B14F-4D97-AF65-F5344CB8AC3E}">
        <p14:creationId xmlns:p14="http://schemas.microsoft.com/office/powerpoint/2010/main" val="40648652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6CB06-0710-787F-4F3A-46B40910DEE7}"/>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A8E9D660-D508-CF8A-74F2-F8B47AEC1D89}"/>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FE6C9229-1402-046E-0747-093949CF72FD}"/>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B36C343C-39B3-AB8E-C361-563468F2AB1D}"/>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3285AAF2-BF74-9885-2635-FF38ABAAC503}"/>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3F0E2EA6-485A-279B-D9F5-C04D2AB06045}"/>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7EFF9B7-0FFF-6AE1-DE9E-6B211544A746}"/>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2D55065C-EF6C-4508-B602-92A0188A1A4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1484CB72-AC30-C9B1-F7F2-E8F8A81CB9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31" name="Title"/>
          <p:cNvSpPr txBox="1"/>
          <p:nvPr/>
        </p:nvSpPr>
        <p:spPr>
          <a:xfrm>
            <a:off x="264816" y="1000000"/>
            <a:ext cx="9000000" cy="523220"/>
          </a:xfrm>
          <a:prstGeom prst="rect">
            <a:avLst/>
          </a:prstGeom>
          <a:noFill/>
        </p:spPr>
        <p:txBody>
          <a:bodyPr wrap="square" lIns="60000" tIns="30000" rIns="60000" bIns="30000" anchor="t">
            <a:spAutoFit/>
          </a:bodyPr>
          <a:lstStyle/>
          <a:p>
            <a:pPr algn="l">
              <a:lnSpc>
                <a:spcPct val="115000"/>
              </a:lnSpc>
              <a:spcAft>
                <a:spcPts val="600"/>
              </a:spcAft>
            </a:pPr>
            <a:r>
              <a:rPr sz="2800" b="1">
                <a:solidFill>
                  <a:srgbClr val="000000"/>
                </a:solidFill>
                <a:latin typeface="Times New Roman"/>
              </a:rPr>
              <a:t>BENCHMARK POOL OF 50 RESUMES</a:t>
            </a:r>
          </a:p>
        </p:txBody>
      </p:sp>
      <p:graphicFrame>
        <p:nvGraphicFramePr>
          <p:cNvPr id="32" name="Chart 31"/>
          <p:cNvGraphicFramePr>
            <a:graphicFrameLocks noGrp="1"/>
          </p:cNvGraphicFramePr>
          <p:nvPr/>
        </p:nvGraphicFramePr>
        <p:xfrm>
          <a:off x="260000" y="1600000"/>
          <a:ext cx="5600000" cy="4600000"/>
        </p:xfrm>
        <a:graphic>
          <a:graphicData uri="http://schemas.openxmlformats.org/drawingml/2006/chart">
            <c:chart xmlns:c="http://schemas.openxmlformats.org/drawingml/2006/chart" xmlns:r="http://schemas.openxmlformats.org/officeDocument/2006/relationships" r:id="rId5"/>
          </a:graphicData>
        </a:graphic>
      </p:graphicFrame>
      <p:sp>
        <p:nvSpPr>
          <p:cNvPr id="33" name="TextBox 32"/>
          <p:cNvSpPr txBox="1"/>
          <p:nvPr/>
        </p:nvSpPr>
        <p:spPr>
          <a:xfrm>
            <a:off x="6100000" y="1650000"/>
            <a:ext cx="5800000" cy="4600000"/>
          </a:xfrm>
          <a:prstGeom prst="rect">
            <a:avLst/>
          </a:prstGeom>
          <a:noFill/>
        </p:spPr>
        <p:txBody>
          <a:bodyPr wrap="square" lIns="60000" tIns="30000" rIns="60000" bIns="30000" anchor="t">
            <a:spAutoFit/>
          </a:bodyPr>
          <a:lstStyle/>
          <a:p>
            <a:pPr marL="285750" indent="-285750" algn="l">
              <a:lnSpc>
                <a:spcPct val="115000"/>
              </a:lnSpc>
              <a:spcAft>
                <a:spcPts val="800"/>
              </a:spcAft>
              <a:buFont typeface="Arial"/>
              <a:buChar char="•"/>
            </a:pPr>
            <a:r>
              <a:rPr sz="1600" b="1">
                <a:solidFill>
                  <a:srgbClr val="000000"/>
                </a:solidFill>
                <a:latin typeface="Times New Roman"/>
              </a:rPr>
              <a:t>50 </a:t>
            </a:r>
            <a:r>
              <a:rPr sz="1600" b="0">
                <a:solidFill>
                  <a:srgbClr val="000000"/>
                </a:solidFill>
                <a:latin typeface="Times New Roman"/>
              </a:rPr>
              <a:t>synthetic resumes of different types were screened for the Senior Machine Learning Engineer role.</a:t>
            </a:r>
          </a:p>
          <a:p>
            <a:pPr marL="285750" indent="-285750" algn="l">
              <a:lnSpc>
                <a:spcPct val="115000"/>
              </a:lnSpc>
              <a:spcAft>
                <a:spcPts val="800"/>
              </a:spcAft>
              <a:buFont typeface="Arial"/>
              <a:buChar char="•"/>
            </a:pPr>
            <a:r>
              <a:rPr sz="1600" b="1">
                <a:solidFill>
                  <a:srgbClr val="000000"/>
                </a:solidFill>
                <a:latin typeface="Times New Roman"/>
              </a:rPr>
              <a:t>Top match: </a:t>
            </a:r>
            <a:r>
              <a:rPr sz="1600" b="0">
                <a:solidFill>
                  <a:srgbClr val="000000"/>
                </a:solidFill>
                <a:latin typeface="Times New Roman"/>
              </a:rPr>
              <a:t>93.2%, the gold-standard Data Platform Engineer with zero red flags.</a:t>
            </a:r>
          </a:p>
          <a:p>
            <a:pPr marL="285750" indent="-285750" algn="l">
              <a:lnSpc>
                <a:spcPct val="115000"/>
              </a:lnSpc>
              <a:spcAft>
                <a:spcPts val="800"/>
              </a:spcAft>
              <a:buFont typeface="Arial"/>
              <a:buChar char="•"/>
            </a:pPr>
            <a:r>
              <a:rPr sz="1600" b="1">
                <a:solidFill>
                  <a:srgbClr val="000000"/>
                </a:solidFill>
                <a:latin typeface="Times New Roman"/>
              </a:rPr>
              <a:t>Average match: </a:t>
            </a:r>
            <a:r>
              <a:rPr sz="1600" b="0">
                <a:solidFill>
                  <a:srgbClr val="000000"/>
                </a:solidFill>
                <a:latin typeface="Times New Roman"/>
              </a:rPr>
              <a:t>56.9% across the pool.</a:t>
            </a:r>
          </a:p>
          <a:p>
            <a:pPr marL="285750" indent="-285750" algn="l">
              <a:lnSpc>
                <a:spcPct val="115000"/>
              </a:lnSpc>
              <a:spcAft>
                <a:spcPts val="800"/>
              </a:spcAft>
              <a:buFont typeface="Arial"/>
              <a:buChar char="•"/>
            </a:pPr>
            <a:r>
              <a:rPr sz="1600" b="1">
                <a:solidFill>
                  <a:srgbClr val="000000"/>
                </a:solidFill>
                <a:latin typeface="Times New Roman"/>
              </a:rPr>
              <a:t>Verdicts: </a:t>
            </a:r>
            <a:r>
              <a:rPr sz="1600" b="0">
                <a:solidFill>
                  <a:srgbClr val="000000"/>
                </a:solidFill>
                <a:latin typeface="Times New Roman"/>
              </a:rPr>
              <a:t>10 Strong Hire, 10 Lean Hire and 30 Reject; 30 resumes carried at least one red flag.</a:t>
            </a:r>
          </a:p>
        </p:txBody>
      </p:sp>
    </p:spTree>
    <p:extLst>
      <p:ext uri="{BB962C8B-B14F-4D97-AF65-F5344CB8AC3E}">
        <p14:creationId xmlns:p14="http://schemas.microsoft.com/office/powerpoint/2010/main" val="2315144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829BF-2D4C-1A0C-BD3A-FEC2E4BB58FD}"/>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B1A764E5-D911-C5EC-3424-DCDD731E14AA}"/>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2C852B47-E7A6-5EF6-2190-BB284BF36DA7}"/>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2BC104DD-3136-956C-5B10-CCD0B4880CDC}"/>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40941C7-94FD-BAF3-0D44-B643A6DF0CE4}"/>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1CC5029B-0EDC-1924-F590-921C16587A93}"/>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481BA97B-66DF-ACCE-E0B9-64B7EE14CC1F}"/>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DB18614C-068D-8342-08F7-80A2072773A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19136AE5-99BC-E91C-5A70-FEFBCFC07A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CA8BDB92-CCFF-0900-5818-A4077CF725B1}"/>
              </a:ext>
            </a:extLst>
          </p:cNvPr>
          <p:cNvSpPr txBox="1"/>
          <p:nvPr/>
        </p:nvSpPr>
        <p:spPr>
          <a:xfrm>
            <a:off x="132408" y="988982"/>
            <a:ext cx="11119030" cy="5162054"/>
          </a:xfrm>
          <a:prstGeom prst="rect">
            <a:avLst/>
          </a:prstGeom>
          <a:noFill/>
        </p:spPr>
        <p:txBody>
          <a:bodyPr wrap="square">
            <a:spAutoFit/>
          </a:bodyPr>
          <a:lstStyle/>
          <a:p>
            <a:pPr marL="270510" marR="250190" algn="just">
              <a:lnSpc>
                <a:spcPct val="150000"/>
              </a:lnSpc>
              <a:spcBef>
                <a:spcPts val="1190"/>
              </a:spcBef>
              <a:buNone/>
            </a:pPr>
            <a:r>
              <a:rPr lang="en-US" sz="2800" b="1" dirty="0">
                <a:effectLst/>
                <a:latin typeface="Times New Roman" panose="02020603050405020304" pitchFamily="18" charset="0"/>
                <a:ea typeface="Times New Roman" panose="02020603050405020304" pitchFamily="18" charset="0"/>
              </a:rPr>
              <a:t>CONCLUSION</a:t>
            </a:r>
          </a:p>
          <a:p>
            <a:pPr marL="270510" marR="250190" algn="just">
              <a:lnSpc>
                <a:spcPct val="150000"/>
              </a:lnSpc>
              <a:spcBef>
                <a:spcPts val="1190"/>
              </a:spcBef>
              <a:buNone/>
            </a:pPr>
            <a:r>
              <a:rPr lang="en-US" sz="1600" dirty="0">
                <a:effectLst/>
                <a:latin typeface="Times New Roman" panose="02020603050405020304" pitchFamily="18" charset="0"/>
                <a:ea typeface="Times New Roman" panose="02020603050405020304" pitchFamily="18" charset="0"/>
              </a:rPr>
              <a:t>The AI-Powered Intelligent Recruitment System shows that resume screening can be fast, explainable and fair at the same time. It ranks candidates on seven weighted signals instead of simple keyword counts, understands related skills through a skill ontology, and hides identity details through blind screening before anyone is scored.</a:t>
            </a:r>
            <a:endParaRPr lang="en-IN" sz="1700" dirty="0">
              <a:effectLst/>
              <a:latin typeface="Times New Roman" panose="02020603050405020304" pitchFamily="18" charset="0"/>
              <a:ea typeface="Times New Roman" panose="02020603050405020304" pitchFamily="18" charset="0"/>
            </a:endParaRPr>
          </a:p>
          <a:p>
            <a:pPr marL="270510" marR="250190" algn="just">
              <a:lnSpc>
                <a:spcPct val="150000"/>
              </a:lnSpc>
              <a:spcBef>
                <a:spcPts val="1190"/>
              </a:spcBef>
              <a:buNone/>
            </a:pPr>
            <a:r>
              <a:rPr lang="en-US" sz="1600" dirty="0">
                <a:effectLst/>
                <a:latin typeface="Times New Roman" panose="02020603050405020304" pitchFamily="18" charset="0"/>
                <a:ea typeface="Times New Roman" panose="02020603050405020304" pitchFamily="18" charset="0"/>
              </a:rPr>
              <a:t>Every decision comes with a verdict, red flags and a reason, so recruiters can justify it. In testing, the system placed the strong candidate first and rejected resumes with inflated or badly formatted content, while processing each resume in about 30 milliseconds. Changing a candidate's name did not change any score. The system is also deployed as a multi-user web service with server-side authentication and a managed database.</a:t>
            </a:r>
            <a:endParaRPr lang="en-IN" sz="1700" dirty="0">
              <a:effectLst/>
              <a:latin typeface="Times New Roman" panose="02020603050405020304" pitchFamily="18" charset="0"/>
              <a:ea typeface="Times New Roman" panose="02020603050405020304" pitchFamily="18" charset="0"/>
            </a:endParaRPr>
          </a:p>
          <a:p>
            <a:pPr marL="270510" marR="250190" algn="just">
              <a:lnSpc>
                <a:spcPct val="150000"/>
              </a:lnSpc>
              <a:spcBef>
                <a:spcPts val="1190"/>
              </a:spcBef>
              <a:buNone/>
            </a:pPr>
            <a:r>
              <a:rPr lang="en-US" sz="1600" dirty="0">
                <a:effectLst/>
                <a:latin typeface="Times New Roman" panose="02020603050405020304" pitchFamily="18" charset="0"/>
                <a:ea typeface="Times New Roman" panose="02020603050405020304" pitchFamily="18" charset="0"/>
              </a:rPr>
              <a:t>Overall, the project shows that explainable AI can make hiring more transparent, consistent and trustworthy.</a:t>
            </a:r>
            <a:endParaRPr lang="en-IN" sz="17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55306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2">
            <a:extLst>
              <a:ext uri="{FF2B5EF4-FFF2-40B4-BE49-F238E27FC236}">
                <a16:creationId xmlns:a16="http://schemas.microsoft.com/office/drawing/2014/main" id="{C2A77CD9-6D01-A8DB-C66D-BF03B69941D6}"/>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78297845-B487-3D71-6C3A-180D740BEF2A}"/>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95BF16DE-C2ED-E5FA-FED5-20411081BC54}"/>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67C11B58-EB3F-0722-64C6-6988DC42213F}"/>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4" name="TextBox 13">
            <a:extLst>
              <a:ext uri="{FF2B5EF4-FFF2-40B4-BE49-F238E27FC236}">
                <a16:creationId xmlns:a16="http://schemas.microsoft.com/office/drawing/2014/main" id="{97A57BB6-31D4-6EC3-CD80-CEB556713C89}"/>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3" name="TextBox 2">
            <a:extLst>
              <a:ext uri="{FF2B5EF4-FFF2-40B4-BE49-F238E27FC236}">
                <a16:creationId xmlns:a16="http://schemas.microsoft.com/office/drawing/2014/main" id="{3847C03B-FD70-AFE8-D9B6-B824A377C534}"/>
              </a:ext>
            </a:extLst>
          </p:cNvPr>
          <p:cNvSpPr txBox="1"/>
          <p:nvPr/>
        </p:nvSpPr>
        <p:spPr>
          <a:xfrm>
            <a:off x="256032" y="1162521"/>
            <a:ext cx="614516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FUTURE SCOPE</a:t>
            </a:r>
            <a:endParaRPr lang="en-IN" sz="2800" b="1" dirty="0"/>
          </a:p>
        </p:txBody>
      </p:sp>
      <p:sp>
        <p:nvSpPr>
          <p:cNvPr id="4" name="TextBox 3">
            <a:extLst>
              <a:ext uri="{FF2B5EF4-FFF2-40B4-BE49-F238E27FC236}">
                <a16:creationId xmlns:a16="http://schemas.microsoft.com/office/drawing/2014/main" id="{8DE737A7-8AF8-09F2-83FD-0D15C6274BF2}"/>
              </a:ext>
            </a:extLst>
          </p:cNvPr>
          <p:cNvSpPr txBox="1"/>
          <p:nvPr/>
        </p:nvSpPr>
        <p:spPr>
          <a:xfrm>
            <a:off x="612568" y="1822266"/>
            <a:ext cx="10800000" cy="2671309"/>
          </a:xfrm>
          <a:prstGeom prst="rect">
            <a:avLst/>
          </a:prstGeom>
          <a:noFill/>
        </p:spPr>
        <p:txBody>
          <a:bodyPr wrap="square" rtlCol="0">
            <a:spAutoFit/>
          </a:bodyPr>
          <a:lstStyle/>
          <a:p>
            <a:pPr marL="457200" indent="-457200" algn="just">
              <a:lnSpc>
                <a:spcPct val="150000"/>
              </a:lnSpc>
              <a:buFont typeface="+mj-lt"/>
              <a:buAutoNum type="arabicPeriod"/>
            </a:pPr>
            <a:r>
              <a:rPr lang="en-IN" sz="2200" dirty="0">
                <a:latin typeface="Times New Roman" panose="02020603050405020304" pitchFamily="18" charset="0"/>
                <a:cs typeface="Times New Roman" panose="02020603050405020304" pitchFamily="18" charset="0"/>
              </a:rPr>
              <a:t>The deployed system can be extended with role-based access, candidate consent and data-retention controls, and a stored screening history for each account.</a:t>
            </a:r>
          </a:p>
          <a:p>
            <a:pPr marL="457200" indent="-457200" algn="just">
              <a:lnSpc>
                <a:spcPct val="150000"/>
              </a:lnSpc>
              <a:buFont typeface="+mj-lt"/>
              <a:buAutoNum type="arabicPeriod"/>
            </a:pPr>
            <a:r>
              <a:rPr lang="en-IN" sz="2200" dirty="0">
                <a:latin typeface="Times New Roman" panose="02020603050405020304" pitchFamily="18" charset="0"/>
                <a:cs typeface="Times New Roman" panose="02020603050405020304" pitchFamily="18" charset="0"/>
              </a:rPr>
              <a:t>A larger set of labelled real hiring data can be used to validate and tune the scoring weights, and the evidence checks can be extended to LinkedIn, portfolios and resumes in more languages.</a:t>
            </a:r>
          </a:p>
          <a:p>
            <a:pPr marL="457200" indent="-457200" algn="just">
              <a:lnSpc>
                <a:spcPct val="150000"/>
              </a:lnSpc>
              <a:buFont typeface="+mj-lt"/>
              <a:buAutoNum type="arabicPeriod"/>
            </a:pPr>
            <a:r>
              <a:rPr lang="en-IN" sz="2200" dirty="0">
                <a:latin typeface="Times New Roman" panose="02020603050405020304" pitchFamily="18" charset="0"/>
                <a:cs typeface="Times New Roman" panose="02020603050405020304" pitchFamily="18" charset="0"/>
              </a:rPr>
              <a:t>Email and ATS integrations and a load test would prepare it for production use.</a:t>
            </a:r>
          </a:p>
        </p:txBody>
      </p:sp>
    </p:spTree>
    <p:extLst>
      <p:ext uri="{BB962C8B-B14F-4D97-AF65-F5344CB8AC3E}">
        <p14:creationId xmlns:p14="http://schemas.microsoft.com/office/powerpoint/2010/main" val="2499517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91578-F4EE-E0E8-2838-B509A23927B8}"/>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4C57980F-72A3-0451-EC4D-190BD8406AE1}"/>
              </a:ext>
            </a:extLst>
          </p:cNvPr>
          <p:cNvGrpSpPr/>
          <p:nvPr/>
        </p:nvGrpSpPr>
        <p:grpSpPr>
          <a:xfrm>
            <a:off x="0" y="6392367"/>
            <a:ext cx="12192000" cy="546100"/>
            <a:chOff x="0" y="0"/>
            <a:chExt cx="6186311" cy="277095"/>
          </a:xfrm>
          <a:solidFill>
            <a:srgbClr val="FFC000"/>
          </a:solidFill>
        </p:grpSpPr>
        <p:sp>
          <p:nvSpPr>
            <p:cNvPr id="20" name="Freeform 3">
              <a:extLst>
                <a:ext uri="{FF2B5EF4-FFF2-40B4-BE49-F238E27FC236}">
                  <a16:creationId xmlns:a16="http://schemas.microsoft.com/office/drawing/2014/main" id="{2987241D-E4C5-8AD5-55D0-AE4FF473C41E}"/>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6E9E1981-A832-DD94-0CED-55EE03CC4FFC}"/>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5587D45-E24F-ECAF-2D86-3ADCB4791295}"/>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1257935" cy="955522"/>
          </a:xfrm>
          <a:prstGeom prst="rect">
            <a:avLst/>
          </a:prstGeom>
        </p:spPr>
      </p:pic>
      <p:sp>
        <p:nvSpPr>
          <p:cNvPr id="14" name="Content Placeholder 3">
            <a:extLst>
              <a:ext uri="{FF2B5EF4-FFF2-40B4-BE49-F238E27FC236}">
                <a16:creationId xmlns:a16="http://schemas.microsoft.com/office/drawing/2014/main" id="{226A7A8A-7C60-2A4A-A780-6DB8B7BB419C}"/>
              </a:ext>
            </a:extLst>
          </p:cNvPr>
          <p:cNvSpPr txBox="1">
            <a:spLocks/>
          </p:cNvSpPr>
          <p:nvPr/>
        </p:nvSpPr>
        <p:spPr>
          <a:xfrm>
            <a:off x="123825" y="1026160"/>
            <a:ext cx="11383645" cy="50444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D8F4C3E-0557-599B-37FF-F0DD52458AE8}"/>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
        <p:nvSpPr>
          <p:cNvPr id="4" name="Rectangle 3">
            <a:extLst>
              <a:ext uri="{FF2B5EF4-FFF2-40B4-BE49-F238E27FC236}">
                <a16:creationId xmlns:a16="http://schemas.microsoft.com/office/drawing/2014/main" id="{AD5C73FC-39EF-46B1-B3A5-39A4472ABB07}"/>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53666261-A3B3-15D4-787C-141CA86573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11383" y="58917"/>
            <a:ext cx="720000" cy="720000"/>
          </a:xfrm>
          <a:prstGeom prst="rect">
            <a:avLst/>
          </a:prstGeom>
        </p:spPr>
      </p:pic>
      <p:sp>
        <p:nvSpPr>
          <p:cNvPr id="5" name="TextBox 4">
            <a:extLst>
              <a:ext uri="{FF2B5EF4-FFF2-40B4-BE49-F238E27FC236}">
                <a16:creationId xmlns:a16="http://schemas.microsoft.com/office/drawing/2014/main" id="{D998DA60-9349-DB2A-8FCF-E4F843A13974}"/>
              </a:ext>
            </a:extLst>
          </p:cNvPr>
          <p:cNvSpPr txBox="1"/>
          <p:nvPr/>
        </p:nvSpPr>
        <p:spPr>
          <a:xfrm>
            <a:off x="339213" y="999957"/>
            <a:ext cx="614516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REFERENCES</a:t>
            </a:r>
            <a:endParaRPr lang="en-IN" sz="2800" b="1" dirty="0"/>
          </a:p>
        </p:txBody>
      </p:sp>
      <p:sp>
        <p:nvSpPr>
          <p:cNvPr id="7" name="TextBox 6">
            <a:extLst>
              <a:ext uri="{FF2B5EF4-FFF2-40B4-BE49-F238E27FC236}">
                <a16:creationId xmlns:a16="http://schemas.microsoft.com/office/drawing/2014/main" id="{0C762C12-DAF2-EA29-62A2-F7F406E68A13}"/>
              </a:ext>
            </a:extLst>
          </p:cNvPr>
          <p:cNvSpPr txBox="1"/>
          <p:nvPr/>
        </p:nvSpPr>
        <p:spPr>
          <a:xfrm>
            <a:off x="500000" y="1400000"/>
            <a:ext cx="11200000" cy="4174091"/>
          </a:xfrm>
          <a:prstGeom prst="rect">
            <a:avLst/>
          </a:prstGeom>
          <a:noFill/>
        </p:spPr>
        <p:txBody>
          <a:bodyPr wrap="square">
            <a:spAutoFit/>
          </a:bodyPr>
          <a:lstStyle/>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[1] M. Zehlike, "FA*IR: A fair top-k ranking algorithm," ACM CIKM, 2017.</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[2] C. Qin, "Enhancing person-job fit for talent recruitment: An ability-aware neural network approach," ACM SIGIR, 2018.</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[3] N. Reimers and I. Gurevych, "Sentence-BERT: Sentence embeddings using Siamese BERT-networks," EMNLP-IJCNLP, 2019.</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[4] V. Bhatia, P. Rawat, A. Kumar, and R. R. Shah, "End-to-end resume parsing and finding candidates for a job description using BERT," arXiv:1910.03089, 2019.</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[5] M. Raghavan, S. Barocas, J. Kleinberg, and K. Levy, "Mitigating bias in algorithmic hiring: Evaluating claims and practices," ACM FAT*, 2020.</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[6] C. Qin, "A comprehensive survey of artificial intelligence techniques for talent analytics," arXiv:2307.03195, 2023.</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[7] Y. Du, "Improving factuality and reasoning in language models through multiagent debate," ICML, 2024.</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[8] L. Armstrong, A. Liu, S. MacNeil, and D. Metaxa, "The silicon ceiling: Auditing GPT's race and gender biases in hiring," arXiv:2405.04412, 2024.</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[9] K. Wilson and A. Caliskan, "Gender, race, and intersectional bias in resume screening via language model retrieval," AAAI/ACM AIES, 2024.</a:t>
            </a:r>
          </a:p>
          <a:p>
            <a:pPr marL="114300" indent="0">
              <a:lnSpc>
                <a:spcPct val="105000"/>
              </a:lnSpc>
              <a:spcBef>
                <a:spcPts val="5"/>
              </a:spcBef>
              <a:spcAft>
                <a:spcPts val="400"/>
              </a:spcAft>
              <a:buNone/>
            </a:pPr>
            <a:r>
              <a:rPr lang="en-US" sz="1500" dirty="0">
                <a:solidFill>
                  <a:srgbClr val="191611"/>
                </a:solidFill>
                <a:latin typeface="Times New Roman" panose="02020603050405020304" pitchFamily="18" charset="0"/>
                <a:cs typeface="Times New Roman" panose="02020603050405020304" pitchFamily="18" charset="0"/>
              </a:rPr>
              <a:t>[10] A. Deshmukh and A. R. Dahake, "Comparing BERT and Sentence-BERT for automated resume screening," IAES Int. J. Artif. Intell., vol. 14, no. 4, 2025.</a:t>
            </a:r>
          </a:p>
        </p:txBody>
      </p:sp>
    </p:spTree>
    <p:extLst>
      <p:ext uri="{BB962C8B-B14F-4D97-AF65-F5344CB8AC3E}">
        <p14:creationId xmlns:p14="http://schemas.microsoft.com/office/powerpoint/2010/main" val="3868615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0E2CE-15D5-3B92-75D1-CB3215351698}"/>
            </a:ext>
          </a:extLst>
        </p:cNvPr>
        <p:cNvGrpSpPr/>
        <p:nvPr/>
      </p:nvGrpSpPr>
      <p:grpSpPr>
        <a:xfrm>
          <a:off x="0" y="0"/>
          <a:ext cx="0" cy="0"/>
          <a:chOff x="0" y="0"/>
          <a:chExt cx="0" cy="0"/>
        </a:xfrm>
      </p:grpSpPr>
      <p:grpSp>
        <p:nvGrpSpPr>
          <p:cNvPr id="19" name="Group 2">
            <a:extLst>
              <a:ext uri="{FF2B5EF4-FFF2-40B4-BE49-F238E27FC236}">
                <a16:creationId xmlns:a16="http://schemas.microsoft.com/office/drawing/2014/main" id="{0FCE4464-46BE-231D-6474-18C1CD378C69}"/>
              </a:ext>
            </a:extLst>
          </p:cNvPr>
          <p:cNvGrpSpPr/>
          <p:nvPr/>
        </p:nvGrpSpPr>
        <p:grpSpPr>
          <a:xfrm>
            <a:off x="0" y="6311900"/>
            <a:ext cx="12192000" cy="546100"/>
            <a:chOff x="0" y="0"/>
            <a:chExt cx="6186311" cy="277095"/>
          </a:xfrm>
          <a:solidFill>
            <a:srgbClr val="FFC000"/>
          </a:solidFill>
        </p:grpSpPr>
        <p:sp>
          <p:nvSpPr>
            <p:cNvPr id="20" name="Freeform 3">
              <a:extLst>
                <a:ext uri="{FF2B5EF4-FFF2-40B4-BE49-F238E27FC236}">
                  <a16:creationId xmlns:a16="http://schemas.microsoft.com/office/drawing/2014/main" id="{62F8F72C-58C4-7F70-9CE7-52C106F85DFF}"/>
                </a:ext>
              </a:extLst>
            </p:cNvPr>
            <p:cNvSpPr/>
            <p:nvPr/>
          </p:nvSpPr>
          <p:spPr>
            <a:xfrm>
              <a:off x="0" y="0"/>
              <a:ext cx="6186311" cy="277095"/>
            </a:xfrm>
            <a:custGeom>
              <a:avLst/>
              <a:gdLst/>
              <a:ahLst/>
              <a:cxnLst/>
              <a:rect l="l" t="t" r="r" b="b"/>
              <a:pathLst>
                <a:path w="6186311" h="277095">
                  <a:moveTo>
                    <a:pt x="0" y="0"/>
                  </a:moveTo>
                  <a:lnTo>
                    <a:pt x="6186311" y="0"/>
                  </a:lnTo>
                  <a:lnTo>
                    <a:pt x="6186311" y="277095"/>
                  </a:lnTo>
                  <a:lnTo>
                    <a:pt x="0" y="277095"/>
                  </a:lnTo>
                  <a:close/>
                </a:path>
              </a:pathLst>
            </a:custGeom>
            <a:grpFill/>
          </p:spPr>
          <p:txBody>
            <a:bodyPr/>
            <a:lstStyle/>
            <a:p>
              <a:endParaRPr lang="en-IN"/>
            </a:p>
          </p:txBody>
        </p:sp>
      </p:grpSp>
      <p:cxnSp>
        <p:nvCxnSpPr>
          <p:cNvPr id="24" name="Straight Connector 23">
            <a:extLst>
              <a:ext uri="{FF2B5EF4-FFF2-40B4-BE49-F238E27FC236}">
                <a16:creationId xmlns:a16="http://schemas.microsoft.com/office/drawing/2014/main" id="{FB2D1C61-F25B-CC0C-AAB6-ACFD7EE4ADD0}"/>
              </a:ext>
            </a:extLst>
          </p:cNvPr>
          <p:cNvCxnSpPr/>
          <p:nvPr/>
        </p:nvCxnSpPr>
        <p:spPr>
          <a:xfrm>
            <a:off x="0" y="939800"/>
            <a:ext cx="12192000" cy="10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0AD8867D-32DE-9BE3-ED7A-D20032516E6D}"/>
              </a:ext>
            </a:extLst>
          </p:cNvPr>
          <p:cNvPicPr>
            <a:picLocks noChangeAspect="1"/>
          </p:cNvPicPr>
          <p:nvPr/>
        </p:nvPicPr>
        <p:blipFill rotWithShape="1">
          <a:blip r:embed="rId3">
            <a:extLst>
              <a:ext uri="{28A0092B-C50C-407E-A947-70E740481C1C}">
                <a14:useLocalDpi xmlns:a14="http://schemas.microsoft.com/office/drawing/2010/main" val="0"/>
              </a:ext>
            </a:extLst>
          </a:blip>
          <a:srcRect l="1258" t="6458" r="666" b="6557"/>
          <a:stretch/>
        </p:blipFill>
        <p:spPr>
          <a:xfrm>
            <a:off x="0" y="-15722"/>
            <a:ext cx="12192000" cy="955522"/>
          </a:xfrm>
          <a:prstGeom prst="rect">
            <a:avLst/>
          </a:prstGeom>
        </p:spPr>
      </p:pic>
      <p:sp>
        <p:nvSpPr>
          <p:cNvPr id="12" name="TextBox 11">
            <a:extLst>
              <a:ext uri="{FF2B5EF4-FFF2-40B4-BE49-F238E27FC236}">
                <a16:creationId xmlns:a16="http://schemas.microsoft.com/office/drawing/2014/main" id="{EA6F6BC9-423D-A1E7-35A8-8463D26B5F56}"/>
              </a:ext>
            </a:extLst>
          </p:cNvPr>
          <p:cNvSpPr txBox="1"/>
          <p:nvPr/>
        </p:nvSpPr>
        <p:spPr>
          <a:xfrm>
            <a:off x="3457415" y="2327596"/>
            <a:ext cx="5277170" cy="1938992"/>
          </a:xfrm>
          <a:prstGeom prst="rect">
            <a:avLst/>
          </a:prstGeom>
          <a:noFill/>
        </p:spPr>
        <p:txBody>
          <a:bodyPr wrap="square" rtlCol="0">
            <a:spAutoFit/>
          </a:bodyPr>
          <a:lstStyle/>
          <a:p>
            <a:r>
              <a:rPr lang="en-US" sz="6000" b="1" dirty="0">
                <a:latin typeface="Times New Roman" panose="02020603050405020304" pitchFamily="18" charset="0"/>
                <a:cs typeface="Times New Roman" panose="02020603050405020304" pitchFamily="18" charset="0"/>
              </a:rPr>
              <a:t>THANK      </a:t>
            </a:r>
          </a:p>
          <a:p>
            <a:r>
              <a:rPr lang="en-US" sz="6000" b="1" dirty="0">
                <a:latin typeface="Times New Roman" panose="02020603050405020304" pitchFamily="18" charset="0"/>
                <a:cs typeface="Times New Roman" panose="02020603050405020304" pitchFamily="18" charset="0"/>
              </a:rPr>
              <a:t>                YOU!</a:t>
            </a:r>
            <a:endParaRPr lang="en-IN" sz="60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45957646-547A-C9F6-D1B0-140F8D2A3175}"/>
              </a:ext>
            </a:extLst>
          </p:cNvPr>
          <p:cNvSpPr txBox="1"/>
          <p:nvPr/>
        </p:nvSpPr>
        <p:spPr>
          <a:xfrm>
            <a:off x="256032" y="6448425"/>
            <a:ext cx="4396435" cy="369332"/>
          </a:xfrm>
          <a:prstGeom prst="rect">
            <a:avLst/>
          </a:prstGeom>
          <a:noFill/>
        </p:spPr>
        <p:txBody>
          <a:bodyPr wrap="square" rtlCol="0">
            <a:spAutoFit/>
          </a:bodyPr>
          <a:lstStyle/>
          <a:p>
            <a:r>
              <a:rPr lang="en-IN" b="1" dirty="0">
                <a:solidFill>
                  <a:schemeClr val="bg1"/>
                </a:solidFill>
                <a:latin typeface="Times New Roman" panose="02020603050405020304" pitchFamily="18" charset="0"/>
                <a:cs typeface="Times New Roman" panose="02020603050405020304" pitchFamily="18" charset="0"/>
              </a:rPr>
              <a:t>DEPT OF ISE, VKIT</a:t>
            </a:r>
          </a:p>
        </p:txBody>
      </p:sp>
    </p:spTree>
    <p:extLst>
      <p:ext uri="{BB962C8B-B14F-4D97-AF65-F5344CB8AC3E}">
        <p14:creationId xmlns:p14="http://schemas.microsoft.com/office/powerpoint/2010/main" val="2129121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4269</TotalTime>
  <Words>2915</Words>
  <Application>Microsoft Office PowerPoint</Application>
  <PresentationFormat>Widescreen</PresentationFormat>
  <Paragraphs>382</Paragraphs>
  <Slides>27</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Calibri Light</vt:lpstr>
      <vt:lpstr>Lato 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Niharika</dc:creator>
  <cp:lastModifiedBy>sneha K</cp:lastModifiedBy>
  <cp:revision>115</cp:revision>
  <dcterms:created xsi:type="dcterms:W3CDTF">2025-05-12T14:50:28Z</dcterms:created>
  <dcterms:modified xsi:type="dcterms:W3CDTF">2026-10-15T14:22:48Z</dcterms:modified>
</cp:coreProperties>
</file>