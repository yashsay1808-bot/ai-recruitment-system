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media/image11.svg" ContentType="image/svg+xml"/>
  <Override PartName="/ppt/media/image5.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7" r:id="rId3"/>
    <p:sldId id="258" r:id="rId4"/>
    <p:sldId id="259" r:id="rId5"/>
    <p:sldId id="278" r:id="rId6"/>
    <p:sldId id="262" r:id="rId7"/>
    <p:sldId id="297" r:id="rId8"/>
    <p:sldId id="305" r:id="rId9"/>
    <p:sldId id="263" r:id="rId10"/>
    <p:sldId id="310" r:id="rId11"/>
    <p:sldId id="311" r:id="rId12"/>
    <p:sldId id="317" r:id="rId13"/>
    <p:sldId id="318" r:id="rId14"/>
    <p:sldId id="319" r:id="rId15"/>
    <p:sldId id="315" r:id="rId16"/>
    <p:sldId id="316" r:id="rId17"/>
    <p:sldId id="320" r:id="rId18"/>
    <p:sldId id="321" r:id="rId19"/>
    <p:sldId id="312" r:id="rId20"/>
    <p:sldId id="322" r:id="rId21"/>
    <p:sldId id="323" r:id="rId22"/>
    <p:sldId id="325" r:id="rId23"/>
    <p:sldId id="326" r:id="rId24"/>
    <p:sldId id="327" r:id="rId25"/>
    <p:sldId id="328" r:id="rId26"/>
    <p:sldId id="274" r:id="rId27"/>
    <p:sldId id="324" r:id="rId28"/>
    <p:sldId id="329"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48"/>
  </p:normalViewPr>
  <p:slideViewPr>
    <p:cSldViewPr snapToGrid="0">
      <p:cViewPr varScale="1">
        <p:scale>
          <a:sx n="78" d="100"/>
          <a:sy n="78" d="100"/>
        </p:scale>
        <p:origin x="86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t>Weight of each score in the match %</a:t>
            </a:r>
          </a:p>
        </c:rich>
      </c:tx>
      <c:layout/>
      <c:overlay val="0"/>
    </c:title>
    <c:autoTitleDeleted val="0"/>
    <c:plotArea>
      <c:barChart>
        <c:barDir val="col"/>
        <c:grouping val="clustered"/>
        <c:ser>
          <c:idx val="0"/>
          <c:order val="0"/>
          <c:tx>
            <c:strRef>
              <c:f>Sheet1!$B$1</c:f>
              <c:strCache>
                <c:ptCount val="1"/>
                <c:pt idx="0">
                  <c:v>Weight (%)</c:v>
                </c:pt>
              </c:strCache>
            </c:strRef>
          </c:tx>
          <c:spPr>
            <a:solidFill>
              <a:srgbClr val="4472C4"/>
            </a:solidFill>
          </c:spPr>
          <c:cat>
            <c:strRef>
              <c:f>Sheet1!$A$2:$A$8</c:f>
              <c:strCache>
                <c:ptCount val="7"/>
                <c:pt idx="0">
                  <c:v>Skills</c:v>
                </c:pt>
                <c:pt idx="1">
                  <c:v>Semantic JD fit</c:v>
                </c:pt>
                <c:pt idx="2">
                  <c:v>Experience</c:v>
                </c:pt>
                <c:pt idx="3">
                  <c:v>Education</c:v>
                </c:pt>
                <c:pt idx="4">
                  <c:v>Projects</c:v>
                </c:pt>
                <c:pt idx="5">
                  <c:v>Certifications</c:v>
                </c:pt>
                <c:pt idx="6">
                  <c:v>Resume quality</c:v>
                </c:pt>
              </c:strCache>
            </c:strRef>
          </c:cat>
          <c:val>
            <c:numRef>
              <c:f>Sheet1!$B$2:$B$8</c:f>
              <c:numCache>
                <c:formatCode>General</c:formatCode>
                <c:ptCount val="7"/>
                <c:pt idx="0">
                  <c:v>35</c:v>
                </c:pt>
                <c:pt idx="1">
                  <c:v>20</c:v>
                </c:pt>
                <c:pt idx="2">
                  <c:v>15</c:v>
                </c:pt>
                <c:pt idx="3">
                  <c:v>10</c:v>
                </c:pt>
                <c:pt idx="4">
                  <c:v>10</c:v>
                </c:pt>
                <c:pt idx="5">
                  <c:v>5</c:v>
                </c:pt>
                <c:pt idx="6">
                  <c:v>5</c:v>
                </c:pt>
              </c:numCache>
            </c:numRef>
          </c:val>
        </c:ser>
        <c:dLbls>
          <c:numFmt formatCode="0&quot;%&quot;" sourceLinked="0"/>
          <c:txPr>
            <a:bodyPr/>
            <a:lstStyle/>
            <a:p>
              <a:pPr>
                <a:defRPr sz="12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ax val="42.0"/>
        </c:scaling>
        <c:delete/>
        <c:axPos val="l"/>
        <c:majorTickMark val="out"/>
        <c:minorTickMark val="none"/>
        <c:tickLblPos val="nextTo"/>
        <c:crossAx val="-2068027336"/>
        <c:crosses val="autoZero"/>
      </c:valAx>
    </c:plotArea>
    <c:dispBlanksAs val="gap"/>
  </c:chart>
  <c:txPr>
    <a:bodyPr/>
    <a:lstStyle/>
    <a:p>
      <a:pPr>
        <a:defRPr sz="1200">
          <a:latin typeface="Times New Roman"/>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t>Council scores for the gold-standard candidate</a:t>
            </a:r>
          </a:p>
        </c:rich>
      </c:tx>
      <c:layout/>
      <c:overlay val="0"/>
    </c:title>
    <c:autoTitleDeleted val="0"/>
    <c:plotArea>
      <c:barChart>
        <c:barDir val="col"/>
        <c:grouping val="clustered"/>
        <c:ser>
          <c:idx val="0"/>
          <c:order val="0"/>
          <c:tx>
            <c:strRef>
              <c:f>Sheet1!$B$1</c:f>
              <c:strCache>
                <c:ptCount val="1"/>
                <c:pt idx="0">
                  <c:v>Score</c:v>
                </c:pt>
              </c:strCache>
            </c:strRef>
          </c:tx>
          <c:spPr>
            <a:solidFill>
              <a:srgbClr val="4472C4"/>
            </a:solidFill>
          </c:spPr>
          <c:dPt>
            <c:idx val="4"/>
            <c:spPr>
              <a:solidFill>
                <a:srgbClr val="1F3864"/>
              </a:solidFill>
            </c:spPr>
          </c:dPt>
          <c:cat>
            <c:strRef>
              <c:f>Sheet1!$A$2:$A$6</c:f>
              <c:strCache>
                <c:ptCount val="5"/>
                <c:pt idx="0">
                  <c:v>Tech Lead</c:v>
                </c:pt>
                <c:pt idx="1">
                  <c:v>Culture</c:v>
                </c:pt>
                <c:pt idx="2">
                  <c:v>Fair Auditor</c:v>
                </c:pt>
                <c:pt idx="3">
                  <c:v>Seniority</c:v>
                </c:pt>
                <c:pt idx="4">
                  <c:v>Consensus</c:v>
                </c:pt>
              </c:strCache>
            </c:strRef>
          </c:cat>
          <c:val>
            <c:numRef>
              <c:f>Sheet1!$B$2:$B$6</c:f>
              <c:numCache>
                <c:formatCode>General</c:formatCode>
                <c:ptCount val="5"/>
                <c:pt idx="0">
                  <c:v>88.8</c:v>
                </c:pt>
                <c:pt idx="1">
                  <c:v>78.0</c:v>
                </c:pt>
                <c:pt idx="2">
                  <c:v>98.8</c:v>
                </c:pt>
                <c:pt idx="3">
                  <c:v>100.0</c:v>
                </c:pt>
                <c:pt idx="4">
                  <c:v>91.4</c:v>
                </c:pt>
              </c:numCache>
            </c:numRef>
          </c:val>
        </c:ser>
        <c:dLbls>
          <c:numFmt formatCode="0.0" sourceLinked="0"/>
          <c:txPr>
            <a:bodyPr/>
            <a:lstStyle/>
            <a:p>
              <a:pPr>
                <a:defRPr sz="12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max val="115.0"/>
          <c:min val="0.0"/>
        </c:scaling>
        <c:delete/>
        <c:axPos val="l"/>
        <c:majorTickMark val="out"/>
        <c:minorTickMark val="none"/>
        <c:tickLblPos val="nextTo"/>
        <c:crossAx val="-2068027336"/>
        <c:crosses val="autoZero"/>
      </c:valAx>
    </c:plotArea>
    <c:dispBlanksAs val="gap"/>
  </c:chart>
  <c:txPr>
    <a:bodyPr/>
    <a:lstStyle/>
    <a:p>
      <a:pPr>
        <a:defRPr sz="1200">
          <a:latin typeface="Times New Roman"/>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t>Match % for the 12 resumes, in Phase 2 rank order</a:t>
            </a:r>
          </a:p>
        </c:rich>
      </c:tx>
      <c:layout/>
      <c:overlay val="0"/>
    </c:title>
    <c:autoTitleDeleted val="0"/>
    <c:plotArea>
      <c:barChart>
        <c:barDir val="col"/>
        <c:grouping val="clustered"/>
        <c:ser>
          <c:idx val="0"/>
          <c:order val="0"/>
          <c:tx>
            <c:strRef>
              <c:f>Sheet1!$B$1</c:f>
              <c:strCache>
                <c:ptCount val="1"/>
                <c:pt idx="0">
                  <c:v>Phase 1 keyword</c:v>
                </c:pt>
              </c:strCache>
            </c:strRef>
          </c:tx>
          <c:spPr>
            <a:solidFill>
              <a:srgbClr val="A6A6A6"/>
            </a:solidFill>
          </c:spPr>
          <c:cat>
            <c:strRef>
              <c:f>Sheet1!$A$2:$A$13</c:f>
              <c:strCache>
                <c:ptCount val="12"/>
                <c:pt idx="0">
                  <c:v>Gold Std</c:v>
                </c:pt>
                <c:pt idx="1">
                  <c:v>Rahul N.</c:v>
                </c:pt>
                <c:pt idx="2">
                  <c:v>Test 3</c:v>
                </c:pt>
                <c:pt idx="3">
                  <c:v>Sneha K.</c:v>
                </c:pt>
                <c:pt idx="4">
                  <c:v>Vikram S.</c:v>
                </c:pt>
                <c:pt idx="5">
                  <c:v>Kavita M.</c:v>
                </c:pt>
                <c:pt idx="6">
                  <c:v>Aarav S.</c:v>
                </c:pt>
                <c:pt idx="7">
                  <c:v>Ananya R.</c:v>
                </c:pt>
                <c:pt idx="8">
                  <c:v>Priya P.</c:v>
                </c:pt>
                <c:pt idx="9">
                  <c:v>Test 2</c:v>
                </c:pt>
                <c:pt idx="10">
                  <c:v>Test 4</c:v>
                </c:pt>
                <c:pt idx="11">
                  <c:v>Edge case</c:v>
                </c:pt>
              </c:strCache>
            </c:strRef>
          </c:cat>
          <c:val>
            <c:numRef>
              <c:f>Sheet1!$B$2:$B$13</c:f>
              <c:numCache>
                <c:formatCode>General</c:formatCode>
                <c:ptCount val="12"/>
                <c:pt idx="0">
                  <c:v>100.0</c:v>
                </c:pt>
                <c:pt idx="1">
                  <c:v>88.2</c:v>
                </c:pt>
                <c:pt idx="2">
                  <c:v>47.1</c:v>
                </c:pt>
                <c:pt idx="3">
                  <c:v>41.2</c:v>
                </c:pt>
                <c:pt idx="4">
                  <c:v>29.4</c:v>
                </c:pt>
                <c:pt idx="5">
                  <c:v>52.9</c:v>
                </c:pt>
                <c:pt idx="6">
                  <c:v>35.3</c:v>
                </c:pt>
                <c:pt idx="7">
                  <c:v>35.3</c:v>
                </c:pt>
                <c:pt idx="8">
                  <c:v>23.5</c:v>
                </c:pt>
                <c:pt idx="9">
                  <c:v>47.1</c:v>
                </c:pt>
                <c:pt idx="10">
                  <c:v>0.0</c:v>
                </c:pt>
                <c:pt idx="11">
                  <c:v>5.9</c:v>
                </c:pt>
              </c:numCache>
            </c:numRef>
          </c:val>
        </c:ser>
        <c:ser>
          <c:idx val="1"/>
          <c:order val="1"/>
          <c:tx>
            <c:strRef>
              <c:f>Sheet1!$C$1</c:f>
              <c:strCache>
                <c:ptCount val="1"/>
                <c:pt idx="0">
                  <c:v>Phase 2 hybrid</c:v>
                </c:pt>
              </c:strCache>
            </c:strRef>
          </c:tx>
          <c:spPr>
            <a:solidFill>
              <a:srgbClr val="4472C4"/>
            </a:solidFill>
          </c:spPr>
          <c:cat>
            <c:strRef>
              <c:f>Sheet1!$A$2:$A$13</c:f>
              <c:strCache>
                <c:ptCount val="12"/>
                <c:pt idx="0">
                  <c:v>Gold Std</c:v>
                </c:pt>
                <c:pt idx="1">
                  <c:v>Rahul N.</c:v>
                </c:pt>
                <c:pt idx="2">
                  <c:v>Test 3</c:v>
                </c:pt>
                <c:pt idx="3">
                  <c:v>Sneha K.</c:v>
                </c:pt>
                <c:pt idx="4">
                  <c:v>Vikram S.</c:v>
                </c:pt>
                <c:pt idx="5">
                  <c:v>Kavita M.</c:v>
                </c:pt>
                <c:pt idx="6">
                  <c:v>Aarav S.</c:v>
                </c:pt>
                <c:pt idx="7">
                  <c:v>Ananya R.</c:v>
                </c:pt>
                <c:pt idx="8">
                  <c:v>Priya P.</c:v>
                </c:pt>
                <c:pt idx="9">
                  <c:v>Test 2</c:v>
                </c:pt>
                <c:pt idx="10">
                  <c:v>Test 4</c:v>
                </c:pt>
                <c:pt idx="11">
                  <c:v>Edge case</c:v>
                </c:pt>
              </c:strCache>
            </c:strRef>
          </c:cat>
          <c:val>
            <c:numRef>
              <c:f>Sheet1!$C$2:$C$13</c:f>
              <c:numCache>
                <c:formatCode>General</c:formatCode>
                <c:ptCount val="12"/>
                <c:pt idx="0">
                  <c:v>88.1</c:v>
                </c:pt>
                <c:pt idx="1">
                  <c:v>82.3</c:v>
                </c:pt>
                <c:pt idx="2">
                  <c:v>61.3</c:v>
                </c:pt>
                <c:pt idx="3">
                  <c:v>56.0</c:v>
                </c:pt>
                <c:pt idx="4">
                  <c:v>50.1</c:v>
                </c:pt>
                <c:pt idx="5">
                  <c:v>47.4</c:v>
                </c:pt>
                <c:pt idx="6">
                  <c:v>46.1</c:v>
                </c:pt>
                <c:pt idx="7">
                  <c:v>46.1</c:v>
                </c:pt>
                <c:pt idx="8">
                  <c:v>45.3</c:v>
                </c:pt>
                <c:pt idx="9">
                  <c:v>41.6</c:v>
                </c:pt>
                <c:pt idx="10">
                  <c:v>34.0</c:v>
                </c:pt>
                <c:pt idx="11">
                  <c:v>28.3</c:v>
                </c:pt>
              </c:numCache>
            </c:numRef>
          </c:val>
        </c:ser>
        <c:gapWidth val="50"/>
        <c:overlap val="-5"/>
        <c:axId val="-2068027336"/>
        <c:axId val="-2113994440"/>
      </c:barChart>
      <c:catAx>
        <c:axId val="-2068027336"/>
        <c:scaling>
          <c:orientation val="minMax"/>
        </c:scaling>
        <c:delete val="0"/>
        <c:axPos val="b"/>
        <c:majorTickMark val="out"/>
        <c:minorTickMark val="none"/>
        <c:tickLblPos val="nextTo"/>
        <c:txPr>
          <a:bodyPr/>
          <a:lstStyle/>
          <a:p>
            <a:pPr>
              <a:defRPr sz="1000"/>
            </a:pPr>
          </a:p>
        </c:txPr>
        <c:crossAx val="-2113994440"/>
        <c:crosses val="autoZero"/>
        <c:auto val="1"/>
        <c:lblAlgn val="ctr"/>
        <c:lblOffset val="100"/>
        <c:noMultiLvlLbl val="0"/>
      </c:catAx>
      <c:valAx>
        <c:axId val="-2113994440"/>
        <c:scaling>
          <c:max val="100.0"/>
          <c:min val="0.0"/>
        </c:scaling>
        <c:delete val="0"/>
        <c:axPos val="l"/>
        <c:majorGridlines>
          <c:spPr>
            <a:ln>
              <a:solidFill>
                <a:srgbClr val="D9D9D9"/>
              </a:solidFill>
            </a:ln>
          </c:spPr>
        </c:majorGridlines>
        <c:majorTickMark val="out"/>
        <c:minorTickMark val="none"/>
        <c:tickLblPos val="nextTo"/>
        <c:crossAx val="-2068027336"/>
        <c:crosses val="autoZero"/>
      </c:valAx>
    </c:plotArea>
    <c:legend>
      <c:legendPos val="b"/>
      <c:overlay val="0"/>
      <c:txPr>
        <a:bodyPr/>
        <a:lstStyle/>
        <a:p>
          <a:pPr>
            <a:defRPr sz="1200"/>
          </a:pPr>
        </a:p>
      </c:txPr>
    </c:legend>
    <c:dispBlanksAs val="gap"/>
  </c:chart>
  <c:txPr>
    <a:bodyPr/>
    <a:lstStyle/>
    <a:p>
      <a:pPr>
        <a:defRPr sz="1100">
          <a:latin typeface="Times New Roman"/>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t>Processing time per resume (ms)</a:t>
            </a:r>
          </a:p>
        </c:rich>
      </c:tx>
      <c:layout/>
      <c:overlay val="0"/>
    </c:title>
    <c:autoTitleDeleted val="0"/>
    <c:plotArea>
      <c:barChart>
        <c:barDir val="col"/>
        <c:grouping val="clustered"/>
        <c:ser>
          <c:idx val="0"/>
          <c:order val="0"/>
          <c:tx>
            <c:strRef>
              <c:f>Sheet1!$B$1</c:f>
              <c:strCache>
                <c:ptCount val="1"/>
                <c:pt idx="0">
                  <c:v>ms per resume</c:v>
                </c:pt>
              </c:strCache>
            </c:strRef>
          </c:tx>
          <c:spPr>
            <a:solidFill>
              <a:srgbClr val="4472C4"/>
            </a:solidFill>
          </c:spPr>
          <c:cat>
            <c:strRef>
              <c:f>Sheet1!$A$2:$A$5</c:f>
              <c:strCache>
                <c:ptCount val="4"/>
                <c:pt idx="0">
                  <c:v>Parse</c:v>
                </c:pt>
                <c:pt idx="1">
                  <c:v>Rank</c:v>
                </c:pt>
                <c:pt idx="2">
                  <c:v>Council</c:v>
                </c:pt>
                <c:pt idx="3">
                  <c:v>Total</c:v>
                </c:pt>
              </c:strCache>
            </c:strRef>
          </c:cat>
          <c:val>
            <c:numRef>
              <c:f>Sheet1!$B$2:$B$5</c:f>
              <c:numCache>
                <c:formatCode>General</c:formatCode>
                <c:ptCount val="4"/>
                <c:pt idx="0">
                  <c:v>18.0</c:v>
                </c:pt>
                <c:pt idx="1">
                  <c:v>3.8</c:v>
                </c:pt>
                <c:pt idx="2">
                  <c:v>7.8</c:v>
                </c:pt>
                <c:pt idx="3">
                  <c:v>29.6</c:v>
                </c:pt>
              </c:numCache>
            </c:numRef>
          </c:val>
        </c:ser>
        <c:dLbls>
          <c:numFmt formatCode="0.0" sourceLinked="0"/>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max val="36.0"/>
        </c:scaling>
        <c:delete/>
        <c:axPos val="l"/>
        <c:majorTickMark val="out"/>
        <c:minorTickMark val="none"/>
        <c:tickLblPos val="nextTo"/>
        <c:crossAx val="-2068027336"/>
        <c:crosses val="autoZero"/>
      </c:valAx>
    </c:plotArea>
    <c:dispBlanksAs val="gap"/>
  </c:chart>
  <c:txPr>
    <a:bodyPr/>
    <a:lstStyle/>
    <a:p>
      <a:pPr>
        <a:defRPr sz="1200">
          <a:latin typeface="Times New Roman"/>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r>
              <a:rPr sz="1400" b="1"/>
              <a:t>Council verdicts</a:t>
            </a:r>
          </a:p>
        </c:rich>
      </c:tx>
      <c:layout/>
      <c:overlay val="0"/>
    </c:title>
    <c:autoTitleDeleted val="0"/>
    <c:plotArea>
      <c:layout/>
      <c:doughnutChart>
        <c:varyColors val="1"/>
        <c:ser>
          <c:idx val="0"/>
          <c:order val="0"/>
          <c:tx>
            <c:strRef>
              <c:f>Sheet1!$B$1</c:f>
              <c:strCache>
                <c:ptCount val="1"/>
                <c:pt idx="0">
                  <c:v>Candidates</c:v>
                </c:pt>
              </c:strCache>
            </c:strRef>
          </c:tx>
          <c:dPt>
            <c:idx val="0"/>
            <c:spPr>
              <a:solidFill>
                <a:srgbClr val="37864A"/>
              </a:solidFill>
            </c:spPr>
          </c:dPt>
          <c:dPt>
            <c:idx val="1"/>
            <c:spPr>
              <a:solidFill>
                <a:srgbClr val="ED9C1A"/>
              </a:solidFill>
            </c:spPr>
          </c:dPt>
          <c:dPt>
            <c:idx val="2"/>
            <c:spPr>
              <a:solidFill>
                <a:srgbClr val="C0392B"/>
              </a:solidFill>
            </c:spPr>
          </c:dPt>
          <c:cat>
            <c:strRef>
              <c:f>Sheet1!$A$2:$A$4</c:f>
              <c:strCache>
                <c:ptCount val="3"/>
                <c:pt idx="0">
                  <c:v>Strong Hire</c:v>
                </c:pt>
                <c:pt idx="1">
                  <c:v>Lean Hire</c:v>
                </c:pt>
                <c:pt idx="2">
                  <c:v>Reject</c:v>
                </c:pt>
              </c:strCache>
            </c:strRef>
          </c:cat>
          <c:val>
            <c:numRef>
              <c:f>Sheet1!$B$2:$B$4</c:f>
              <c:numCache>
                <c:formatCode>General</c:formatCode>
                <c:ptCount val="3"/>
                <c:pt idx="0">
                  <c:v>10</c:v>
                </c:pt>
                <c:pt idx="1">
                  <c:v>10</c:v>
                </c:pt>
                <c:pt idx="2">
                  <c:v>30</c:v>
                </c:pt>
              </c:numCache>
            </c:numRef>
          </c:val>
        </c:ser>
        <c:dLbls>
          <c:txPr>
            <a:bodyPr/>
            <a:lstStyle/>
            <a:p>
              <a:pPr>
                <a:defRPr sz="1400" b="1">
                  <a:solidFill>
                    <a:srgbClr val="FFFFFF"/>
                  </a:solidFill>
                </a:defRPr>
              </a:pPr>
            </a:p>
          </c:txPr>
          <c:showLegendKey val="0"/>
          <c:showVal val="1"/>
          <c:showCatName val="0"/>
          <c:showSerName val="0"/>
          <c:showPercent val="0"/>
          <c:showBubbleSize val="0"/>
          <c:showLeaderLines val="1"/>
        </c:dLbls>
        <c:firstSliceAng val="0"/>
        <c:holeSize val="50"/>
      </c:doughnutChart>
    </c:plotArea>
    <c:legend>
      <c:legendPos val="b"/>
      <c:layout/>
      <c:overlay val="0"/>
    </c:legend>
    <c:plotVisOnly val="1"/>
    <c:dispBlanksAs val="gap"/>
    <c:showDLblsOverMax val="0"/>
  </c:chart>
  <c:txPr>
    <a:bodyPr/>
    <a:lstStyle/>
    <a:p>
      <a:pPr>
        <a:defRPr sz="1300">
          <a:latin typeface="Times New Roman"/>
        </a:defRPr>
      </a:pPr>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F59AC9-30A0-440B-AF41-94819212A481}" type="datetimeFigureOut">
              <a:rPr lang="en-IN" smtClean="0"/>
              <a:t>07-01-2026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88E1B2-F8F7-41C2-BFC5-B9ECD75AD531}" type="slidenum">
              <a:rPr lang="en-IN" smtClean="0"/>
              <a:t>‹#›</a:t>
            </a:fld>
            <a:endParaRPr lang="en-IN"/>
          </a:p>
        </p:txBody>
      </p:sp>
    </p:spTree>
    <p:extLst>
      <p:ext uri="{BB962C8B-B14F-4D97-AF65-F5344CB8AC3E}">
        <p14:creationId xmlns:p14="http://schemas.microsoft.com/office/powerpoint/2010/main" val="6274052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88E1B2-F8F7-41C2-BFC5-B9ECD75AD531}" type="slidenum">
              <a:rPr lang="en-IN" smtClean="0"/>
              <a:t>5</a:t>
            </a:fld>
            <a:endParaRPr lang="en-IN"/>
          </a:p>
        </p:txBody>
      </p:sp>
    </p:spTree>
    <p:extLst>
      <p:ext uri="{BB962C8B-B14F-4D97-AF65-F5344CB8AC3E}">
        <p14:creationId xmlns:p14="http://schemas.microsoft.com/office/powerpoint/2010/main" val="3042398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88E1B2-F8F7-41C2-BFC5-B9ECD75AD531}" type="slidenum">
              <a:rPr lang="en-IN" smtClean="0"/>
              <a:t>7</a:t>
            </a:fld>
            <a:endParaRPr lang="en-IN"/>
          </a:p>
        </p:txBody>
      </p:sp>
    </p:spTree>
    <p:extLst>
      <p:ext uri="{BB962C8B-B14F-4D97-AF65-F5344CB8AC3E}">
        <p14:creationId xmlns:p14="http://schemas.microsoft.com/office/powerpoint/2010/main" val="30645812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FA88E1B2-F8F7-41C2-BFC5-B9ECD75AD531}" type="slidenum">
              <a:rPr lang="en-IN" smtClean="0"/>
              <a:t>9</a:t>
            </a:fld>
            <a:endParaRPr lang="en-IN"/>
          </a:p>
        </p:txBody>
      </p:sp>
    </p:spTree>
    <p:extLst>
      <p:ext uri="{BB962C8B-B14F-4D97-AF65-F5344CB8AC3E}">
        <p14:creationId xmlns:p14="http://schemas.microsoft.com/office/powerpoint/2010/main" val="24188005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9AD80-F869-157E-B109-6665F52EFD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77DC96-F98A-6AD0-B81B-BEB4BA051B7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FC1BE3B-96F7-507E-63D2-BB8B6C4791DA}"/>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B34BCAB9-E5A9-B22C-5AF3-AA8A821BCF55}"/>
              </a:ext>
            </a:extLst>
          </p:cNvPr>
          <p:cNvSpPr>
            <a:spLocks noGrp="1"/>
          </p:cNvSpPr>
          <p:nvPr>
            <p:ph type="sldNum" sz="quarter" idx="5"/>
          </p:nvPr>
        </p:nvSpPr>
        <p:spPr/>
        <p:txBody>
          <a:bodyPr/>
          <a:lstStyle/>
          <a:p>
            <a:fld id="{FA88E1B2-F8F7-41C2-BFC5-B9ECD75AD531}" type="slidenum">
              <a:rPr lang="en-IN" smtClean="0"/>
              <a:t>10</a:t>
            </a:fld>
            <a:endParaRPr lang="en-IN"/>
          </a:p>
        </p:txBody>
      </p:sp>
    </p:spTree>
    <p:extLst>
      <p:ext uri="{BB962C8B-B14F-4D97-AF65-F5344CB8AC3E}">
        <p14:creationId xmlns:p14="http://schemas.microsoft.com/office/powerpoint/2010/main" val="6133451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5F2A1-0A50-4F5A-970C-FB0E1D6463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C8A78B-1786-E47F-A91B-A4D3876F4D3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DBBB4D5-07E6-0491-FBBD-7B3D3BECA0B9}"/>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BA4A7F1A-227E-7FE8-B1AD-ADBCA6C25646}"/>
              </a:ext>
            </a:extLst>
          </p:cNvPr>
          <p:cNvSpPr>
            <a:spLocks noGrp="1"/>
          </p:cNvSpPr>
          <p:nvPr>
            <p:ph type="sldNum" sz="quarter" idx="5"/>
          </p:nvPr>
        </p:nvSpPr>
        <p:spPr/>
        <p:txBody>
          <a:bodyPr/>
          <a:lstStyle/>
          <a:p>
            <a:fld id="{FA88E1B2-F8F7-41C2-BFC5-B9ECD75AD531}" type="slidenum">
              <a:rPr lang="en-IN" smtClean="0"/>
              <a:t>11</a:t>
            </a:fld>
            <a:endParaRPr lang="en-IN"/>
          </a:p>
        </p:txBody>
      </p:sp>
    </p:spTree>
    <p:extLst>
      <p:ext uri="{BB962C8B-B14F-4D97-AF65-F5344CB8AC3E}">
        <p14:creationId xmlns:p14="http://schemas.microsoft.com/office/powerpoint/2010/main" val="41206368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F2FD5-9AF8-58B3-7184-37597C83B0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3D974C-C109-5727-D6C0-C0B149A14EE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F547D3F-6A92-C1D5-A592-FF1CB674A5E9}"/>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70F4987B-75CA-29BD-97E1-37CB26276096}"/>
              </a:ext>
            </a:extLst>
          </p:cNvPr>
          <p:cNvSpPr>
            <a:spLocks noGrp="1"/>
          </p:cNvSpPr>
          <p:nvPr>
            <p:ph type="sldNum" sz="quarter" idx="5"/>
          </p:nvPr>
        </p:nvSpPr>
        <p:spPr/>
        <p:txBody>
          <a:bodyPr/>
          <a:lstStyle/>
          <a:p>
            <a:fld id="{FA88E1B2-F8F7-41C2-BFC5-B9ECD75AD531}" type="slidenum">
              <a:rPr lang="en-IN" smtClean="0"/>
              <a:t>12</a:t>
            </a:fld>
            <a:endParaRPr lang="en-IN"/>
          </a:p>
        </p:txBody>
      </p:sp>
    </p:spTree>
    <p:extLst>
      <p:ext uri="{BB962C8B-B14F-4D97-AF65-F5344CB8AC3E}">
        <p14:creationId xmlns:p14="http://schemas.microsoft.com/office/powerpoint/2010/main" val="13510415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1CA92-ACF7-6D50-326D-D9B7F8C986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4B461E-AB2C-8810-C1B3-CB2F31FD8FC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0F6E4A8-3CD0-1AD9-32C6-E665318E7AF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FA8E6D2-9B1D-02AF-1303-3498A68CB6EB}"/>
              </a:ext>
            </a:extLst>
          </p:cNvPr>
          <p:cNvSpPr>
            <a:spLocks noGrp="1"/>
          </p:cNvSpPr>
          <p:nvPr>
            <p:ph type="sldNum" sz="quarter" idx="5"/>
          </p:nvPr>
        </p:nvSpPr>
        <p:spPr/>
        <p:txBody>
          <a:bodyPr/>
          <a:lstStyle/>
          <a:p>
            <a:fld id="{FA88E1B2-F8F7-41C2-BFC5-B9ECD75AD531}" type="slidenum">
              <a:rPr lang="en-IN" smtClean="0"/>
              <a:t>13</a:t>
            </a:fld>
            <a:endParaRPr lang="en-IN"/>
          </a:p>
        </p:txBody>
      </p:sp>
    </p:spTree>
    <p:extLst>
      <p:ext uri="{BB962C8B-B14F-4D97-AF65-F5344CB8AC3E}">
        <p14:creationId xmlns:p14="http://schemas.microsoft.com/office/powerpoint/2010/main" val="2471017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B5C23-842D-07D8-C123-414E3EF1ED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23BF0D-8782-A8D0-CFF8-08B54E84DAC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12FEC04-4DDB-1FF9-8948-7288539FE63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887CDF27-AC51-F6FB-A977-54C157093C8B}"/>
              </a:ext>
            </a:extLst>
          </p:cNvPr>
          <p:cNvSpPr>
            <a:spLocks noGrp="1"/>
          </p:cNvSpPr>
          <p:nvPr>
            <p:ph type="sldNum" sz="quarter" idx="5"/>
          </p:nvPr>
        </p:nvSpPr>
        <p:spPr/>
        <p:txBody>
          <a:bodyPr/>
          <a:lstStyle/>
          <a:p>
            <a:fld id="{FA88E1B2-F8F7-41C2-BFC5-B9ECD75AD531}" type="slidenum">
              <a:rPr lang="en-IN" smtClean="0"/>
              <a:t>14</a:t>
            </a:fld>
            <a:endParaRPr lang="en-IN"/>
          </a:p>
        </p:txBody>
      </p:sp>
    </p:spTree>
    <p:extLst>
      <p:ext uri="{BB962C8B-B14F-4D97-AF65-F5344CB8AC3E}">
        <p14:creationId xmlns:p14="http://schemas.microsoft.com/office/powerpoint/2010/main" val="14831323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45759-D9BC-4D6F-6231-15EC62E008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C6D8EA-9EF3-B1B0-99B5-0FC042BA0B5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E649646-0990-10CD-4E0C-9BDE6ADAF5E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61265CD-4742-4E9C-C1AF-CB5183A48AE8}"/>
              </a:ext>
            </a:extLst>
          </p:cNvPr>
          <p:cNvSpPr>
            <a:spLocks noGrp="1"/>
          </p:cNvSpPr>
          <p:nvPr>
            <p:ph type="sldNum" sz="quarter" idx="5"/>
          </p:nvPr>
        </p:nvSpPr>
        <p:spPr/>
        <p:txBody>
          <a:bodyPr/>
          <a:lstStyle/>
          <a:p>
            <a:fld id="{FA88E1B2-F8F7-41C2-BFC5-B9ECD75AD531}" type="slidenum">
              <a:rPr lang="en-IN" smtClean="0"/>
              <a:t>15</a:t>
            </a:fld>
            <a:endParaRPr lang="en-IN"/>
          </a:p>
        </p:txBody>
      </p:sp>
    </p:spTree>
    <p:extLst>
      <p:ext uri="{BB962C8B-B14F-4D97-AF65-F5344CB8AC3E}">
        <p14:creationId xmlns:p14="http://schemas.microsoft.com/office/powerpoint/2010/main" val="32886587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48FF8-FB18-D3FD-91F0-7A64B3230F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3781AF-E0C8-9A3E-3781-4F7E2DD9B3B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AEC8957-E09E-DD0E-5C8C-21B0FA4AB742}"/>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8A4AA16E-5795-8B2F-64FC-50B3FCF874B3}"/>
              </a:ext>
            </a:extLst>
          </p:cNvPr>
          <p:cNvSpPr>
            <a:spLocks noGrp="1"/>
          </p:cNvSpPr>
          <p:nvPr>
            <p:ph type="sldNum" sz="quarter" idx="5"/>
          </p:nvPr>
        </p:nvSpPr>
        <p:spPr/>
        <p:txBody>
          <a:bodyPr/>
          <a:lstStyle/>
          <a:p>
            <a:fld id="{FA88E1B2-F8F7-41C2-BFC5-B9ECD75AD531}" type="slidenum">
              <a:rPr lang="en-IN" smtClean="0"/>
              <a:t>16</a:t>
            </a:fld>
            <a:endParaRPr lang="en-IN"/>
          </a:p>
        </p:txBody>
      </p:sp>
    </p:spTree>
    <p:extLst>
      <p:ext uri="{BB962C8B-B14F-4D97-AF65-F5344CB8AC3E}">
        <p14:creationId xmlns:p14="http://schemas.microsoft.com/office/powerpoint/2010/main" val="1858224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2D15A-2568-640E-3675-50352CFC6B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9C6D10-C5B2-371D-1D5C-71EF2EAEF52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093503C-E5AF-3892-B1C7-45ABF4D4A927}"/>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4388634-AA64-E029-15B3-D1924FADEAFB}"/>
              </a:ext>
            </a:extLst>
          </p:cNvPr>
          <p:cNvSpPr>
            <a:spLocks noGrp="1"/>
          </p:cNvSpPr>
          <p:nvPr>
            <p:ph type="sldNum" sz="quarter" idx="5"/>
          </p:nvPr>
        </p:nvSpPr>
        <p:spPr/>
        <p:txBody>
          <a:bodyPr/>
          <a:lstStyle/>
          <a:p>
            <a:fld id="{FA88E1B2-F8F7-41C2-BFC5-B9ECD75AD531}" type="slidenum">
              <a:rPr lang="en-IN" smtClean="0"/>
              <a:t>17</a:t>
            </a:fld>
            <a:endParaRPr lang="en-IN"/>
          </a:p>
        </p:txBody>
      </p:sp>
    </p:spTree>
    <p:extLst>
      <p:ext uri="{BB962C8B-B14F-4D97-AF65-F5344CB8AC3E}">
        <p14:creationId xmlns:p14="http://schemas.microsoft.com/office/powerpoint/2010/main" val="37527077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37CAD-416E-9C48-752A-F5526ACAF5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D98932-B00C-D8A0-A513-DC92F6723EE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FEBEB39-25E5-2CC0-3713-7C65ED771478}"/>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66F4AEF8-2A01-6551-7454-FB7DB2BED61F}"/>
              </a:ext>
            </a:extLst>
          </p:cNvPr>
          <p:cNvSpPr>
            <a:spLocks noGrp="1"/>
          </p:cNvSpPr>
          <p:nvPr>
            <p:ph type="sldNum" sz="quarter" idx="5"/>
          </p:nvPr>
        </p:nvSpPr>
        <p:spPr/>
        <p:txBody>
          <a:bodyPr/>
          <a:lstStyle/>
          <a:p>
            <a:fld id="{FA88E1B2-F8F7-41C2-BFC5-B9ECD75AD531}" type="slidenum">
              <a:rPr lang="en-IN" smtClean="0"/>
              <a:t>18</a:t>
            </a:fld>
            <a:endParaRPr lang="en-IN"/>
          </a:p>
        </p:txBody>
      </p:sp>
    </p:spTree>
    <p:extLst>
      <p:ext uri="{BB962C8B-B14F-4D97-AF65-F5344CB8AC3E}">
        <p14:creationId xmlns:p14="http://schemas.microsoft.com/office/powerpoint/2010/main" val="17104120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EC065-AF8F-079C-E712-9193BD82B8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309D38-5A36-E1D2-087A-3835EC1C500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5151F7A-E8AA-6414-C158-20FB19658876}"/>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8CBBCAB3-E573-C605-E5AC-8E37FB760887}"/>
              </a:ext>
            </a:extLst>
          </p:cNvPr>
          <p:cNvSpPr>
            <a:spLocks noGrp="1"/>
          </p:cNvSpPr>
          <p:nvPr>
            <p:ph type="sldNum" sz="quarter" idx="5"/>
          </p:nvPr>
        </p:nvSpPr>
        <p:spPr/>
        <p:txBody>
          <a:bodyPr/>
          <a:lstStyle/>
          <a:p>
            <a:fld id="{FA88E1B2-F8F7-41C2-BFC5-B9ECD75AD531}" type="slidenum">
              <a:rPr lang="en-IN" smtClean="0"/>
              <a:t>19</a:t>
            </a:fld>
            <a:endParaRPr lang="en-IN"/>
          </a:p>
        </p:txBody>
      </p:sp>
    </p:spTree>
    <p:extLst>
      <p:ext uri="{BB962C8B-B14F-4D97-AF65-F5344CB8AC3E}">
        <p14:creationId xmlns:p14="http://schemas.microsoft.com/office/powerpoint/2010/main" val="29679708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6AD55-FB83-B8F1-78DE-3A67651949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BA6C0C-E2E2-2FDB-D5D2-D515230DECA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18EF5E1-FB3F-02EB-540C-A9F8170DB29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9A98FD75-190F-2EBF-059A-4DCEFC507056}"/>
              </a:ext>
            </a:extLst>
          </p:cNvPr>
          <p:cNvSpPr>
            <a:spLocks noGrp="1"/>
          </p:cNvSpPr>
          <p:nvPr>
            <p:ph type="sldNum" sz="quarter" idx="5"/>
          </p:nvPr>
        </p:nvSpPr>
        <p:spPr/>
        <p:txBody>
          <a:bodyPr/>
          <a:lstStyle/>
          <a:p>
            <a:fld id="{FA88E1B2-F8F7-41C2-BFC5-B9ECD75AD531}" type="slidenum">
              <a:rPr lang="en-IN" smtClean="0"/>
              <a:t>20</a:t>
            </a:fld>
            <a:endParaRPr lang="en-IN"/>
          </a:p>
        </p:txBody>
      </p:sp>
    </p:spTree>
    <p:extLst>
      <p:ext uri="{BB962C8B-B14F-4D97-AF65-F5344CB8AC3E}">
        <p14:creationId xmlns:p14="http://schemas.microsoft.com/office/powerpoint/2010/main" val="34896263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287E0-7751-68CA-7DE4-9F0291A363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F36324-D278-A86C-285A-205086FD8CC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C621A07-AC6C-465D-C4C4-8560FA23E677}"/>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1401745D-0AED-4D7C-7B9C-7E74529710CF}"/>
              </a:ext>
            </a:extLst>
          </p:cNvPr>
          <p:cNvSpPr>
            <a:spLocks noGrp="1"/>
          </p:cNvSpPr>
          <p:nvPr>
            <p:ph type="sldNum" sz="quarter" idx="5"/>
          </p:nvPr>
        </p:nvSpPr>
        <p:spPr/>
        <p:txBody>
          <a:bodyPr/>
          <a:lstStyle/>
          <a:p>
            <a:fld id="{FA88E1B2-F8F7-41C2-BFC5-B9ECD75AD531}" type="slidenum">
              <a:rPr lang="en-IN" smtClean="0"/>
              <a:t>21</a:t>
            </a:fld>
            <a:endParaRPr lang="en-IN"/>
          </a:p>
        </p:txBody>
      </p:sp>
    </p:spTree>
    <p:extLst>
      <p:ext uri="{BB962C8B-B14F-4D97-AF65-F5344CB8AC3E}">
        <p14:creationId xmlns:p14="http://schemas.microsoft.com/office/powerpoint/2010/main" val="27569316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7CEF0-0AFF-3545-546F-9DC55E86C9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2C9E5E-3AD0-77DD-159D-A73AE202783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72E1B28-3891-55DB-69AF-BE205029E3A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B2D1B3A-27EE-319B-602C-C7F4644F4B5A}"/>
              </a:ext>
            </a:extLst>
          </p:cNvPr>
          <p:cNvSpPr>
            <a:spLocks noGrp="1"/>
          </p:cNvSpPr>
          <p:nvPr>
            <p:ph type="sldNum" sz="quarter" idx="5"/>
          </p:nvPr>
        </p:nvSpPr>
        <p:spPr/>
        <p:txBody>
          <a:bodyPr/>
          <a:lstStyle/>
          <a:p>
            <a:fld id="{FA88E1B2-F8F7-41C2-BFC5-B9ECD75AD531}" type="slidenum">
              <a:rPr lang="en-IN" smtClean="0"/>
              <a:t>22</a:t>
            </a:fld>
            <a:endParaRPr lang="en-IN"/>
          </a:p>
        </p:txBody>
      </p:sp>
    </p:spTree>
    <p:extLst>
      <p:ext uri="{BB962C8B-B14F-4D97-AF65-F5344CB8AC3E}">
        <p14:creationId xmlns:p14="http://schemas.microsoft.com/office/powerpoint/2010/main" val="30853113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AE702-0527-CABB-FA14-DC7EF111D3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74AE63-B43E-A118-FEB6-EF21FB4A117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F6508C4-DC39-FC1B-ED96-80A3C551F55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BAF7BC69-FF31-78BA-53B0-2EBD6769E047}"/>
              </a:ext>
            </a:extLst>
          </p:cNvPr>
          <p:cNvSpPr>
            <a:spLocks noGrp="1"/>
          </p:cNvSpPr>
          <p:nvPr>
            <p:ph type="sldNum" sz="quarter" idx="5"/>
          </p:nvPr>
        </p:nvSpPr>
        <p:spPr/>
        <p:txBody>
          <a:bodyPr/>
          <a:lstStyle/>
          <a:p>
            <a:fld id="{FA88E1B2-F8F7-41C2-BFC5-B9ECD75AD531}" type="slidenum">
              <a:rPr lang="en-IN" smtClean="0"/>
              <a:t>23</a:t>
            </a:fld>
            <a:endParaRPr lang="en-IN"/>
          </a:p>
        </p:txBody>
      </p:sp>
    </p:spTree>
    <p:extLst>
      <p:ext uri="{BB962C8B-B14F-4D97-AF65-F5344CB8AC3E}">
        <p14:creationId xmlns:p14="http://schemas.microsoft.com/office/powerpoint/2010/main" val="12061842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32FD9-2E09-A4C5-FA31-631EB12421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062B59-F0E5-3DF6-D3CD-3C010D97DF1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9D07A05-7880-60DA-B131-D794333230DE}"/>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6B364640-F63C-07D2-1C1C-125F3B290488}"/>
              </a:ext>
            </a:extLst>
          </p:cNvPr>
          <p:cNvSpPr>
            <a:spLocks noGrp="1"/>
          </p:cNvSpPr>
          <p:nvPr>
            <p:ph type="sldNum" sz="quarter" idx="5"/>
          </p:nvPr>
        </p:nvSpPr>
        <p:spPr/>
        <p:txBody>
          <a:bodyPr/>
          <a:lstStyle/>
          <a:p>
            <a:fld id="{FA88E1B2-F8F7-41C2-BFC5-B9ECD75AD531}" type="slidenum">
              <a:rPr lang="en-IN" smtClean="0"/>
              <a:t>24</a:t>
            </a:fld>
            <a:endParaRPr lang="en-IN"/>
          </a:p>
        </p:txBody>
      </p:sp>
    </p:spTree>
    <p:extLst>
      <p:ext uri="{BB962C8B-B14F-4D97-AF65-F5344CB8AC3E}">
        <p14:creationId xmlns:p14="http://schemas.microsoft.com/office/powerpoint/2010/main" val="4304138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F83CC-F9D3-7EE2-3224-ADB8B17683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5E579A-3A23-9001-D7A0-15DE75C0B24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A49D421-ACFA-A1C3-298C-1D3F1B95A4BA}"/>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FAD9A-7945-7401-D06E-B97E6C19B0CC}"/>
              </a:ext>
            </a:extLst>
          </p:cNvPr>
          <p:cNvSpPr>
            <a:spLocks noGrp="1"/>
          </p:cNvSpPr>
          <p:nvPr>
            <p:ph type="sldNum" sz="quarter" idx="5"/>
          </p:nvPr>
        </p:nvSpPr>
        <p:spPr/>
        <p:txBody>
          <a:bodyPr/>
          <a:lstStyle/>
          <a:p>
            <a:fld id="{FA88E1B2-F8F7-41C2-BFC5-B9ECD75AD531}" type="slidenum">
              <a:rPr lang="en-IN" smtClean="0"/>
              <a:t>25</a:t>
            </a:fld>
            <a:endParaRPr lang="en-IN"/>
          </a:p>
        </p:txBody>
      </p:sp>
    </p:spTree>
    <p:extLst>
      <p:ext uri="{BB962C8B-B14F-4D97-AF65-F5344CB8AC3E}">
        <p14:creationId xmlns:p14="http://schemas.microsoft.com/office/powerpoint/2010/main" val="16689128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88E1B2-F8F7-41C2-BFC5-B9ECD75AD531}" type="slidenum">
              <a:rPr lang="en-IN" smtClean="0"/>
              <a:t>26</a:t>
            </a:fld>
            <a:endParaRPr lang="en-IN"/>
          </a:p>
        </p:txBody>
      </p:sp>
    </p:spTree>
    <p:extLst>
      <p:ext uri="{BB962C8B-B14F-4D97-AF65-F5344CB8AC3E}">
        <p14:creationId xmlns:p14="http://schemas.microsoft.com/office/powerpoint/2010/main" val="36810984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71783-C67E-5F1E-BA7D-43438900BF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DE9A0F-0BF3-C67F-D10C-973DB1FE1A2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8A763A8-660A-AE75-8DA8-EEBCDBB20297}"/>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AA576F26-7925-5F2F-996C-7D9025126629}"/>
              </a:ext>
            </a:extLst>
          </p:cNvPr>
          <p:cNvSpPr>
            <a:spLocks noGrp="1"/>
          </p:cNvSpPr>
          <p:nvPr>
            <p:ph type="sldNum" sz="quarter" idx="5"/>
          </p:nvPr>
        </p:nvSpPr>
        <p:spPr/>
        <p:txBody>
          <a:bodyPr/>
          <a:lstStyle/>
          <a:p>
            <a:fld id="{FA88E1B2-F8F7-41C2-BFC5-B9ECD75AD531}" type="slidenum">
              <a:rPr lang="en-IN" smtClean="0"/>
              <a:t>27</a:t>
            </a:fld>
            <a:endParaRPr lang="en-IN"/>
          </a:p>
        </p:txBody>
      </p:sp>
    </p:spTree>
    <p:extLst>
      <p:ext uri="{BB962C8B-B14F-4D97-AF65-F5344CB8AC3E}">
        <p14:creationId xmlns:p14="http://schemas.microsoft.com/office/powerpoint/2010/main" val="42279949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AC6C8-7AE7-F5D6-0562-26E718040A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C6CAF2-2AB0-07BA-C91A-232925083CF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8826BB6-3158-940D-509D-79DBE81F0F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1A3836-1489-5E02-A704-4B9396DC2581}"/>
              </a:ext>
            </a:extLst>
          </p:cNvPr>
          <p:cNvSpPr>
            <a:spLocks noGrp="1"/>
          </p:cNvSpPr>
          <p:nvPr>
            <p:ph type="sldNum" sz="quarter" idx="5"/>
          </p:nvPr>
        </p:nvSpPr>
        <p:spPr/>
        <p:txBody>
          <a:bodyPr/>
          <a:lstStyle/>
          <a:p>
            <a:fld id="{FA88E1B2-F8F7-41C2-BFC5-B9ECD75AD531}" type="slidenum">
              <a:rPr lang="en-IN" smtClean="0"/>
              <a:t>28</a:t>
            </a:fld>
            <a:endParaRPr lang="en-IN"/>
          </a:p>
        </p:txBody>
      </p:sp>
    </p:spTree>
    <p:extLst>
      <p:ext uri="{BB962C8B-B14F-4D97-AF65-F5344CB8AC3E}">
        <p14:creationId xmlns:p14="http://schemas.microsoft.com/office/powerpoint/2010/main" val="1939813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5A7E-0625-4C55-0F84-E09167684A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6EAC7DD-633C-E347-5238-700725B7C5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C250173-FF3E-46E1-6CF9-3F7E7D64F90A}"/>
              </a:ext>
            </a:extLst>
          </p:cNvPr>
          <p:cNvSpPr>
            <a:spLocks noGrp="1"/>
          </p:cNvSpPr>
          <p:nvPr>
            <p:ph type="dt" sz="half" idx="10"/>
          </p:nvPr>
        </p:nvSpPr>
        <p:spPr/>
        <p:txBody>
          <a:bodyPr/>
          <a:lstStyle/>
          <a:p>
            <a:fld id="{A298C13F-C621-4EE4-BE50-3B8B7BF01E8F}" type="datetimeFigureOut">
              <a:rPr lang="en-IN" smtClean="0"/>
              <a:t>07-01-2026</a:t>
            </a:fld>
            <a:endParaRPr lang="en-IN"/>
          </a:p>
        </p:txBody>
      </p:sp>
      <p:sp>
        <p:nvSpPr>
          <p:cNvPr id="5" name="Footer Placeholder 4">
            <a:extLst>
              <a:ext uri="{FF2B5EF4-FFF2-40B4-BE49-F238E27FC236}">
                <a16:creationId xmlns:a16="http://schemas.microsoft.com/office/drawing/2014/main" id="{F7ED2BC2-D9E8-E95A-3079-36D16502AC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1D59C3-843F-63C6-0B88-1124679A7744}"/>
              </a:ext>
            </a:extLst>
          </p:cNvPr>
          <p:cNvSpPr>
            <a:spLocks noGrp="1"/>
          </p:cNvSpPr>
          <p:nvPr>
            <p:ph type="sldNum" sz="quarter" idx="12"/>
          </p:nvPr>
        </p:nvSpPr>
        <p:spPr/>
        <p:txBody>
          <a:bodyPr/>
          <a:lstStyle/>
          <a:p>
            <a:fld id="{8C08062F-E083-4631-A010-A50ED976E5AC}" type="slidenum">
              <a:rPr lang="en-IN" smtClean="0"/>
              <a:t>‹#›</a:t>
            </a:fld>
            <a:endParaRPr lang="en-IN"/>
          </a:p>
        </p:txBody>
      </p:sp>
    </p:spTree>
    <p:extLst>
      <p:ext uri="{BB962C8B-B14F-4D97-AF65-F5344CB8AC3E}">
        <p14:creationId xmlns:p14="http://schemas.microsoft.com/office/powerpoint/2010/main" val="27399208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A6602-FA74-09F7-7AF3-ABA73C2F738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5AC1F86-8539-8AE0-07D2-4EF7189EF19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22462F-5F63-841F-72C2-07EEF15CB597}"/>
              </a:ext>
            </a:extLst>
          </p:cNvPr>
          <p:cNvSpPr>
            <a:spLocks noGrp="1"/>
          </p:cNvSpPr>
          <p:nvPr>
            <p:ph type="dt" sz="half" idx="10"/>
          </p:nvPr>
        </p:nvSpPr>
        <p:spPr/>
        <p:txBody>
          <a:bodyPr/>
          <a:lstStyle/>
          <a:p>
            <a:fld id="{A298C13F-C621-4EE4-BE50-3B8B7BF01E8F}" type="datetimeFigureOut">
              <a:rPr lang="en-IN" smtClean="0"/>
              <a:t>07-01-2026</a:t>
            </a:fld>
            <a:endParaRPr lang="en-IN"/>
          </a:p>
        </p:txBody>
      </p:sp>
      <p:sp>
        <p:nvSpPr>
          <p:cNvPr id="5" name="Footer Placeholder 4">
            <a:extLst>
              <a:ext uri="{FF2B5EF4-FFF2-40B4-BE49-F238E27FC236}">
                <a16:creationId xmlns:a16="http://schemas.microsoft.com/office/drawing/2014/main" id="{31726624-A3DE-BE83-1D12-853252FB9D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A374AB-368F-4449-1309-6DF199ABA11F}"/>
              </a:ext>
            </a:extLst>
          </p:cNvPr>
          <p:cNvSpPr>
            <a:spLocks noGrp="1"/>
          </p:cNvSpPr>
          <p:nvPr>
            <p:ph type="sldNum" sz="quarter" idx="12"/>
          </p:nvPr>
        </p:nvSpPr>
        <p:spPr/>
        <p:txBody>
          <a:bodyPr/>
          <a:lstStyle/>
          <a:p>
            <a:fld id="{8C08062F-E083-4631-A010-A50ED976E5AC}" type="slidenum">
              <a:rPr lang="en-IN" smtClean="0"/>
              <a:t>‹#›</a:t>
            </a:fld>
            <a:endParaRPr lang="en-IN"/>
          </a:p>
        </p:txBody>
      </p:sp>
    </p:spTree>
    <p:extLst>
      <p:ext uri="{BB962C8B-B14F-4D97-AF65-F5344CB8AC3E}">
        <p14:creationId xmlns:p14="http://schemas.microsoft.com/office/powerpoint/2010/main" val="11308560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8A260-172A-1750-EC67-95E87A867CB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CDD7568-5B21-2CBC-6373-921ED0A4F2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F257A46-4BB2-1BE0-3390-D8065713056D}"/>
              </a:ext>
            </a:extLst>
          </p:cNvPr>
          <p:cNvSpPr>
            <a:spLocks noGrp="1"/>
          </p:cNvSpPr>
          <p:nvPr>
            <p:ph type="dt" sz="half" idx="10"/>
          </p:nvPr>
        </p:nvSpPr>
        <p:spPr/>
        <p:txBody>
          <a:bodyPr/>
          <a:lstStyle/>
          <a:p>
            <a:fld id="{A298C13F-C621-4EE4-BE50-3B8B7BF01E8F}" type="datetimeFigureOut">
              <a:rPr lang="en-IN" smtClean="0"/>
              <a:t>07-01-2026</a:t>
            </a:fld>
            <a:endParaRPr lang="en-IN"/>
          </a:p>
        </p:txBody>
      </p:sp>
      <p:sp>
        <p:nvSpPr>
          <p:cNvPr id="5" name="Footer Placeholder 4">
            <a:extLst>
              <a:ext uri="{FF2B5EF4-FFF2-40B4-BE49-F238E27FC236}">
                <a16:creationId xmlns:a16="http://schemas.microsoft.com/office/drawing/2014/main" id="{8172E9C6-BA55-649B-679A-3836738547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8ADC92-48C9-A5FA-1557-552929CEA3B3}"/>
              </a:ext>
            </a:extLst>
          </p:cNvPr>
          <p:cNvSpPr>
            <a:spLocks noGrp="1"/>
          </p:cNvSpPr>
          <p:nvPr>
            <p:ph type="sldNum" sz="quarter" idx="12"/>
          </p:nvPr>
        </p:nvSpPr>
        <p:spPr/>
        <p:txBody>
          <a:bodyPr/>
          <a:lstStyle/>
          <a:p>
            <a:fld id="{8C08062F-E083-4631-A010-A50ED976E5AC}" type="slidenum">
              <a:rPr lang="en-IN" smtClean="0"/>
              <a:t>‹#›</a:t>
            </a:fld>
            <a:endParaRPr lang="en-IN"/>
          </a:p>
        </p:txBody>
      </p:sp>
    </p:spTree>
    <p:extLst>
      <p:ext uri="{BB962C8B-B14F-4D97-AF65-F5344CB8AC3E}">
        <p14:creationId xmlns:p14="http://schemas.microsoft.com/office/powerpoint/2010/main" val="1093621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86191-2011-313C-BC4A-0F7A3D1DDD7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2128010-9BB8-CDA2-05A5-12350BB250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D7C9B92-8874-A515-6E6C-9CE9FFFFCE9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D465BF0-DF7A-9081-962A-B25D777E65E7}"/>
              </a:ext>
            </a:extLst>
          </p:cNvPr>
          <p:cNvSpPr>
            <a:spLocks noGrp="1"/>
          </p:cNvSpPr>
          <p:nvPr>
            <p:ph type="dt" sz="half" idx="10"/>
          </p:nvPr>
        </p:nvSpPr>
        <p:spPr/>
        <p:txBody>
          <a:bodyPr/>
          <a:lstStyle/>
          <a:p>
            <a:fld id="{A298C13F-C621-4EE4-BE50-3B8B7BF01E8F}" type="datetimeFigureOut">
              <a:rPr lang="en-IN" smtClean="0"/>
              <a:t>07-01-2026</a:t>
            </a:fld>
            <a:endParaRPr lang="en-IN"/>
          </a:p>
        </p:txBody>
      </p:sp>
      <p:sp>
        <p:nvSpPr>
          <p:cNvPr id="6" name="Footer Placeholder 5">
            <a:extLst>
              <a:ext uri="{FF2B5EF4-FFF2-40B4-BE49-F238E27FC236}">
                <a16:creationId xmlns:a16="http://schemas.microsoft.com/office/drawing/2014/main" id="{1BBACC19-1EE4-BABF-2F09-3452EA5F202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A56A759-A703-B1E9-1D44-E907A779BEE6}"/>
              </a:ext>
            </a:extLst>
          </p:cNvPr>
          <p:cNvSpPr>
            <a:spLocks noGrp="1"/>
          </p:cNvSpPr>
          <p:nvPr>
            <p:ph type="sldNum" sz="quarter" idx="12"/>
          </p:nvPr>
        </p:nvSpPr>
        <p:spPr/>
        <p:txBody>
          <a:bodyPr/>
          <a:lstStyle/>
          <a:p>
            <a:fld id="{8C08062F-E083-4631-A010-A50ED976E5AC}" type="slidenum">
              <a:rPr lang="en-IN" smtClean="0"/>
              <a:t>‹#›</a:t>
            </a:fld>
            <a:endParaRPr lang="en-IN"/>
          </a:p>
        </p:txBody>
      </p:sp>
    </p:spTree>
    <p:extLst>
      <p:ext uri="{BB962C8B-B14F-4D97-AF65-F5344CB8AC3E}">
        <p14:creationId xmlns:p14="http://schemas.microsoft.com/office/powerpoint/2010/main" val="19006042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DDF60-42C2-4CE0-665F-B5D7EEC139D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F599603-BE71-7FF4-114F-C4FDD99D0E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23016AF-7681-9D40-BC2C-699E94E74EB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3CA6B90-FF0A-47D9-FD7F-73E06C5630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C91799-D48A-C7C9-301C-77CB51ED1A9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79C2CC2-49CD-EE89-D5FF-C07F6840510E}"/>
              </a:ext>
            </a:extLst>
          </p:cNvPr>
          <p:cNvSpPr>
            <a:spLocks noGrp="1"/>
          </p:cNvSpPr>
          <p:nvPr>
            <p:ph type="dt" sz="half" idx="10"/>
          </p:nvPr>
        </p:nvSpPr>
        <p:spPr/>
        <p:txBody>
          <a:bodyPr/>
          <a:lstStyle/>
          <a:p>
            <a:fld id="{A298C13F-C621-4EE4-BE50-3B8B7BF01E8F}" type="datetimeFigureOut">
              <a:rPr lang="en-IN" smtClean="0"/>
              <a:t>07-01-2026</a:t>
            </a:fld>
            <a:endParaRPr lang="en-IN"/>
          </a:p>
        </p:txBody>
      </p:sp>
      <p:sp>
        <p:nvSpPr>
          <p:cNvPr id="8" name="Footer Placeholder 7">
            <a:extLst>
              <a:ext uri="{FF2B5EF4-FFF2-40B4-BE49-F238E27FC236}">
                <a16:creationId xmlns:a16="http://schemas.microsoft.com/office/drawing/2014/main" id="{889A69C9-7E04-96DB-33F2-2A458B67910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EA8B490-4975-5158-8CE6-820249AAC18A}"/>
              </a:ext>
            </a:extLst>
          </p:cNvPr>
          <p:cNvSpPr>
            <a:spLocks noGrp="1"/>
          </p:cNvSpPr>
          <p:nvPr>
            <p:ph type="sldNum" sz="quarter" idx="12"/>
          </p:nvPr>
        </p:nvSpPr>
        <p:spPr/>
        <p:txBody>
          <a:bodyPr/>
          <a:lstStyle/>
          <a:p>
            <a:fld id="{8C08062F-E083-4631-A010-A50ED976E5AC}" type="slidenum">
              <a:rPr lang="en-IN" smtClean="0"/>
              <a:t>‹#›</a:t>
            </a:fld>
            <a:endParaRPr lang="en-IN"/>
          </a:p>
        </p:txBody>
      </p:sp>
    </p:spTree>
    <p:extLst>
      <p:ext uri="{BB962C8B-B14F-4D97-AF65-F5344CB8AC3E}">
        <p14:creationId xmlns:p14="http://schemas.microsoft.com/office/powerpoint/2010/main" val="2407469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F87CC-D218-BF01-7DCA-67C103C1AC2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0100DCD-0640-07A4-D126-16D86FC348E5}"/>
              </a:ext>
            </a:extLst>
          </p:cNvPr>
          <p:cNvSpPr>
            <a:spLocks noGrp="1"/>
          </p:cNvSpPr>
          <p:nvPr>
            <p:ph type="dt" sz="half" idx="10"/>
          </p:nvPr>
        </p:nvSpPr>
        <p:spPr/>
        <p:txBody>
          <a:bodyPr/>
          <a:lstStyle/>
          <a:p>
            <a:fld id="{A298C13F-C621-4EE4-BE50-3B8B7BF01E8F}" type="datetimeFigureOut">
              <a:rPr lang="en-IN" smtClean="0"/>
              <a:t>07-01-2026</a:t>
            </a:fld>
            <a:endParaRPr lang="en-IN"/>
          </a:p>
        </p:txBody>
      </p:sp>
      <p:sp>
        <p:nvSpPr>
          <p:cNvPr id="4" name="Footer Placeholder 3">
            <a:extLst>
              <a:ext uri="{FF2B5EF4-FFF2-40B4-BE49-F238E27FC236}">
                <a16:creationId xmlns:a16="http://schemas.microsoft.com/office/drawing/2014/main" id="{2F41037C-8C47-68BF-3653-1EC8391F491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4B6E4A3-2867-D101-4840-E57F251C9ACE}"/>
              </a:ext>
            </a:extLst>
          </p:cNvPr>
          <p:cNvSpPr>
            <a:spLocks noGrp="1"/>
          </p:cNvSpPr>
          <p:nvPr>
            <p:ph type="sldNum" sz="quarter" idx="12"/>
          </p:nvPr>
        </p:nvSpPr>
        <p:spPr/>
        <p:txBody>
          <a:bodyPr/>
          <a:lstStyle/>
          <a:p>
            <a:fld id="{8C08062F-E083-4631-A010-A50ED976E5AC}" type="slidenum">
              <a:rPr lang="en-IN" smtClean="0"/>
              <a:t>‹#›</a:t>
            </a:fld>
            <a:endParaRPr lang="en-IN"/>
          </a:p>
        </p:txBody>
      </p:sp>
    </p:spTree>
    <p:extLst>
      <p:ext uri="{BB962C8B-B14F-4D97-AF65-F5344CB8AC3E}">
        <p14:creationId xmlns:p14="http://schemas.microsoft.com/office/powerpoint/2010/main" val="25932953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C109C4-1BE1-AE19-2CBA-3D325EA42E2D}"/>
              </a:ext>
            </a:extLst>
          </p:cNvPr>
          <p:cNvSpPr>
            <a:spLocks noGrp="1"/>
          </p:cNvSpPr>
          <p:nvPr>
            <p:ph type="dt" sz="half" idx="10"/>
          </p:nvPr>
        </p:nvSpPr>
        <p:spPr/>
        <p:txBody>
          <a:bodyPr/>
          <a:lstStyle/>
          <a:p>
            <a:fld id="{A298C13F-C621-4EE4-BE50-3B8B7BF01E8F}" type="datetimeFigureOut">
              <a:rPr lang="en-IN" smtClean="0"/>
              <a:t>07-01-2026</a:t>
            </a:fld>
            <a:endParaRPr lang="en-IN"/>
          </a:p>
        </p:txBody>
      </p:sp>
      <p:sp>
        <p:nvSpPr>
          <p:cNvPr id="3" name="Footer Placeholder 2">
            <a:extLst>
              <a:ext uri="{FF2B5EF4-FFF2-40B4-BE49-F238E27FC236}">
                <a16:creationId xmlns:a16="http://schemas.microsoft.com/office/drawing/2014/main" id="{98568BBF-F980-D84E-A90E-5B6EEA7D013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1E49690-52B2-7AE0-1F96-FAA50158F60C}"/>
              </a:ext>
            </a:extLst>
          </p:cNvPr>
          <p:cNvSpPr>
            <a:spLocks noGrp="1"/>
          </p:cNvSpPr>
          <p:nvPr>
            <p:ph type="sldNum" sz="quarter" idx="12"/>
          </p:nvPr>
        </p:nvSpPr>
        <p:spPr/>
        <p:txBody>
          <a:bodyPr/>
          <a:lstStyle/>
          <a:p>
            <a:fld id="{8C08062F-E083-4631-A010-A50ED976E5AC}" type="slidenum">
              <a:rPr lang="en-IN" smtClean="0"/>
              <a:t>‹#›</a:t>
            </a:fld>
            <a:endParaRPr lang="en-IN"/>
          </a:p>
        </p:txBody>
      </p:sp>
    </p:spTree>
    <p:extLst>
      <p:ext uri="{BB962C8B-B14F-4D97-AF65-F5344CB8AC3E}">
        <p14:creationId xmlns:p14="http://schemas.microsoft.com/office/powerpoint/2010/main" val="3430901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522F8-76CE-AF40-D244-2F556B0042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A51EE23-344D-DDA0-DFFD-8B1CBCD6D5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EDFA9FC-BFFE-8E98-9D31-8B290D8A64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878BA9-8F40-2C80-7E56-0FF85713B747}"/>
              </a:ext>
            </a:extLst>
          </p:cNvPr>
          <p:cNvSpPr>
            <a:spLocks noGrp="1"/>
          </p:cNvSpPr>
          <p:nvPr>
            <p:ph type="dt" sz="half" idx="10"/>
          </p:nvPr>
        </p:nvSpPr>
        <p:spPr/>
        <p:txBody>
          <a:bodyPr/>
          <a:lstStyle/>
          <a:p>
            <a:fld id="{A298C13F-C621-4EE4-BE50-3B8B7BF01E8F}" type="datetimeFigureOut">
              <a:rPr lang="en-IN" smtClean="0"/>
              <a:t>07-01-2026</a:t>
            </a:fld>
            <a:endParaRPr lang="en-IN"/>
          </a:p>
        </p:txBody>
      </p:sp>
      <p:sp>
        <p:nvSpPr>
          <p:cNvPr id="6" name="Footer Placeholder 5">
            <a:extLst>
              <a:ext uri="{FF2B5EF4-FFF2-40B4-BE49-F238E27FC236}">
                <a16:creationId xmlns:a16="http://schemas.microsoft.com/office/drawing/2014/main" id="{4CD74A4D-58E7-88E7-1E3D-753A3E586A0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458AE5-A843-328D-2DAC-EDECF257800B}"/>
              </a:ext>
            </a:extLst>
          </p:cNvPr>
          <p:cNvSpPr>
            <a:spLocks noGrp="1"/>
          </p:cNvSpPr>
          <p:nvPr>
            <p:ph type="sldNum" sz="quarter" idx="12"/>
          </p:nvPr>
        </p:nvSpPr>
        <p:spPr/>
        <p:txBody>
          <a:bodyPr/>
          <a:lstStyle/>
          <a:p>
            <a:fld id="{8C08062F-E083-4631-A010-A50ED976E5AC}" type="slidenum">
              <a:rPr lang="en-IN" smtClean="0"/>
              <a:t>‹#›</a:t>
            </a:fld>
            <a:endParaRPr lang="en-IN"/>
          </a:p>
        </p:txBody>
      </p:sp>
    </p:spTree>
    <p:extLst>
      <p:ext uri="{BB962C8B-B14F-4D97-AF65-F5344CB8AC3E}">
        <p14:creationId xmlns:p14="http://schemas.microsoft.com/office/powerpoint/2010/main" val="31566704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9C0B2-79BC-ED10-5C8D-62363C3FD0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74834B8-4B03-D558-5ED4-E99FEEC5916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EC7E6B2-136D-82CC-2AC6-550B8591D9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983A53-1AC4-03CA-45BE-D54076280F19}"/>
              </a:ext>
            </a:extLst>
          </p:cNvPr>
          <p:cNvSpPr>
            <a:spLocks noGrp="1"/>
          </p:cNvSpPr>
          <p:nvPr>
            <p:ph type="dt" sz="half" idx="10"/>
          </p:nvPr>
        </p:nvSpPr>
        <p:spPr/>
        <p:txBody>
          <a:bodyPr/>
          <a:lstStyle/>
          <a:p>
            <a:fld id="{A298C13F-C621-4EE4-BE50-3B8B7BF01E8F}" type="datetimeFigureOut">
              <a:rPr lang="en-IN" smtClean="0"/>
              <a:t>07-01-2026</a:t>
            </a:fld>
            <a:endParaRPr lang="en-IN"/>
          </a:p>
        </p:txBody>
      </p:sp>
      <p:sp>
        <p:nvSpPr>
          <p:cNvPr id="6" name="Footer Placeholder 5">
            <a:extLst>
              <a:ext uri="{FF2B5EF4-FFF2-40B4-BE49-F238E27FC236}">
                <a16:creationId xmlns:a16="http://schemas.microsoft.com/office/drawing/2014/main" id="{5F22EE42-6906-A2A8-2137-3C2628B5B2A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61761E2-571F-8FB6-9ED2-41EAC8CEF66D}"/>
              </a:ext>
            </a:extLst>
          </p:cNvPr>
          <p:cNvSpPr>
            <a:spLocks noGrp="1"/>
          </p:cNvSpPr>
          <p:nvPr>
            <p:ph type="sldNum" sz="quarter" idx="12"/>
          </p:nvPr>
        </p:nvSpPr>
        <p:spPr/>
        <p:txBody>
          <a:bodyPr/>
          <a:lstStyle/>
          <a:p>
            <a:fld id="{8C08062F-E083-4631-A010-A50ED976E5AC}" type="slidenum">
              <a:rPr lang="en-IN" smtClean="0"/>
              <a:t>‹#›</a:t>
            </a:fld>
            <a:endParaRPr lang="en-IN"/>
          </a:p>
        </p:txBody>
      </p:sp>
    </p:spTree>
    <p:extLst>
      <p:ext uri="{BB962C8B-B14F-4D97-AF65-F5344CB8AC3E}">
        <p14:creationId xmlns:p14="http://schemas.microsoft.com/office/powerpoint/2010/main" val="40264047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A4A70-EBFC-43C6-8D3D-74B59622EA1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03B4147-4AC7-062D-620F-66D9870D69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6B6EDB-84C4-4775-E2FD-D1E4B0A5C94C}"/>
              </a:ext>
            </a:extLst>
          </p:cNvPr>
          <p:cNvSpPr>
            <a:spLocks noGrp="1"/>
          </p:cNvSpPr>
          <p:nvPr>
            <p:ph type="dt" sz="half" idx="10"/>
          </p:nvPr>
        </p:nvSpPr>
        <p:spPr/>
        <p:txBody>
          <a:bodyPr/>
          <a:lstStyle/>
          <a:p>
            <a:fld id="{A298C13F-C621-4EE4-BE50-3B8B7BF01E8F}" type="datetimeFigureOut">
              <a:rPr lang="en-IN" smtClean="0"/>
              <a:t>07-01-2026</a:t>
            </a:fld>
            <a:endParaRPr lang="en-IN"/>
          </a:p>
        </p:txBody>
      </p:sp>
      <p:sp>
        <p:nvSpPr>
          <p:cNvPr id="5" name="Footer Placeholder 4">
            <a:extLst>
              <a:ext uri="{FF2B5EF4-FFF2-40B4-BE49-F238E27FC236}">
                <a16:creationId xmlns:a16="http://schemas.microsoft.com/office/drawing/2014/main" id="{4B85D3D5-C8AE-E53F-C5DA-66EE0092BD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F05557-2DC7-3F05-EA69-5052D399D9DC}"/>
              </a:ext>
            </a:extLst>
          </p:cNvPr>
          <p:cNvSpPr>
            <a:spLocks noGrp="1"/>
          </p:cNvSpPr>
          <p:nvPr>
            <p:ph type="sldNum" sz="quarter" idx="12"/>
          </p:nvPr>
        </p:nvSpPr>
        <p:spPr/>
        <p:txBody>
          <a:bodyPr/>
          <a:lstStyle/>
          <a:p>
            <a:fld id="{8C08062F-E083-4631-A010-A50ED976E5AC}" type="slidenum">
              <a:rPr lang="en-IN" smtClean="0"/>
              <a:t>‹#›</a:t>
            </a:fld>
            <a:endParaRPr lang="en-IN"/>
          </a:p>
        </p:txBody>
      </p:sp>
    </p:spTree>
    <p:extLst>
      <p:ext uri="{BB962C8B-B14F-4D97-AF65-F5344CB8AC3E}">
        <p14:creationId xmlns:p14="http://schemas.microsoft.com/office/powerpoint/2010/main" val="41439496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413312-7BE4-FD63-62DB-8AAE1F684DE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E39735E-90AC-B019-A36A-7D576223858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3AD1201-8297-5064-C909-85EA263056F5}"/>
              </a:ext>
            </a:extLst>
          </p:cNvPr>
          <p:cNvSpPr>
            <a:spLocks noGrp="1"/>
          </p:cNvSpPr>
          <p:nvPr>
            <p:ph type="dt" sz="half" idx="10"/>
          </p:nvPr>
        </p:nvSpPr>
        <p:spPr/>
        <p:txBody>
          <a:bodyPr/>
          <a:lstStyle/>
          <a:p>
            <a:fld id="{A298C13F-C621-4EE4-BE50-3B8B7BF01E8F}" type="datetimeFigureOut">
              <a:rPr lang="en-IN" smtClean="0"/>
              <a:t>07-01-2026</a:t>
            </a:fld>
            <a:endParaRPr lang="en-IN"/>
          </a:p>
        </p:txBody>
      </p:sp>
      <p:sp>
        <p:nvSpPr>
          <p:cNvPr id="5" name="Footer Placeholder 4">
            <a:extLst>
              <a:ext uri="{FF2B5EF4-FFF2-40B4-BE49-F238E27FC236}">
                <a16:creationId xmlns:a16="http://schemas.microsoft.com/office/drawing/2014/main" id="{7E52C1C4-150A-3E98-3382-1EB0188986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F5E77E-26C4-9F34-6C71-B07B7CB94C5C}"/>
              </a:ext>
            </a:extLst>
          </p:cNvPr>
          <p:cNvSpPr>
            <a:spLocks noGrp="1"/>
          </p:cNvSpPr>
          <p:nvPr>
            <p:ph type="sldNum" sz="quarter" idx="12"/>
          </p:nvPr>
        </p:nvSpPr>
        <p:spPr/>
        <p:txBody>
          <a:bodyPr/>
          <a:lstStyle/>
          <a:p>
            <a:fld id="{8C08062F-E083-4631-A010-A50ED976E5AC}" type="slidenum">
              <a:rPr lang="en-IN" smtClean="0"/>
              <a:t>‹#›</a:t>
            </a:fld>
            <a:endParaRPr lang="en-IN"/>
          </a:p>
        </p:txBody>
      </p:sp>
    </p:spTree>
    <p:extLst>
      <p:ext uri="{BB962C8B-B14F-4D97-AF65-F5344CB8AC3E}">
        <p14:creationId xmlns:p14="http://schemas.microsoft.com/office/powerpoint/2010/main" val="7447929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347F7F-FC21-7806-64C8-20C2919321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08D339-83F4-C4D5-6B16-6186F0D2ED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789515-A60C-69C1-FB8A-01941E7084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98C13F-C621-4EE4-BE50-3B8B7BF01E8F}" type="datetimeFigureOut">
              <a:rPr lang="en-IN" smtClean="0"/>
              <a:t>07-01-2026</a:t>
            </a:fld>
            <a:endParaRPr lang="en-IN"/>
          </a:p>
        </p:txBody>
      </p:sp>
      <p:sp>
        <p:nvSpPr>
          <p:cNvPr id="5" name="Footer Placeholder 4">
            <a:extLst>
              <a:ext uri="{FF2B5EF4-FFF2-40B4-BE49-F238E27FC236}">
                <a16:creationId xmlns:a16="http://schemas.microsoft.com/office/drawing/2014/main" id="{0E3A96BA-2E86-4B5D-041B-3B92FF4310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EAA82E0-9AC6-3ABA-4F03-42BA8E5EE0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08062F-E083-4631-A010-A50ED976E5AC}" type="slidenum">
              <a:rPr lang="en-IN" smtClean="0"/>
              <a:t>‹#›</a:t>
            </a:fld>
            <a:endParaRPr lang="en-IN"/>
          </a:p>
        </p:txBody>
      </p:sp>
    </p:spTree>
    <p:extLst>
      <p:ext uri="{BB962C8B-B14F-4D97-AF65-F5344CB8AC3E}">
        <p14:creationId xmlns:p14="http://schemas.microsoft.com/office/powerpoint/2010/main" val="26416151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microsoft.com/office/2007/relationships/hdphoto" Target="../media/hdphoto1.wdp"/><Relationship Id="rId4" Type="http://schemas.openxmlformats.org/officeDocument/2006/relationships/image" Target="../media/image2.jpe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6.png"/><Relationship Id="rId5" Type="http://schemas.openxmlformats.org/officeDocument/2006/relationships/image" Target="../media/image7.svg"/><Relationship Id="rId6" Type="http://schemas.openxmlformats.org/officeDocument/2006/relationships/image" Target="../media/image8.png"/><Relationship Id="rId7" Type="http://schemas.openxmlformats.org/officeDocument/2006/relationships/image" Target="../media/image9.svg"/><Relationship Id="rId8" Type="http://schemas.openxmlformats.org/officeDocument/2006/relationships/image" Target="../media/image10.png"/><Relationship Id="rId9" Type="http://schemas.openxmlformats.org/officeDocument/2006/relationships/image" Target="../media/image11.svg"/><Relationship Id="rId10" Type="http://schemas.openxmlformats.org/officeDocument/2006/relationships/image" Target="../media/image2.jpeg"/><Relationship Id="rId11"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6.png"/><Relationship Id="rId5" Type="http://schemas.openxmlformats.org/officeDocument/2006/relationships/image" Target="../media/image7.svg"/><Relationship Id="rId6" Type="http://schemas.openxmlformats.org/officeDocument/2006/relationships/image" Target="../media/image8.png"/><Relationship Id="rId7" Type="http://schemas.openxmlformats.org/officeDocument/2006/relationships/image" Target="../media/image9.svg"/><Relationship Id="rId8" Type="http://schemas.openxmlformats.org/officeDocument/2006/relationships/image" Target="../media/image10.png"/><Relationship Id="rId9" Type="http://schemas.openxmlformats.org/officeDocument/2006/relationships/image" Target="../media/image11.svg"/><Relationship Id="rId10" Type="http://schemas.openxmlformats.org/officeDocument/2006/relationships/image" Target="../media/image2.jpeg"/><Relationship Id="rId11"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6.png"/><Relationship Id="rId5" Type="http://schemas.openxmlformats.org/officeDocument/2006/relationships/image" Target="../media/image7.svg"/><Relationship Id="rId6" Type="http://schemas.openxmlformats.org/officeDocument/2006/relationships/image" Target="../media/image8.png"/><Relationship Id="rId7" Type="http://schemas.openxmlformats.org/officeDocument/2006/relationships/image" Target="../media/image9.svg"/><Relationship Id="rId8" Type="http://schemas.openxmlformats.org/officeDocument/2006/relationships/image" Target="../media/image10.png"/><Relationship Id="rId9" Type="http://schemas.openxmlformats.org/officeDocument/2006/relationships/image" Target="../media/image11.svg"/><Relationship Id="rId10" Type="http://schemas.openxmlformats.org/officeDocument/2006/relationships/image" Target="../media/image2.jpeg"/><Relationship Id="rId11"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6.png"/><Relationship Id="rId6" Type="http://schemas.openxmlformats.org/officeDocument/2006/relationships/image" Target="../media/image7.svg"/><Relationship Id="rId7" Type="http://schemas.openxmlformats.org/officeDocument/2006/relationships/image" Target="../media/image8.png"/><Relationship Id="rId8" Type="http://schemas.openxmlformats.org/officeDocument/2006/relationships/image" Target="../media/image9.svg"/><Relationship Id="rId9" Type="http://schemas.openxmlformats.org/officeDocument/2006/relationships/image" Target="../media/image10.png"/><Relationship Id="rId10" Type="http://schemas.openxmlformats.org/officeDocument/2006/relationships/image" Target="../media/image11.svg"/><Relationship Id="rId11" Type="http://schemas.openxmlformats.org/officeDocument/2006/relationships/image" Target="../media/image2.jpeg"/><Relationship Id="rId1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6.png"/><Relationship Id="rId5" Type="http://schemas.openxmlformats.org/officeDocument/2006/relationships/image" Target="../media/image7.svg"/><Relationship Id="rId6" Type="http://schemas.openxmlformats.org/officeDocument/2006/relationships/image" Target="../media/image8.png"/><Relationship Id="rId7" Type="http://schemas.openxmlformats.org/officeDocument/2006/relationships/image" Target="../media/image9.svg"/><Relationship Id="rId8" Type="http://schemas.openxmlformats.org/officeDocument/2006/relationships/image" Target="../media/image10.png"/><Relationship Id="rId9" Type="http://schemas.openxmlformats.org/officeDocument/2006/relationships/image" Target="../media/image11.svg"/><Relationship Id="rId10" Type="http://schemas.openxmlformats.org/officeDocument/2006/relationships/image" Target="../media/image2.jpeg"/><Relationship Id="rId11"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jpeg"/><Relationship Id="rId4" Type="http://schemas.openxmlformats.org/officeDocument/2006/relationships/image" Target="../media/image10.png"/><Relationship Id="rId5" Type="http://schemas.openxmlformats.org/officeDocument/2006/relationships/image" Target="../media/image11.svg"/><Relationship Id="rId6" Type="http://schemas.openxmlformats.org/officeDocument/2006/relationships/image" Target="../media/image8.png"/><Relationship Id="rId7" Type="http://schemas.openxmlformats.org/officeDocument/2006/relationships/image" Target="../media/image9.svg"/><Relationship Id="rId8" Type="http://schemas.openxmlformats.org/officeDocument/2006/relationships/image" Target="../media/image6.png"/><Relationship Id="rId9" Type="http://schemas.openxmlformats.org/officeDocument/2006/relationships/image" Target="../media/image7.svg"/><Relationship Id="rId10" Type="http://schemas.openxmlformats.org/officeDocument/2006/relationships/image" Target="../media/image4.png"/><Relationship Id="rId11" Type="http://schemas.openxmlformats.org/officeDocument/2006/relationships/image" Target="../media/image5.svg"/><Relationship Id="rId1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6.png"/><Relationship Id="rId5" Type="http://schemas.openxmlformats.org/officeDocument/2006/relationships/image" Target="../media/image7.svg"/><Relationship Id="rId6" Type="http://schemas.openxmlformats.org/officeDocument/2006/relationships/image" Target="../media/image8.png"/><Relationship Id="rId7" Type="http://schemas.openxmlformats.org/officeDocument/2006/relationships/image" Target="../media/image9.svg"/><Relationship Id="rId8" Type="http://schemas.openxmlformats.org/officeDocument/2006/relationships/image" Target="../media/image10.png"/><Relationship Id="rId9" Type="http://schemas.openxmlformats.org/officeDocument/2006/relationships/image" Target="../media/image11.svg"/><Relationship Id="rId10" Type="http://schemas.openxmlformats.org/officeDocument/2006/relationships/image" Target="../media/image2.jpeg"/><Relationship Id="rId11"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6.png"/><Relationship Id="rId6" Type="http://schemas.openxmlformats.org/officeDocument/2006/relationships/image" Target="../media/image7.svg"/><Relationship Id="rId7" Type="http://schemas.openxmlformats.org/officeDocument/2006/relationships/image" Target="../media/image8.png"/><Relationship Id="rId8" Type="http://schemas.openxmlformats.org/officeDocument/2006/relationships/image" Target="../media/image9.svg"/><Relationship Id="rId9" Type="http://schemas.openxmlformats.org/officeDocument/2006/relationships/image" Target="../media/image10.png"/><Relationship Id="rId10" Type="http://schemas.openxmlformats.org/officeDocument/2006/relationships/image" Target="../media/image11.svg"/><Relationship Id="rId11" Type="http://schemas.openxmlformats.org/officeDocument/2006/relationships/image" Target="../media/image2.jpeg"/><Relationship Id="rId1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6.png"/><Relationship Id="rId6" Type="http://schemas.openxmlformats.org/officeDocument/2006/relationships/image" Target="../media/image7.svg"/><Relationship Id="rId7" Type="http://schemas.openxmlformats.org/officeDocument/2006/relationships/image" Target="../media/image8.png"/><Relationship Id="rId8" Type="http://schemas.openxmlformats.org/officeDocument/2006/relationships/image" Target="../media/image9.svg"/><Relationship Id="rId9" Type="http://schemas.openxmlformats.org/officeDocument/2006/relationships/image" Target="../media/image10.png"/><Relationship Id="rId10" Type="http://schemas.openxmlformats.org/officeDocument/2006/relationships/image" Target="../media/image11.svg"/><Relationship Id="rId11" Type="http://schemas.openxmlformats.org/officeDocument/2006/relationships/image" Target="../media/image2.jpeg"/><Relationship Id="rId1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6.png"/><Relationship Id="rId6" Type="http://schemas.openxmlformats.org/officeDocument/2006/relationships/image" Target="../media/image7.svg"/><Relationship Id="rId7" Type="http://schemas.openxmlformats.org/officeDocument/2006/relationships/image" Target="../media/image8.png"/><Relationship Id="rId8" Type="http://schemas.openxmlformats.org/officeDocument/2006/relationships/image" Target="../media/image9.svg"/><Relationship Id="rId9" Type="http://schemas.openxmlformats.org/officeDocument/2006/relationships/image" Target="../media/image10.png"/><Relationship Id="rId10" Type="http://schemas.openxmlformats.org/officeDocument/2006/relationships/image" Target="../media/image11.svg"/><Relationship Id="rId11" Type="http://schemas.openxmlformats.org/officeDocument/2006/relationships/image" Target="../media/image2.jpeg"/><Relationship Id="rId12" Type="http://schemas.openxmlformats.org/officeDocument/2006/relationships/image" Target="../media/image3.png"/><Relationship Id="rId1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6.png"/><Relationship Id="rId6" Type="http://schemas.openxmlformats.org/officeDocument/2006/relationships/image" Target="../media/image7.svg"/><Relationship Id="rId7" Type="http://schemas.openxmlformats.org/officeDocument/2006/relationships/image" Target="../media/image8.png"/><Relationship Id="rId8" Type="http://schemas.openxmlformats.org/officeDocument/2006/relationships/image" Target="../media/image9.svg"/><Relationship Id="rId9" Type="http://schemas.openxmlformats.org/officeDocument/2006/relationships/image" Target="../media/image10.png"/><Relationship Id="rId10" Type="http://schemas.openxmlformats.org/officeDocument/2006/relationships/image" Target="../media/image11.svg"/><Relationship Id="rId11" Type="http://schemas.openxmlformats.org/officeDocument/2006/relationships/image" Target="../media/image2.jpeg"/><Relationship Id="rId1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6.png"/><Relationship Id="rId6" Type="http://schemas.openxmlformats.org/officeDocument/2006/relationships/image" Target="../media/image7.svg"/><Relationship Id="rId7" Type="http://schemas.openxmlformats.org/officeDocument/2006/relationships/image" Target="../media/image8.png"/><Relationship Id="rId8" Type="http://schemas.openxmlformats.org/officeDocument/2006/relationships/image" Target="../media/image9.svg"/><Relationship Id="rId9" Type="http://schemas.openxmlformats.org/officeDocument/2006/relationships/image" Target="../media/image10.png"/><Relationship Id="rId10" Type="http://schemas.openxmlformats.org/officeDocument/2006/relationships/image" Target="../media/image11.svg"/><Relationship Id="rId11" Type="http://schemas.openxmlformats.org/officeDocument/2006/relationships/image" Target="../media/image2.jpeg"/><Relationship Id="rId12" Type="http://schemas.openxmlformats.org/officeDocument/2006/relationships/image" Target="../media/image3.png"/><Relationship Id="rId13" Type="http://schemas.openxmlformats.org/officeDocument/2006/relationships/chart" Target="../charts/char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6.png"/><Relationship Id="rId6" Type="http://schemas.openxmlformats.org/officeDocument/2006/relationships/image" Target="../media/image7.svg"/><Relationship Id="rId7" Type="http://schemas.openxmlformats.org/officeDocument/2006/relationships/image" Target="../media/image8.png"/><Relationship Id="rId8" Type="http://schemas.openxmlformats.org/officeDocument/2006/relationships/image" Target="../media/image9.svg"/><Relationship Id="rId9" Type="http://schemas.openxmlformats.org/officeDocument/2006/relationships/image" Target="../media/image10.png"/><Relationship Id="rId10" Type="http://schemas.openxmlformats.org/officeDocument/2006/relationships/image" Target="../media/image11.svg"/><Relationship Id="rId11" Type="http://schemas.openxmlformats.org/officeDocument/2006/relationships/image" Target="../media/image2.jpeg"/><Relationship Id="rId12" Type="http://schemas.openxmlformats.org/officeDocument/2006/relationships/image" Target="../media/image3.png"/><Relationship Id="rId13" Type="http://schemas.openxmlformats.org/officeDocument/2006/relationships/chart" Target="../charts/char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6.png"/><Relationship Id="rId6" Type="http://schemas.openxmlformats.org/officeDocument/2006/relationships/image" Target="../media/image7.svg"/><Relationship Id="rId7" Type="http://schemas.openxmlformats.org/officeDocument/2006/relationships/image" Target="../media/image8.png"/><Relationship Id="rId8" Type="http://schemas.openxmlformats.org/officeDocument/2006/relationships/image" Target="../media/image9.svg"/><Relationship Id="rId9" Type="http://schemas.openxmlformats.org/officeDocument/2006/relationships/image" Target="../media/image10.png"/><Relationship Id="rId10" Type="http://schemas.openxmlformats.org/officeDocument/2006/relationships/image" Target="../media/image11.svg"/><Relationship Id="rId11" Type="http://schemas.openxmlformats.org/officeDocument/2006/relationships/image" Target="../media/image2.jpeg"/><Relationship Id="rId12" Type="http://schemas.openxmlformats.org/officeDocument/2006/relationships/image" Target="../media/image3.png"/><Relationship Id="rId1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6.png"/><Relationship Id="rId6" Type="http://schemas.openxmlformats.org/officeDocument/2006/relationships/image" Target="../media/image7.svg"/><Relationship Id="rId7" Type="http://schemas.openxmlformats.org/officeDocument/2006/relationships/image" Target="../media/image8.png"/><Relationship Id="rId8" Type="http://schemas.openxmlformats.org/officeDocument/2006/relationships/image" Target="../media/image9.svg"/><Relationship Id="rId9" Type="http://schemas.openxmlformats.org/officeDocument/2006/relationships/image" Target="../media/image10.png"/><Relationship Id="rId10" Type="http://schemas.openxmlformats.org/officeDocument/2006/relationships/image" Target="../media/image11.svg"/><Relationship Id="rId11" Type="http://schemas.openxmlformats.org/officeDocument/2006/relationships/image" Target="../media/image2.jpeg"/><Relationship Id="rId12" Type="http://schemas.openxmlformats.org/officeDocument/2006/relationships/image" Target="../media/image3.png"/><Relationship Id="rId1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6.png"/><Relationship Id="rId6" Type="http://schemas.openxmlformats.org/officeDocument/2006/relationships/image" Target="../media/image7.svg"/><Relationship Id="rId7" Type="http://schemas.openxmlformats.org/officeDocument/2006/relationships/image" Target="../media/image8.png"/><Relationship Id="rId8" Type="http://schemas.openxmlformats.org/officeDocument/2006/relationships/image" Target="../media/image9.svg"/><Relationship Id="rId9" Type="http://schemas.openxmlformats.org/officeDocument/2006/relationships/image" Target="../media/image10.png"/><Relationship Id="rId10" Type="http://schemas.openxmlformats.org/officeDocument/2006/relationships/image" Target="../media/image11.svg"/><Relationship Id="rId11" Type="http://schemas.openxmlformats.org/officeDocument/2006/relationships/image" Target="../media/image2.jpeg"/><Relationship Id="rId12" Type="http://schemas.openxmlformats.org/officeDocument/2006/relationships/image" Target="../media/image3.png"/><Relationship Id="rId13" Type="http://schemas.openxmlformats.org/officeDocument/2006/relationships/image" Target="../media/image15.png"/><Relationship Id="rId14" Type="http://schemas.openxmlformats.org/officeDocument/2006/relationships/image" Target="../media/image28.jpg"/><Relationship Id="rId15" Type="http://schemas.openxmlformats.org/officeDocument/2006/relationships/image" Target="../media/image2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6.png"/><Relationship Id="rId6" Type="http://schemas.openxmlformats.org/officeDocument/2006/relationships/image" Target="../media/image7.svg"/><Relationship Id="rId7" Type="http://schemas.openxmlformats.org/officeDocument/2006/relationships/image" Target="../media/image8.png"/><Relationship Id="rId8" Type="http://schemas.openxmlformats.org/officeDocument/2006/relationships/image" Target="../media/image9.svg"/><Relationship Id="rId9" Type="http://schemas.openxmlformats.org/officeDocument/2006/relationships/image" Target="../media/image10.png"/><Relationship Id="rId10" Type="http://schemas.openxmlformats.org/officeDocument/2006/relationships/image" Target="../media/image11.svg"/><Relationship Id="rId11" Type="http://schemas.openxmlformats.org/officeDocument/2006/relationships/image" Target="../media/image2.jpeg"/><Relationship Id="rId12" Type="http://schemas.openxmlformats.org/officeDocument/2006/relationships/image" Target="../media/image3.png"/><Relationship Id="rId1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6.png"/><Relationship Id="rId6" Type="http://schemas.openxmlformats.org/officeDocument/2006/relationships/image" Target="../media/image7.svg"/><Relationship Id="rId7" Type="http://schemas.openxmlformats.org/officeDocument/2006/relationships/image" Target="../media/image8.png"/><Relationship Id="rId8" Type="http://schemas.openxmlformats.org/officeDocument/2006/relationships/image" Target="../media/image9.svg"/><Relationship Id="rId9" Type="http://schemas.openxmlformats.org/officeDocument/2006/relationships/image" Target="../media/image10.png"/><Relationship Id="rId10" Type="http://schemas.openxmlformats.org/officeDocument/2006/relationships/image" Target="../media/image11.svg"/><Relationship Id="rId11" Type="http://schemas.openxmlformats.org/officeDocument/2006/relationships/image" Target="../media/image2.jpeg"/><Relationship Id="rId12" Type="http://schemas.openxmlformats.org/officeDocument/2006/relationships/image" Target="../media/image3.png"/><Relationship Id="rId1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6.png"/><Relationship Id="rId6" Type="http://schemas.openxmlformats.org/officeDocument/2006/relationships/image" Target="../media/image7.svg"/><Relationship Id="rId7" Type="http://schemas.openxmlformats.org/officeDocument/2006/relationships/image" Target="../media/image8.png"/><Relationship Id="rId8" Type="http://schemas.openxmlformats.org/officeDocument/2006/relationships/image" Target="../media/image9.svg"/><Relationship Id="rId9" Type="http://schemas.openxmlformats.org/officeDocument/2006/relationships/image" Target="../media/image10.png"/><Relationship Id="rId10" Type="http://schemas.openxmlformats.org/officeDocument/2006/relationships/image" Target="../media/image11.svg"/><Relationship Id="rId11" Type="http://schemas.openxmlformats.org/officeDocument/2006/relationships/image" Target="../media/image2.jpeg"/><Relationship Id="rId12" Type="http://schemas.openxmlformats.org/officeDocument/2006/relationships/image" Target="../media/image3.png"/><Relationship Id="rId13" Type="http://schemas.openxmlformats.org/officeDocument/2006/relationships/image" Target="../media/image18.jpeg"/><Relationship Id="rId14" Type="http://schemas.openxmlformats.org/officeDocument/2006/relationships/image" Target="../media/image19.jpeg"/><Relationship Id="rId15" Type="http://schemas.openxmlformats.org/officeDocument/2006/relationships/chart" Target="../charts/char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6.png"/><Relationship Id="rId6" Type="http://schemas.openxmlformats.org/officeDocument/2006/relationships/image" Target="../media/image7.svg"/><Relationship Id="rId7" Type="http://schemas.openxmlformats.org/officeDocument/2006/relationships/image" Target="../media/image8.png"/><Relationship Id="rId8" Type="http://schemas.openxmlformats.org/officeDocument/2006/relationships/image" Target="../media/image9.svg"/><Relationship Id="rId9" Type="http://schemas.openxmlformats.org/officeDocument/2006/relationships/image" Target="../media/image10.png"/><Relationship Id="rId10" Type="http://schemas.openxmlformats.org/officeDocument/2006/relationships/image" Target="../media/image11.svg"/><Relationship Id="rId11" Type="http://schemas.openxmlformats.org/officeDocument/2006/relationships/image" Target="../media/image2.jpeg"/><Relationship Id="rId12" Type="http://schemas.openxmlformats.org/officeDocument/2006/relationships/image" Target="../media/image3.png"/><Relationship Id="rId13" Type="http://schemas.openxmlformats.org/officeDocument/2006/relationships/image" Target="../media/image20.jpeg"/><Relationship Id="rId14" Type="http://schemas.openxmlformats.org/officeDocument/2006/relationships/image" Target="../media/image21.jpeg"/><Relationship Id="rId15" Type="http://schemas.openxmlformats.org/officeDocument/2006/relationships/image" Target="../media/image30.jpg"/><Relationship Id="rId16" Type="http://schemas.openxmlformats.org/officeDocument/2006/relationships/image" Target="../media/image3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6.png"/><Relationship Id="rId6" Type="http://schemas.openxmlformats.org/officeDocument/2006/relationships/image" Target="../media/image7.svg"/><Relationship Id="rId7" Type="http://schemas.openxmlformats.org/officeDocument/2006/relationships/image" Target="../media/image8.png"/><Relationship Id="rId8" Type="http://schemas.openxmlformats.org/officeDocument/2006/relationships/image" Target="../media/image9.svg"/><Relationship Id="rId9" Type="http://schemas.openxmlformats.org/officeDocument/2006/relationships/image" Target="../media/image10.png"/><Relationship Id="rId10" Type="http://schemas.openxmlformats.org/officeDocument/2006/relationships/image" Target="../media/image11.svg"/><Relationship Id="rId11" Type="http://schemas.openxmlformats.org/officeDocument/2006/relationships/image" Target="../media/image2.jpeg"/><Relationship Id="rId12" Type="http://schemas.openxmlformats.org/officeDocument/2006/relationships/image" Target="../media/image3.png"/><Relationship Id="rId13" Type="http://schemas.openxmlformats.org/officeDocument/2006/relationships/image" Target="../media/image22.jpeg"/><Relationship Id="rId14" Type="http://schemas.openxmlformats.org/officeDocument/2006/relationships/image" Target="../media/image23.jpeg"/><Relationship Id="rId15" Type="http://schemas.openxmlformats.org/officeDocument/2006/relationships/image" Target="../media/image32.jpg"/><Relationship Id="rId16" Type="http://schemas.openxmlformats.org/officeDocument/2006/relationships/image" Target="../media/image3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6.png"/><Relationship Id="rId6" Type="http://schemas.openxmlformats.org/officeDocument/2006/relationships/image" Target="../media/image7.svg"/><Relationship Id="rId7" Type="http://schemas.openxmlformats.org/officeDocument/2006/relationships/image" Target="../media/image8.png"/><Relationship Id="rId8" Type="http://schemas.openxmlformats.org/officeDocument/2006/relationships/image" Target="../media/image9.svg"/><Relationship Id="rId9" Type="http://schemas.openxmlformats.org/officeDocument/2006/relationships/image" Target="../media/image10.png"/><Relationship Id="rId10" Type="http://schemas.openxmlformats.org/officeDocument/2006/relationships/image" Target="../media/image11.svg"/><Relationship Id="rId11" Type="http://schemas.openxmlformats.org/officeDocument/2006/relationships/image" Target="../media/image2.jpeg"/><Relationship Id="rId12" Type="http://schemas.openxmlformats.org/officeDocument/2006/relationships/image" Target="../media/image3.png"/><Relationship Id="rId13" Type="http://schemas.openxmlformats.org/officeDocument/2006/relationships/image" Target="../media/image24.jpeg"/><Relationship Id="rId14" Type="http://schemas.openxmlformats.org/officeDocument/2006/relationships/image" Target="../media/image25.jpeg"/><Relationship Id="rId15" Type="http://schemas.openxmlformats.org/officeDocument/2006/relationships/chart" Target="../charts/char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6.png"/><Relationship Id="rId6" Type="http://schemas.openxmlformats.org/officeDocument/2006/relationships/image" Target="../media/image7.svg"/><Relationship Id="rId7" Type="http://schemas.openxmlformats.org/officeDocument/2006/relationships/image" Target="../media/image8.png"/><Relationship Id="rId8" Type="http://schemas.openxmlformats.org/officeDocument/2006/relationships/image" Target="../media/image9.svg"/><Relationship Id="rId9" Type="http://schemas.openxmlformats.org/officeDocument/2006/relationships/image" Target="../media/image10.png"/><Relationship Id="rId10" Type="http://schemas.openxmlformats.org/officeDocument/2006/relationships/image" Target="../media/image11.svg"/><Relationship Id="rId11" Type="http://schemas.openxmlformats.org/officeDocument/2006/relationships/image" Target="../media/image2.jpeg"/><Relationship Id="rId12" Type="http://schemas.openxmlformats.org/officeDocument/2006/relationships/image" Target="../media/image3.png"/><Relationship Id="rId13" Type="http://schemas.openxmlformats.org/officeDocument/2006/relationships/image" Target="../media/image26.png"/><Relationship Id="rId14" Type="http://schemas.openxmlformats.org/officeDocument/2006/relationships/image" Target="../media/image27.jpeg"/><Relationship Id="rId15" Type="http://schemas.openxmlformats.org/officeDocument/2006/relationships/chart" Target="../charts/char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6.png"/><Relationship Id="rId6" Type="http://schemas.openxmlformats.org/officeDocument/2006/relationships/image" Target="../media/image7.svg"/><Relationship Id="rId7" Type="http://schemas.openxmlformats.org/officeDocument/2006/relationships/image" Target="../media/image8.png"/><Relationship Id="rId8" Type="http://schemas.openxmlformats.org/officeDocument/2006/relationships/image" Target="../media/image9.svg"/><Relationship Id="rId9" Type="http://schemas.openxmlformats.org/officeDocument/2006/relationships/image" Target="../media/image10.png"/><Relationship Id="rId10" Type="http://schemas.openxmlformats.org/officeDocument/2006/relationships/image" Target="../media/image11.svg"/><Relationship Id="rId11" Type="http://schemas.openxmlformats.org/officeDocument/2006/relationships/image" Target="../media/image2.jpeg"/><Relationship Id="rId12"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6.png"/><Relationship Id="rId6" Type="http://schemas.openxmlformats.org/officeDocument/2006/relationships/image" Target="../media/image7.svg"/><Relationship Id="rId7" Type="http://schemas.openxmlformats.org/officeDocument/2006/relationships/image" Target="../media/image8.png"/><Relationship Id="rId8" Type="http://schemas.openxmlformats.org/officeDocument/2006/relationships/image" Target="../media/image9.svg"/><Relationship Id="rId9" Type="http://schemas.openxmlformats.org/officeDocument/2006/relationships/image" Target="../media/image10.png"/><Relationship Id="rId10" Type="http://schemas.openxmlformats.org/officeDocument/2006/relationships/image" Target="../media/image11.svg"/><Relationship Id="rId11" Type="http://schemas.openxmlformats.org/officeDocument/2006/relationships/image" Target="../media/image2.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6.png"/><Relationship Id="rId6" Type="http://schemas.openxmlformats.org/officeDocument/2006/relationships/image" Target="../media/image7.svg"/><Relationship Id="rId7" Type="http://schemas.openxmlformats.org/officeDocument/2006/relationships/image" Target="../media/image8.png"/><Relationship Id="rId8" Type="http://schemas.openxmlformats.org/officeDocument/2006/relationships/image" Target="../media/image9.svg"/><Relationship Id="rId9" Type="http://schemas.openxmlformats.org/officeDocument/2006/relationships/image" Target="../media/image10.png"/><Relationship Id="rId10" Type="http://schemas.openxmlformats.org/officeDocument/2006/relationships/image" Target="../media/image11.svg"/><Relationship Id="rId11" Type="http://schemas.openxmlformats.org/officeDocument/2006/relationships/image" Target="../media/image2.jpeg"/><Relationship Id="rId12"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6.png"/><Relationship Id="rId6" Type="http://schemas.openxmlformats.org/officeDocument/2006/relationships/image" Target="../media/image7.svg"/><Relationship Id="rId7" Type="http://schemas.openxmlformats.org/officeDocument/2006/relationships/image" Target="../media/image8.png"/><Relationship Id="rId8" Type="http://schemas.openxmlformats.org/officeDocument/2006/relationships/image" Target="../media/image9.svg"/><Relationship Id="rId9" Type="http://schemas.openxmlformats.org/officeDocument/2006/relationships/image" Target="../media/image10.png"/><Relationship Id="rId10" Type="http://schemas.openxmlformats.org/officeDocument/2006/relationships/image" Target="../media/image11.svg"/><Relationship Id="rId1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bout VKIT – VIVEKANANDA INSTITUTE OF TECHNOLOGY">
            <a:extLst>
              <a:ext uri="{FF2B5EF4-FFF2-40B4-BE49-F238E27FC236}">
                <a16:creationId xmlns:a16="http://schemas.microsoft.com/office/drawing/2014/main" id="{9FB38AA3-9CAB-DBE9-1B5C-B4738F0388EB}"/>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artisticBlur/>
                    </a14:imgEffect>
                    <a14:imgEffect>
                      <a14:brightnessContrast bright="-3000" contrast="5000"/>
                    </a14:imgEffect>
                  </a14:imgLayer>
                </a14:imgProps>
              </a:ext>
              <a:ext uri="{28A0092B-C50C-407E-A947-70E740481C1C}">
                <a14:useLocalDpi xmlns:a14="http://schemas.microsoft.com/office/drawing/2010/main" val="0"/>
              </a:ext>
            </a:extLst>
          </a:blip>
          <a:srcRect/>
          <a:stretch>
            <a:fillRect/>
          </a:stretch>
        </p:blipFill>
        <p:spPr bwMode="auto">
          <a:xfrm>
            <a:off x="0" y="937683"/>
            <a:ext cx="12192000" cy="4036100"/>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oup 12">
            <a:extLst>
              <a:ext uri="{FF2B5EF4-FFF2-40B4-BE49-F238E27FC236}">
                <a16:creationId xmlns:a16="http://schemas.microsoft.com/office/drawing/2014/main" id="{A3D34AE9-C431-D0F5-AA81-975A063666D7}"/>
              </a:ext>
            </a:extLst>
          </p:cNvPr>
          <p:cNvGrpSpPr/>
          <p:nvPr/>
        </p:nvGrpSpPr>
        <p:grpSpPr>
          <a:xfrm>
            <a:off x="0" y="6330922"/>
            <a:ext cx="12192000" cy="546100"/>
            <a:chOff x="0" y="0"/>
            <a:chExt cx="6186311" cy="277095"/>
          </a:xfrm>
          <a:solidFill>
            <a:srgbClr val="FFC000"/>
          </a:solidFill>
        </p:grpSpPr>
        <p:sp>
          <p:nvSpPr>
            <p:cNvPr id="9" name="Freeform 13">
              <a:extLst>
                <a:ext uri="{FF2B5EF4-FFF2-40B4-BE49-F238E27FC236}">
                  <a16:creationId xmlns:a16="http://schemas.microsoft.com/office/drawing/2014/main" id="{0893F74D-41F3-5C1C-F87B-55402CCCFD3D}"/>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sp>
        <p:nvSpPr>
          <p:cNvPr id="13" name="TextBox 19">
            <a:extLst>
              <a:ext uri="{FF2B5EF4-FFF2-40B4-BE49-F238E27FC236}">
                <a16:creationId xmlns:a16="http://schemas.microsoft.com/office/drawing/2014/main" id="{893249FB-85AE-C43E-97F8-FC10CEFCC51D}"/>
              </a:ext>
            </a:extLst>
          </p:cNvPr>
          <p:cNvSpPr txBox="1"/>
          <p:nvPr/>
        </p:nvSpPr>
        <p:spPr>
          <a:xfrm>
            <a:off x="4622392" y="6448425"/>
            <a:ext cx="2520941" cy="249043"/>
          </a:xfrm>
          <a:prstGeom prst="rect">
            <a:avLst/>
          </a:prstGeom>
        </p:spPr>
        <p:txBody>
          <a:bodyPr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sp>
        <p:nvSpPr>
          <p:cNvPr id="14" name="Content Placeholder 2">
            <a:extLst>
              <a:ext uri="{FF2B5EF4-FFF2-40B4-BE49-F238E27FC236}">
                <a16:creationId xmlns:a16="http://schemas.microsoft.com/office/drawing/2014/main" id="{C98027A9-03DF-3594-3C3C-1A87D049145E}"/>
              </a:ext>
            </a:extLst>
          </p:cNvPr>
          <p:cNvSpPr txBox="1"/>
          <p:nvPr/>
        </p:nvSpPr>
        <p:spPr>
          <a:xfrm>
            <a:off x="263241" y="1160151"/>
            <a:ext cx="11469440" cy="5009638"/>
          </a:xfrm>
          <a:prstGeom prst="rect">
            <a:avLst/>
          </a:prstGeom>
        </p:spPr>
        <p:txBody>
          <a:bodyPr>
            <a:normAutofit fontScale="97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3900" b="1" dirty="0">
              <a:solidFill>
                <a:srgbClr val="002060"/>
              </a:solidFill>
              <a:latin typeface="Times New Roman" panose="02020603050405020304" pitchFamily="18" charset="0"/>
              <a:cs typeface="Times New Roman" panose="02020603050405020304" pitchFamily="18" charset="0"/>
            </a:endParaRPr>
          </a:p>
          <a:p>
            <a:pPr marL="0" indent="0" algn="ctr">
              <a:buFont typeface="Arial" panose="020B0604020202020204" pitchFamily="34" charset="0"/>
              <a:buNone/>
            </a:pPr>
            <a:endParaRPr lang="en-IN" sz="3600" dirty="0">
              <a:solidFill>
                <a:srgbClr val="FF0000"/>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71A36A38-92BA-85F3-0881-6DB7EE60D775}"/>
              </a:ext>
            </a:extLst>
          </p:cNvPr>
          <p:cNvSpPr txBox="1"/>
          <p:nvPr/>
        </p:nvSpPr>
        <p:spPr>
          <a:xfrm>
            <a:off x="459319" y="1193933"/>
            <a:ext cx="11273362" cy="5314660"/>
          </a:xfrm>
          <a:prstGeom prst="rect">
            <a:avLst/>
          </a:prstGeom>
          <a:noFill/>
        </p:spPr>
        <p:txBody>
          <a:bodyPr wrap="square">
            <a:spAutoFit/>
          </a:bodyPr>
          <a:lstStyle/>
          <a:p>
            <a:pPr algn="ctr"/>
            <a:r>
              <a:rPr lang="en-US" sz="2400" b="1" dirty="0">
                <a:solidFill>
                  <a:srgbClr val="FF0000"/>
                </a:solidFill>
                <a:latin typeface="Times New Roman" panose="02020603050405020304" pitchFamily="18" charset="0"/>
                <a:cs typeface="Times New Roman" panose="02020603050405020304" pitchFamily="18" charset="0"/>
              </a:rPr>
              <a:t>DEPARTMENT OF INFORMATION SCIENCE AND ENGINEERING</a:t>
            </a:r>
          </a:p>
          <a:p>
            <a:pPr algn="ctr"/>
            <a:endParaRPr lang="en-US" sz="2400" b="1" dirty="0">
              <a:solidFill>
                <a:srgbClr val="FF0000"/>
              </a:solidFill>
              <a:latin typeface="Times New Roman" panose="02020603050405020304" pitchFamily="18" charset="0"/>
              <a:cs typeface="Times New Roman" panose="02020603050405020304" pitchFamily="18" charset="0"/>
            </a:endParaRPr>
          </a:p>
          <a:p>
            <a:pPr algn="ctr"/>
            <a:r>
              <a:rPr lang="en-US" sz="1600" b="1" dirty="0">
                <a:solidFill>
                  <a:schemeClr val="bg1"/>
                </a:solidFill>
                <a:latin typeface="Times New Roman" panose="02020603050405020304" pitchFamily="18" charset="0"/>
                <a:cs typeface="Times New Roman" panose="02020603050405020304" pitchFamily="18" charset="0"/>
              </a:rPr>
              <a:t>MAJOR PROJECT PHASE II PRESENTATION </a:t>
            </a:r>
          </a:p>
          <a:p>
            <a:pPr algn="ctr"/>
            <a:r>
              <a:rPr lang="en-US" sz="1600" b="1" dirty="0">
                <a:solidFill>
                  <a:schemeClr val="bg1"/>
                </a:solidFill>
                <a:latin typeface="Times New Roman" panose="02020603050405020304" pitchFamily="18" charset="0"/>
                <a:cs typeface="Times New Roman" panose="02020603050405020304" pitchFamily="18" charset="0"/>
              </a:rPr>
              <a:t>ON</a:t>
            </a:r>
          </a:p>
          <a:p>
            <a:pPr marL="0" marR="0" algn="ctr">
              <a:spcAft>
                <a:spcPts val="800"/>
              </a:spcAft>
            </a:pPr>
            <a:r>
              <a:rPr lang="en-US" sz="2000" b="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2000" b="1" kern="1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Bidirectional Indian Sign Language Translator Using Gesture Recognition</a:t>
            </a:r>
            <a:r>
              <a:rPr lang="en-US" sz="2000" b="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2000" kern="10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endParaRPr lang="en-US" sz="1600" dirty="0">
              <a:solidFill>
                <a:schemeClr val="bg1"/>
              </a:solidFill>
              <a:latin typeface="Times New Roman" panose="02020603050405020304" pitchFamily="18" charset="0"/>
              <a:cs typeface="Times New Roman" panose="02020603050405020304" pitchFamily="18" charset="0"/>
            </a:endParaRPr>
          </a:p>
          <a:p>
            <a:pPr algn="ctr">
              <a:lnSpc>
                <a:spcPct val="107000"/>
              </a:lnSpc>
              <a:spcAft>
                <a:spcPts val="800"/>
              </a:spcAft>
            </a:pPr>
            <a:r>
              <a:rPr lang="en-US" sz="1600" dirty="0">
                <a:solidFill>
                  <a:schemeClr val="bg1"/>
                </a:solidFill>
                <a:latin typeface="Times New Roman" panose="02020603050405020304" pitchFamily="18" charset="0"/>
                <a:cs typeface="Times New Roman" panose="02020603050405020304" pitchFamily="18" charset="0"/>
              </a:rPr>
              <a:t>PRESENTED BY</a:t>
            </a:r>
          </a:p>
          <a:p>
            <a:pPr marL="0" marR="0" algn="ctr">
              <a:lnSpc>
                <a:spcPct val="107000"/>
              </a:lnSpc>
              <a:spcAft>
                <a:spcPts val="800"/>
              </a:spcAft>
              <a:buNone/>
            </a:pPr>
            <a:r>
              <a:rPr lang="en-US" sz="1600" b="1" kern="1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NIHARIKA P</a:t>
            </a:r>
            <a:r>
              <a:rPr lang="en-US" sz="1600" b="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1VK22IS038</a:t>
            </a:r>
            <a:endPar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07000"/>
              </a:lnSpc>
              <a:spcAft>
                <a:spcPts val="800"/>
              </a:spcAft>
              <a:buNone/>
            </a:pPr>
            <a:r>
              <a:rPr lang="en-US" sz="1600" b="1" kern="1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PADMAJA</a:t>
            </a:r>
            <a:r>
              <a:rPr lang="en-US" sz="1600" b="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1VK22IS040</a:t>
            </a:r>
            <a:endParaRPr lang="en-US" sz="1600" b="1" kern="1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Aft>
                <a:spcPts val="800"/>
              </a:spcAft>
              <a:buNone/>
            </a:pPr>
            <a:r>
              <a:rPr lang="en-US" sz="1600" b="1" kern="100">
                <a:solidFill>
                  <a:schemeClr val="bg1"/>
                </a:solidFill>
                <a:latin typeface="Times New Roman" panose="02020603050405020304" pitchFamily="18" charset="0"/>
                <a:ea typeface="Calibri" panose="020F0502020204030204" pitchFamily="34" charset="0"/>
                <a:cs typeface="Times New Roman" panose="02020603050405020304" pitchFamily="18" charset="0"/>
              </a:rPr>
              <a:t>CHANDANA TN                          1VK23IS401          </a:t>
            </a:r>
            <a:endPar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gn="ctr"/>
            <a:endParaRPr lang="en-US" sz="1400" b="1" dirty="0">
              <a:latin typeface="Times New Roman" panose="02020603050405020304" pitchFamily="18" charset="0"/>
              <a:cs typeface="Times New Roman" panose="02020603050405020304" pitchFamily="18" charset="0"/>
            </a:endParaRPr>
          </a:p>
          <a:p>
            <a:pPr algn="ctr"/>
            <a:endParaRPr lang="en-US" sz="1400" b="1" dirty="0">
              <a:latin typeface="Times New Roman" panose="02020603050405020304" pitchFamily="18" charset="0"/>
              <a:cs typeface="Times New Roman" panose="02020603050405020304" pitchFamily="18" charset="0"/>
            </a:endParaRPr>
          </a:p>
          <a:p>
            <a:pPr algn="ctr"/>
            <a:endParaRPr lang="en-US" sz="1400" b="1" dirty="0">
              <a:latin typeface="Times New Roman" panose="02020603050405020304" pitchFamily="18" charset="0"/>
              <a:cs typeface="Times New Roman" panose="02020603050405020304" pitchFamily="18" charset="0"/>
            </a:endParaRPr>
          </a:p>
          <a:p>
            <a:pPr algn="ctr">
              <a:lnSpc>
                <a:spcPct val="107000"/>
              </a:lnSpc>
              <a:spcAft>
                <a:spcPts val="800"/>
              </a:spcAft>
            </a:pPr>
            <a:r>
              <a:rPr lang="en-US" sz="1600" dirty="0">
                <a:latin typeface="Times New Roman" panose="02020603050405020304" pitchFamily="18" charset="0"/>
                <a:cs typeface="Times New Roman" panose="02020603050405020304" pitchFamily="18" charset="0"/>
              </a:rPr>
              <a:t>UNDER THE GUIDANCE OF</a:t>
            </a:r>
          </a:p>
          <a:p>
            <a:pPr algn="ctr"/>
            <a:r>
              <a:rPr lang="en-US" sz="1600" b="1" dirty="0">
                <a:latin typeface="Times New Roman" panose="02020603050405020304" pitchFamily="18" charset="0"/>
                <a:cs typeface="Times New Roman" panose="02020603050405020304" pitchFamily="18" charset="0"/>
              </a:rPr>
              <a:t>MR.RAHUL J</a:t>
            </a:r>
          </a:p>
          <a:p>
            <a:pPr algn="ctr"/>
            <a:r>
              <a:rPr lang="en-US" sz="1600" b="1" dirty="0">
                <a:latin typeface="Times New Roman" panose="02020603050405020304" pitchFamily="18" charset="0"/>
                <a:cs typeface="Times New Roman" panose="02020603050405020304" pitchFamily="18" charset="0"/>
              </a:rPr>
              <a:t>ASST PROFESSOR, DEPT OF ISE-VKIT</a:t>
            </a:r>
          </a:p>
          <a:p>
            <a:pPr marL="0" marR="0" algn="ctr">
              <a:lnSpc>
                <a:spcPct val="107000"/>
              </a:lnSpc>
              <a:spcAft>
                <a:spcPts val="800"/>
              </a:spcAft>
            </a:pPr>
            <a:r>
              <a:rPr lang="en-IN" sz="1600" b="1" dirty="0">
                <a:latin typeface="Times New Roman" panose="02020603050405020304" pitchFamily="18" charset="0"/>
                <a:ea typeface="Calibri" panose="020F0502020204030204" pitchFamily="34" charset="0"/>
                <a:cs typeface="Times New Roman" panose="02020603050405020304" pitchFamily="18" charset="0"/>
              </a:rPr>
              <a:t>   </a:t>
            </a:r>
            <a:endParaRPr lang="en-US" sz="1800" b="1" dirty="0">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20" name="Picture 19">
            <a:extLst>
              <a:ext uri="{FF2B5EF4-FFF2-40B4-BE49-F238E27FC236}">
                <a16:creationId xmlns:a16="http://schemas.microsoft.com/office/drawing/2014/main" id="{AD59D46A-A036-E6C7-B533-E589A5963305}"/>
              </a:ext>
            </a:extLst>
          </p:cNvPr>
          <p:cNvPicPr>
            <a:picLocks noChangeAspect="1"/>
          </p:cNvPicPr>
          <p:nvPr/>
        </p:nvPicPr>
        <p:blipFill rotWithShape="1">
          <a:blip r:embed="rId4">
            <a:extLst>
              <a:ext uri="{28A0092B-C50C-407E-A947-70E740481C1C}">
                <a14:useLocalDpi xmlns:a14="http://schemas.microsoft.com/office/drawing/2010/main" val="0"/>
              </a:ext>
            </a:extLst>
          </a:blip>
          <a:srcRect l="1258" t="6458" r="666" b="6557"/>
          <a:stretch/>
        </p:blipFill>
        <p:spPr>
          <a:xfrm>
            <a:off x="0" y="-15722"/>
            <a:ext cx="11267768" cy="953404"/>
          </a:xfrm>
          <a:prstGeom prst="rect">
            <a:avLst/>
          </a:prstGeom>
        </p:spPr>
      </p:pic>
      <p:pic>
        <p:nvPicPr>
          <p:cNvPr id="2" name="Picture 1">
            <a:extLst>
              <a:ext uri="{FF2B5EF4-FFF2-40B4-BE49-F238E27FC236}">
                <a16:creationId xmlns:a16="http://schemas.microsoft.com/office/drawing/2014/main" id="{4B9A6DE5-C172-66FD-E060-7E36D7D40C0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69884" y="97042"/>
            <a:ext cx="720000" cy="720000"/>
          </a:xfrm>
          <a:prstGeom prst="rect">
            <a:avLst/>
          </a:prstGeom>
        </p:spPr>
      </p:pic>
    </p:spTree>
    <p:extLst>
      <p:ext uri="{BB962C8B-B14F-4D97-AF65-F5344CB8AC3E}">
        <p14:creationId xmlns:p14="http://schemas.microsoft.com/office/powerpoint/2010/main" val="32446812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Content Placeholder 5">
            <a:extLst>
              <a:ext uri="{FF2B5EF4-FFF2-40B4-BE49-F238E27FC236}">
                <a16:creationId xmlns:a16="http://schemas.microsoft.com/office/drawing/2014/main" id="{AE51EB97-F271-4616-92DB-B95C0ABD4B98}"/>
              </a:ext>
            </a:extLst>
          </p:cNvPr>
          <p:cNvSpPr txBox="1">
            <a:spLocks/>
          </p:cNvSpPr>
          <p:nvPr/>
        </p:nvSpPr>
        <p:spPr>
          <a:xfrm>
            <a:off x="131087" y="1588261"/>
            <a:ext cx="11929826" cy="4563107"/>
          </a:xfrm>
          <a:prstGeom prst="rect">
            <a:avLst/>
          </a:prstGeom>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Introduction</a:t>
            </a:r>
          </a:p>
          <a:p>
            <a:pPr>
              <a:buFont typeface="Wingdings" panose="05000000000000000000" charset="0"/>
              <a:buChar char="q"/>
            </a:pPr>
            <a:r>
              <a:rPr lang="en-US" sz="2200" dirty="0">
                <a:latin typeface="Times New Roman" panose="02020603050405020304" pitchFamily="18" charset="0"/>
                <a:cs typeface="Times New Roman" panose="02020603050405020304" pitchFamily="18" charset="0"/>
              </a:rPr>
              <a:t>Problem Statement</a:t>
            </a:r>
          </a:p>
          <a:p>
            <a:pPr>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Literature Survey </a:t>
            </a:r>
          </a:p>
          <a:p>
            <a:pPr>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Objectives</a:t>
            </a:r>
          </a:p>
          <a:p>
            <a:pPr>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Methodology</a:t>
            </a:r>
          </a:p>
          <a:p>
            <a:pPr>
              <a:buFont typeface="Wingdings" panose="05000000000000000000" charset="0"/>
              <a:buChar char="q"/>
            </a:pPr>
            <a:r>
              <a:rPr lang="en-US" sz="2200" dirty="0">
                <a:latin typeface="Times New Roman" panose="02020603050405020304" pitchFamily="18" charset="0"/>
                <a:cs typeface="Times New Roman" panose="02020603050405020304" pitchFamily="18" charset="0"/>
              </a:rPr>
              <a:t>Architectural Design </a:t>
            </a:r>
          </a:p>
          <a:p>
            <a:pPr>
              <a:buFont typeface="Wingdings" panose="05000000000000000000" charset="0"/>
              <a:buChar char="q"/>
            </a:pPr>
            <a:r>
              <a:rPr lang="en-US" sz="2200" dirty="0">
                <a:latin typeface="Times New Roman" panose="02020603050405020304" pitchFamily="18" charset="0"/>
                <a:cs typeface="Times New Roman" panose="02020603050405020304" pitchFamily="18" charset="0"/>
              </a:rPr>
              <a:t>Implementation details of modules</a:t>
            </a:r>
          </a:p>
          <a:p>
            <a:pPr>
              <a:buFont typeface="Wingdings" panose="05000000000000000000" charset="0"/>
              <a:buChar char="q"/>
            </a:pPr>
            <a:r>
              <a:rPr lang="en-US" sz="2200" dirty="0">
                <a:latin typeface="Times New Roman" panose="02020603050405020304" pitchFamily="18" charset="0"/>
                <a:cs typeface="Times New Roman" panose="02020603050405020304" pitchFamily="18" charset="0"/>
              </a:rPr>
              <a:t>Data flow Diagram </a:t>
            </a:r>
          </a:p>
          <a:p>
            <a:pPr>
              <a:buFont typeface="Wingdings" panose="05000000000000000000" charset="0"/>
              <a:buChar char="q"/>
            </a:pPr>
            <a:r>
              <a:rPr lang="en-US" sz="2200" dirty="0">
                <a:latin typeface="Times New Roman" panose="02020603050405020304" pitchFamily="18" charset="0"/>
                <a:cs typeface="Times New Roman" panose="02020603050405020304" pitchFamily="18" charset="0"/>
              </a:rPr>
              <a:t>Interface Diagram</a:t>
            </a:r>
          </a:p>
          <a:p>
            <a:pPr>
              <a:buFont typeface="Wingdings" panose="05000000000000000000" charset="0"/>
              <a:buChar char="q"/>
            </a:pPr>
            <a:r>
              <a:rPr lang="en-US" sz="2200" dirty="0">
                <a:latin typeface="Times New Roman" panose="02020603050405020304" pitchFamily="18" charset="0"/>
                <a:cs typeface="Times New Roman" panose="02020603050405020304" pitchFamily="18" charset="0"/>
              </a:rPr>
              <a:t>Test case with results</a:t>
            </a:r>
          </a:p>
          <a:p>
            <a:pPr>
              <a:buFont typeface="Wingdings" panose="05000000000000000000" charset="0"/>
              <a:buChar char="q"/>
            </a:pPr>
            <a:r>
              <a:rPr lang="en-US" sz="2200" dirty="0">
                <a:latin typeface="Times New Roman" panose="02020603050405020304" pitchFamily="18" charset="0"/>
                <a:cs typeface="Times New Roman" panose="02020603050405020304" pitchFamily="18" charset="0"/>
              </a:rPr>
              <a:t>Results</a:t>
            </a:r>
          </a:p>
          <a:p>
            <a:pPr>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Conclusions</a:t>
            </a:r>
          </a:p>
          <a:p>
            <a:pPr>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References</a:t>
            </a:r>
          </a:p>
          <a:p>
            <a:pPr>
              <a:buFont typeface="Wingdings" panose="05000000000000000000" pitchFamily="2" charset="2"/>
              <a:buChar char="q"/>
            </a:pPr>
            <a:endParaRPr lang="en-IN" dirty="0">
              <a:latin typeface="Times New Roman" panose="02020603050405020304" pitchFamily="18" charset="0"/>
              <a:cs typeface="Times New Roman" panose="02020603050405020304" pitchFamily="18" charset="0"/>
            </a:endParaRPr>
          </a:p>
          <a:p>
            <a:pPr marL="0" indent="0" algn="just">
              <a:lnSpc>
                <a:spcPct val="150000"/>
              </a:lnSpc>
              <a:buNone/>
            </a:pPr>
            <a:endParaRPr lang="en-IN" dirty="0">
              <a:latin typeface="Times New Roman" panose="02020603050405020304" pitchFamily="18" charset="0"/>
              <a:cs typeface="Times New Roman" panose="02020603050405020304" pitchFamily="18" charset="0"/>
            </a:endParaRPr>
          </a:p>
        </p:txBody>
      </p:sp>
      <p:sp>
        <p:nvSpPr>
          <p:cNvPr id="18" name="Title 8">
            <a:extLst>
              <a:ext uri="{FF2B5EF4-FFF2-40B4-BE49-F238E27FC236}">
                <a16:creationId xmlns:a16="http://schemas.microsoft.com/office/drawing/2014/main" id="{35E67535-AA34-167B-06F3-BF3F014FF538}"/>
              </a:ext>
            </a:extLst>
          </p:cNvPr>
          <p:cNvSpPr txBox="1">
            <a:spLocks/>
          </p:cNvSpPr>
          <p:nvPr/>
        </p:nvSpPr>
        <p:spPr>
          <a:xfrm>
            <a:off x="139870" y="1058987"/>
            <a:ext cx="10131425" cy="347046"/>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u="sng" dirty="0">
                <a:latin typeface="Times New Roman" panose="02020603050405020304" pitchFamily="18" charset="0"/>
                <a:cs typeface="Times New Roman" panose="02020603050405020304" pitchFamily="18" charset="0"/>
              </a:rPr>
              <a:t>AGENDA</a:t>
            </a:r>
            <a:endParaRPr lang="en-IN" sz="2800" b="1" u="sng" dirty="0">
              <a:latin typeface="Times New Roman" panose="02020603050405020304" pitchFamily="18" charset="0"/>
              <a:cs typeface="Times New Roman" panose="02020603050405020304" pitchFamily="18" charset="0"/>
            </a:endParaRPr>
          </a:p>
        </p:txBody>
      </p:sp>
      <p:grpSp>
        <p:nvGrpSpPr>
          <p:cNvPr id="19" name="Group 2">
            <a:extLst>
              <a:ext uri="{FF2B5EF4-FFF2-40B4-BE49-F238E27FC236}">
                <a16:creationId xmlns:a16="http://schemas.microsoft.com/office/drawing/2014/main" id="{C2A77CD9-6D01-A8DB-C66D-BF03B69941D6}"/>
              </a:ext>
            </a:extLst>
          </p:cNvPr>
          <p:cNvGrpSpPr/>
          <p:nvPr/>
        </p:nvGrpSpPr>
        <p:grpSpPr>
          <a:xfrm>
            <a:off x="0" y="6311900"/>
            <a:ext cx="12192000" cy="546100"/>
            <a:chOff x="0" y="0"/>
            <a:chExt cx="6186311" cy="277095"/>
          </a:xfrm>
        </p:grpSpPr>
        <p:sp>
          <p:nvSpPr>
            <p:cNvPr id="20" name="Freeform 3">
              <a:extLst>
                <a:ext uri="{FF2B5EF4-FFF2-40B4-BE49-F238E27FC236}">
                  <a16:creationId xmlns:a16="http://schemas.microsoft.com/office/drawing/2014/main" id="{78297845-B487-3D71-6C3A-180D740BEF2A}"/>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solidFill>
              <a:srgbClr val="FFC000"/>
            </a:solidFill>
          </p:spPr>
          <p:txBody>
            <a:bodyPr/>
            <a:lstStyle/>
            <a:p>
              <a:endParaRPr lang="en-IN">
                <a:solidFill>
                  <a:srgbClr val="FFC000"/>
                </a:solidFill>
              </a:endParaRPr>
            </a:p>
          </p:txBody>
        </p:sp>
      </p:grpSp>
      <p:cxnSp>
        <p:nvCxnSpPr>
          <p:cNvPr id="24" name="Straight Connector 23">
            <a:extLst>
              <a:ext uri="{FF2B5EF4-FFF2-40B4-BE49-F238E27FC236}">
                <a16:creationId xmlns:a16="http://schemas.microsoft.com/office/drawing/2014/main" id="{95BF16DE-C2ED-E5FA-FED5-20411081BC54}"/>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A38916BD-2F6C-8C5C-69F1-20EF826FFCFF}"/>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C0CB9FD8-D8C9-4709-8349-C8C9267E8324}"/>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DB4FE3B4-BB90-79D8-EB65-C10A428A39D1}"/>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6BEDBDB7-0B57-60B5-B67A-1FA0861D1DA9}"/>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BDC56BF2-92F3-3F12-F910-2816DF452EE8}"/>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3" name="Picture 12">
            <a:extLst>
              <a:ext uri="{FF2B5EF4-FFF2-40B4-BE49-F238E27FC236}">
                <a16:creationId xmlns:a16="http://schemas.microsoft.com/office/drawing/2014/main" id="{A7DFB8A6-0EE4-6DA4-62D9-66050FDB6285}"/>
              </a:ext>
            </a:extLst>
          </p:cNvPr>
          <p:cNvPicPr>
            <a:picLocks noChangeAspect="1"/>
          </p:cNvPicPr>
          <p:nvPr/>
        </p:nvPicPr>
        <p:blipFill rotWithShape="1">
          <a:blip r:embed="rId10">
            <a:extLst>
              <a:ext uri="{28A0092B-C50C-407E-A947-70E740481C1C}">
                <a14:useLocalDpi xmlns:a14="http://schemas.microsoft.com/office/drawing/2010/main" val="0"/>
              </a:ext>
            </a:extLst>
          </a:blip>
          <a:srcRect l="1258" t="6458" r="666" b="6557"/>
          <a:stretch/>
        </p:blipFill>
        <p:spPr>
          <a:xfrm>
            <a:off x="0" y="-15722"/>
            <a:ext cx="11316929" cy="955522"/>
          </a:xfrm>
          <a:prstGeom prst="rect">
            <a:avLst/>
          </a:prstGeom>
        </p:spPr>
      </p:pic>
      <p:sp>
        <p:nvSpPr>
          <p:cNvPr id="2" name="TextBox 1">
            <a:extLst>
              <a:ext uri="{FF2B5EF4-FFF2-40B4-BE49-F238E27FC236}">
                <a16:creationId xmlns:a16="http://schemas.microsoft.com/office/drawing/2014/main" id="{C6C7F839-BF1E-6612-E3A2-158F440202F4}"/>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pic>
        <p:nvPicPr>
          <p:cNvPr id="3" name="Picture 2">
            <a:extLst>
              <a:ext uri="{FF2B5EF4-FFF2-40B4-BE49-F238E27FC236}">
                <a16:creationId xmlns:a16="http://schemas.microsoft.com/office/drawing/2014/main" id="{F07C88E0-403D-E0F6-0E8B-357EA42F7B4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1340913" y="65637"/>
            <a:ext cx="720000" cy="720000"/>
          </a:xfrm>
          <a:prstGeom prst="rect">
            <a:avLst/>
          </a:prstGeom>
        </p:spPr>
      </p:pic>
    </p:spTree>
    <p:extLst>
      <p:ext uri="{BB962C8B-B14F-4D97-AF65-F5344CB8AC3E}">
        <p14:creationId xmlns:p14="http://schemas.microsoft.com/office/powerpoint/2010/main" val="9438800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2">
            <a:extLst>
              <a:ext uri="{FF2B5EF4-FFF2-40B4-BE49-F238E27FC236}">
                <a16:creationId xmlns:a16="http://schemas.microsoft.com/office/drawing/2014/main" id="{C2A77CD9-6D01-A8DB-C66D-BF03B69941D6}"/>
              </a:ext>
            </a:extLst>
          </p:cNvPr>
          <p:cNvGrpSpPr/>
          <p:nvPr/>
        </p:nvGrpSpPr>
        <p:grpSpPr>
          <a:xfrm>
            <a:off x="0" y="6311900"/>
            <a:ext cx="12192000" cy="546100"/>
            <a:chOff x="0" y="0"/>
            <a:chExt cx="6186311" cy="277095"/>
          </a:xfrm>
          <a:solidFill>
            <a:srgbClr val="FFC000"/>
          </a:solidFill>
        </p:grpSpPr>
        <p:sp>
          <p:nvSpPr>
            <p:cNvPr id="20" name="Freeform 3">
              <a:extLst>
                <a:ext uri="{FF2B5EF4-FFF2-40B4-BE49-F238E27FC236}">
                  <a16:creationId xmlns:a16="http://schemas.microsoft.com/office/drawing/2014/main" id="{78297845-B487-3D71-6C3A-180D740BEF2A}"/>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95BF16DE-C2ED-E5FA-FED5-20411081BC54}"/>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A38916BD-2F6C-8C5C-69F1-20EF826FFCFF}"/>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726574" y="6404675"/>
            <a:ext cx="339025" cy="339025"/>
          </a:xfrm>
          <a:prstGeom prst="rect">
            <a:avLst/>
          </a:prstGeom>
        </p:spPr>
      </p:pic>
      <p:pic>
        <p:nvPicPr>
          <p:cNvPr id="27" name="Picture 5">
            <a:extLst>
              <a:ext uri="{FF2B5EF4-FFF2-40B4-BE49-F238E27FC236}">
                <a16:creationId xmlns:a16="http://schemas.microsoft.com/office/drawing/2014/main" id="{C0CB9FD8-D8C9-4709-8349-C8C9267E8324}"/>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DB4FE3B4-BB90-79D8-EB65-C10A428A39D1}"/>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6BEDBDB7-0B57-60B5-B67A-1FA0861D1DA9}"/>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BDC56BF2-92F3-3F12-F910-2816DF452EE8}"/>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sp>
        <p:nvSpPr>
          <p:cNvPr id="13" name="Title 8">
            <a:extLst>
              <a:ext uri="{FF2B5EF4-FFF2-40B4-BE49-F238E27FC236}">
                <a16:creationId xmlns:a16="http://schemas.microsoft.com/office/drawing/2014/main" id="{12492449-092F-2489-42C6-37071677B220}"/>
              </a:ext>
            </a:extLst>
          </p:cNvPr>
          <p:cNvSpPr txBox="1">
            <a:spLocks/>
          </p:cNvSpPr>
          <p:nvPr/>
        </p:nvSpPr>
        <p:spPr>
          <a:xfrm>
            <a:off x="139870" y="1065914"/>
            <a:ext cx="10131425" cy="347046"/>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Times New Roman" panose="02020603050405020304" pitchFamily="18" charset="0"/>
                <a:cs typeface="Times New Roman" panose="02020603050405020304" pitchFamily="18" charset="0"/>
              </a:rPr>
              <a:t>INTRODUCTION </a:t>
            </a:r>
            <a:endParaRPr lang="en-IN" sz="2800" b="1" dirty="0">
              <a:latin typeface="Times New Roman" panose="02020603050405020304" pitchFamily="18" charset="0"/>
              <a:cs typeface="Times New Roman" panose="02020603050405020304" pitchFamily="18" charset="0"/>
            </a:endParaRPr>
          </a:p>
        </p:txBody>
      </p:sp>
      <p:sp>
        <p:nvSpPr>
          <p:cNvPr id="14" name="Content Placeholder 5">
            <a:extLst>
              <a:ext uri="{FF2B5EF4-FFF2-40B4-BE49-F238E27FC236}">
                <a16:creationId xmlns:a16="http://schemas.microsoft.com/office/drawing/2014/main" id="{18D1E11A-7BB4-72E8-5797-07BA67914B54}"/>
              </a:ext>
            </a:extLst>
          </p:cNvPr>
          <p:cNvSpPr txBox="1">
            <a:spLocks/>
          </p:cNvSpPr>
          <p:nvPr/>
        </p:nvSpPr>
        <p:spPr>
          <a:xfrm>
            <a:off x="131087" y="1588261"/>
            <a:ext cx="11832313" cy="432888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en-US" sz="1800" dirty="0">
              <a:latin typeface="Times New Roman" panose="02020603050405020304" pitchFamily="18" charset="0"/>
              <a:cs typeface="Times New Roman" panose="02020603050405020304" pitchFamily="18" charset="0"/>
            </a:endParaRPr>
          </a:p>
        </p:txBody>
      </p:sp>
      <p:sp>
        <p:nvSpPr>
          <p:cNvPr id="22" name="Content Placeholder 5">
            <a:extLst>
              <a:ext uri="{FF2B5EF4-FFF2-40B4-BE49-F238E27FC236}">
                <a16:creationId xmlns:a16="http://schemas.microsoft.com/office/drawing/2014/main" id="{3C8B49E0-CF26-57A6-D6AA-AF50219BD68C}"/>
              </a:ext>
            </a:extLst>
          </p:cNvPr>
          <p:cNvSpPr txBox="1">
            <a:spLocks/>
          </p:cNvSpPr>
          <p:nvPr/>
        </p:nvSpPr>
        <p:spPr>
          <a:xfrm>
            <a:off x="256032" y="1435185"/>
            <a:ext cx="11500346" cy="432888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0" indent="-285750" algn="just">
              <a:lnSpc>
                <a:spcPct val="150000"/>
              </a:lnSpc>
            </a:pPr>
            <a:r>
              <a:rPr lang="en-US" sz="1900" dirty="0">
                <a:solidFill>
                  <a:srgbClr val="191611"/>
                </a:solidFill>
                <a:latin typeface="Times New Roman" panose="02020603050405020304" pitchFamily="18" charset="0"/>
                <a:cs typeface="Times New Roman" panose="02020603050405020304" pitchFamily="18" charset="0"/>
              </a:rPr>
              <a:t>Hiring teams receive hundreds of resumes for every opening, and screening them manually is slow, inconsistent and hard to scale.</a:t>
            </a:r>
          </a:p>
          <a:p>
            <a:pPr marL="285750" lvl="0" indent="-285750" algn="just">
              <a:lnSpc>
                <a:spcPct val="150000"/>
              </a:lnSpc>
            </a:pPr>
            <a:r>
              <a:rPr lang="en-US" sz="1900" dirty="0">
                <a:solidFill>
                  <a:srgbClr val="191611"/>
                </a:solidFill>
                <a:latin typeface="Times New Roman" panose="02020603050405020304" pitchFamily="18" charset="0"/>
                <a:cs typeface="Times New Roman" panose="02020603050405020304" pitchFamily="18" charset="0"/>
              </a:rPr>
              <a:t>Most Applicant Tracking Systems (ATS) only count keyword matches, so they reward keyword stuffing and cannot tell that FastAPI and Flask are related skills.</a:t>
            </a:r>
          </a:p>
          <a:p>
            <a:pPr marL="285750" lvl="0" indent="-285750" algn="just">
              <a:lnSpc>
                <a:spcPct val="150000"/>
              </a:lnSpc>
            </a:pPr>
            <a:r>
              <a:rPr lang="en-US" sz="1900" dirty="0">
                <a:solidFill>
                  <a:srgbClr val="191611"/>
                </a:solidFill>
                <a:latin typeface="Times New Roman" panose="02020603050405020304" pitchFamily="18" charset="0"/>
                <a:cs typeface="Times New Roman" panose="02020603050405020304" pitchFamily="18" charset="0"/>
              </a:rPr>
              <a:t>Automated screening is also under scrutiny for bias, and the EU AI Act treats recruitment AI as high-risk, so every decision must be explainable.</a:t>
            </a:r>
          </a:p>
          <a:p>
            <a:pPr marL="285750" lvl="0" indent="-285750" algn="just">
              <a:lnSpc>
                <a:spcPct val="150000"/>
              </a:lnSpc>
            </a:pPr>
            <a:r>
              <a:rPr lang="en-US" sz="1900" dirty="0">
                <a:solidFill>
                  <a:srgbClr val="191611"/>
                </a:solidFill>
                <a:latin typeface="Times New Roman" panose="02020603050405020304" pitchFamily="18" charset="0"/>
                <a:cs typeface="Times New Roman" panose="02020603050405020304" pitchFamily="18" charset="0"/>
              </a:rPr>
              <a:t>In this project (Phase 2) we developed an explainable, bias-aware screening system that ranks candidates on seven weighted signals, hides identity during scoring and gives a reason for every verdict.</a:t>
            </a:r>
          </a:p>
        </p:txBody>
      </p:sp>
      <p:pic>
        <p:nvPicPr>
          <p:cNvPr id="23" name="Picture 22">
            <a:extLst>
              <a:ext uri="{FF2B5EF4-FFF2-40B4-BE49-F238E27FC236}">
                <a16:creationId xmlns:a16="http://schemas.microsoft.com/office/drawing/2014/main" id="{9789A926-AA47-B4C4-5806-D5636BCE4B10}"/>
              </a:ext>
            </a:extLst>
          </p:cNvPr>
          <p:cNvPicPr>
            <a:picLocks noChangeAspect="1"/>
          </p:cNvPicPr>
          <p:nvPr/>
        </p:nvPicPr>
        <p:blipFill rotWithShape="1">
          <a:blip r:embed="rId10">
            <a:extLst>
              <a:ext uri="{28A0092B-C50C-407E-A947-70E740481C1C}">
                <a14:useLocalDpi xmlns:a14="http://schemas.microsoft.com/office/drawing/2010/main" val="0"/>
              </a:ext>
            </a:extLst>
          </a:blip>
          <a:srcRect l="1258" t="6458" r="666" b="6557"/>
          <a:stretch/>
        </p:blipFill>
        <p:spPr>
          <a:xfrm>
            <a:off x="0" y="-15722"/>
            <a:ext cx="11267768" cy="955522"/>
          </a:xfrm>
          <a:prstGeom prst="rect">
            <a:avLst/>
          </a:prstGeom>
        </p:spPr>
      </p:pic>
      <p:sp>
        <p:nvSpPr>
          <p:cNvPr id="17" name="TextBox 16">
            <a:extLst>
              <a:ext uri="{FF2B5EF4-FFF2-40B4-BE49-F238E27FC236}">
                <a16:creationId xmlns:a16="http://schemas.microsoft.com/office/drawing/2014/main" id="{448568C0-E041-114C-C0A2-F7DEBF43D8FB}"/>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pic>
        <p:nvPicPr>
          <p:cNvPr id="2" name="Picture 1">
            <a:extLst>
              <a:ext uri="{FF2B5EF4-FFF2-40B4-BE49-F238E27FC236}">
                <a16:creationId xmlns:a16="http://schemas.microsoft.com/office/drawing/2014/main" id="{121379E7-8CB2-36F6-59A3-772781216738}"/>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1369884" y="85474"/>
            <a:ext cx="720000" cy="720000"/>
          </a:xfrm>
          <a:prstGeom prst="rect">
            <a:avLst/>
          </a:prstGeom>
        </p:spPr>
      </p:pic>
    </p:spTree>
    <p:extLst>
      <p:ext uri="{BB962C8B-B14F-4D97-AF65-F5344CB8AC3E}">
        <p14:creationId xmlns:p14="http://schemas.microsoft.com/office/powerpoint/2010/main" val="269236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2">
            <a:extLst>
              <a:ext uri="{FF2B5EF4-FFF2-40B4-BE49-F238E27FC236}">
                <a16:creationId xmlns:a16="http://schemas.microsoft.com/office/drawing/2014/main" id="{C2A77CD9-6D01-A8DB-C66D-BF03B69941D6}"/>
              </a:ext>
            </a:extLst>
          </p:cNvPr>
          <p:cNvGrpSpPr/>
          <p:nvPr/>
        </p:nvGrpSpPr>
        <p:grpSpPr>
          <a:xfrm>
            <a:off x="-2398" y="6342896"/>
            <a:ext cx="12192000" cy="546100"/>
            <a:chOff x="0" y="0"/>
            <a:chExt cx="6186311" cy="277095"/>
          </a:xfrm>
          <a:solidFill>
            <a:srgbClr val="FFC000"/>
          </a:solidFill>
        </p:grpSpPr>
        <p:sp>
          <p:nvSpPr>
            <p:cNvPr id="20" name="Freeform 3">
              <a:extLst>
                <a:ext uri="{FF2B5EF4-FFF2-40B4-BE49-F238E27FC236}">
                  <a16:creationId xmlns:a16="http://schemas.microsoft.com/office/drawing/2014/main" id="{78297845-B487-3D71-6C3A-180D740BEF2A}"/>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95BF16DE-C2ED-E5FA-FED5-20411081BC54}"/>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A38916BD-2F6C-8C5C-69F1-20EF826FFCFF}"/>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C0CB9FD8-D8C9-4709-8349-C8C9267E8324}"/>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DB4FE3B4-BB90-79D8-EB65-C10A428A39D1}"/>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6BEDBDB7-0B57-60B5-B67A-1FA0861D1DA9}"/>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9914563" y="6426200"/>
            <a:ext cx="317500" cy="317500"/>
          </a:xfrm>
          <a:prstGeom prst="rect">
            <a:avLst/>
          </a:prstGeom>
        </p:spPr>
      </p:pic>
      <p:sp>
        <p:nvSpPr>
          <p:cNvPr id="30" name="TextBox 8">
            <a:extLst>
              <a:ext uri="{FF2B5EF4-FFF2-40B4-BE49-F238E27FC236}">
                <a16:creationId xmlns:a16="http://schemas.microsoft.com/office/drawing/2014/main" id="{BDC56BF2-92F3-3F12-F910-2816DF452EE8}"/>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sp>
        <p:nvSpPr>
          <p:cNvPr id="14" name="Title 8">
            <a:extLst>
              <a:ext uri="{FF2B5EF4-FFF2-40B4-BE49-F238E27FC236}">
                <a16:creationId xmlns:a16="http://schemas.microsoft.com/office/drawing/2014/main" id="{C398F070-A45D-3E84-0A4E-E094EAC19E52}"/>
              </a:ext>
            </a:extLst>
          </p:cNvPr>
          <p:cNvSpPr txBox="1">
            <a:spLocks/>
          </p:cNvSpPr>
          <p:nvPr/>
        </p:nvSpPr>
        <p:spPr>
          <a:xfrm>
            <a:off x="139870" y="1065914"/>
            <a:ext cx="10131425" cy="347046"/>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Times New Roman" panose="02020603050405020304" pitchFamily="18" charset="0"/>
                <a:cs typeface="Times New Roman" panose="02020603050405020304" pitchFamily="18" charset="0"/>
              </a:rPr>
              <a:t>PROBLEM STATEMENT</a:t>
            </a:r>
            <a:endParaRPr lang="en-IN" sz="2800" b="1" dirty="0">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id="{74EF8EBE-8A04-D1A1-E6C8-7A68C1E2B076}"/>
              </a:ext>
            </a:extLst>
          </p:cNvPr>
          <p:cNvPicPr>
            <a:picLocks noChangeAspect="1"/>
          </p:cNvPicPr>
          <p:nvPr/>
        </p:nvPicPr>
        <p:blipFill rotWithShape="1">
          <a:blip r:embed="rId10">
            <a:extLst>
              <a:ext uri="{28A0092B-C50C-407E-A947-70E740481C1C}">
                <a14:useLocalDpi xmlns:a14="http://schemas.microsoft.com/office/drawing/2010/main" val="0"/>
              </a:ext>
            </a:extLst>
          </a:blip>
          <a:srcRect l="1258" t="6458" r="666" b="6557"/>
          <a:stretch/>
        </p:blipFill>
        <p:spPr>
          <a:xfrm>
            <a:off x="0" y="-15722"/>
            <a:ext cx="11385755" cy="955522"/>
          </a:xfrm>
          <a:prstGeom prst="rect">
            <a:avLst/>
          </a:prstGeom>
        </p:spPr>
      </p:pic>
      <p:sp>
        <p:nvSpPr>
          <p:cNvPr id="17" name="TextBox 16">
            <a:extLst>
              <a:ext uri="{FF2B5EF4-FFF2-40B4-BE49-F238E27FC236}">
                <a16:creationId xmlns:a16="http://schemas.microsoft.com/office/drawing/2014/main" id="{5DB17D7D-4136-7DA8-C6E6-9BA47690A129}"/>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
        <p:nvSpPr>
          <p:cNvPr id="2" name="TextBox 1">
            <a:extLst>
              <a:ext uri="{FF2B5EF4-FFF2-40B4-BE49-F238E27FC236}">
                <a16:creationId xmlns:a16="http://schemas.microsoft.com/office/drawing/2014/main" id="{6FCBF62E-529F-754D-29C1-7ED13466E2D4}"/>
              </a:ext>
            </a:extLst>
          </p:cNvPr>
          <p:cNvSpPr txBox="1"/>
          <p:nvPr/>
        </p:nvSpPr>
        <p:spPr>
          <a:xfrm>
            <a:off x="416224" y="1593777"/>
            <a:ext cx="11303827" cy="3737946"/>
          </a:xfrm>
          <a:prstGeom prst="rect">
            <a:avLst/>
          </a:prstGeom>
          <a:noFill/>
        </p:spPr>
        <p:txBody>
          <a:bodyPr wrap="square" rtlCol="0">
            <a:spAutoFit/>
          </a:bodyPr>
          <a:lstStyle/>
          <a:p>
            <a:pPr algn="just">
              <a:lnSpc>
                <a:spcPct val="150000"/>
              </a:lnSpc>
            </a:pPr>
            <a:r>
              <a:rPr lang="en-US" sz="2000" dirty="0">
                <a:solidFill>
                  <a:srgbClr val="191611"/>
                </a:solidFill>
                <a:latin typeface="Times New Roman" panose="02020603050405020304" pitchFamily="18" charset="0"/>
                <a:cs typeface="Times New Roman" panose="02020603050405020304" pitchFamily="18" charset="0"/>
              </a:rPr>
              <a:t>Keyword-based ATS tools, like our Phase 1 system, only answer whether a resume contains the words of a job description. They cannot judge whether a skill claim is backed by evidence, they give no explanation when a candidate is rejected, and they can carry hidden bias from names and personal details. As a result, recruiters lose good candidates, trust inflated resumes and cannot justify their decisions. There is a need for a screening system that is accurate, explainable and bias-aware, so that hiring decisions are fair, consistent and auditable.</a:t>
            </a:r>
          </a:p>
        </p:txBody>
      </p:sp>
      <p:pic>
        <p:nvPicPr>
          <p:cNvPr id="3" name="Picture 2">
            <a:extLst>
              <a:ext uri="{FF2B5EF4-FFF2-40B4-BE49-F238E27FC236}">
                <a16:creationId xmlns:a16="http://schemas.microsoft.com/office/drawing/2014/main" id="{7DD0EE70-0214-AFD7-4E35-F20722CE2A2C}"/>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1452335" y="102039"/>
            <a:ext cx="720000" cy="720000"/>
          </a:xfrm>
          <a:prstGeom prst="rect">
            <a:avLst/>
          </a:prstGeom>
        </p:spPr>
      </p:pic>
    </p:spTree>
    <p:extLst>
      <p:ext uri="{BB962C8B-B14F-4D97-AF65-F5344CB8AC3E}">
        <p14:creationId xmlns:p14="http://schemas.microsoft.com/office/powerpoint/2010/main" val="22588889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2">
            <a:extLst>
              <a:ext uri="{FF2B5EF4-FFF2-40B4-BE49-F238E27FC236}">
                <a16:creationId xmlns:a16="http://schemas.microsoft.com/office/drawing/2014/main" id="{C2A77CD9-6D01-A8DB-C66D-BF03B69941D6}"/>
              </a:ext>
            </a:extLst>
          </p:cNvPr>
          <p:cNvGrpSpPr/>
          <p:nvPr/>
        </p:nvGrpSpPr>
        <p:grpSpPr>
          <a:xfrm>
            <a:off x="0" y="6311900"/>
            <a:ext cx="12192000" cy="546100"/>
            <a:chOff x="0" y="0"/>
            <a:chExt cx="6186311" cy="277095"/>
          </a:xfrm>
          <a:solidFill>
            <a:srgbClr val="FFC000"/>
          </a:solidFill>
        </p:grpSpPr>
        <p:sp>
          <p:nvSpPr>
            <p:cNvPr id="20" name="Freeform 3">
              <a:extLst>
                <a:ext uri="{FF2B5EF4-FFF2-40B4-BE49-F238E27FC236}">
                  <a16:creationId xmlns:a16="http://schemas.microsoft.com/office/drawing/2014/main" id="{78297845-B487-3D71-6C3A-180D740BEF2A}"/>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95BF16DE-C2ED-E5FA-FED5-20411081BC54}"/>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A38916BD-2F6C-8C5C-69F1-20EF826FFCFF}"/>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C0CB9FD8-D8C9-4709-8349-C8C9267E8324}"/>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DB4FE3B4-BB90-79D8-EB65-C10A428A39D1}"/>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6BEDBDB7-0B57-60B5-B67A-1FA0861D1DA9}"/>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BDC56BF2-92F3-3F12-F910-2816DF452EE8}"/>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31" name="Picture 30">
            <a:extLst>
              <a:ext uri="{FF2B5EF4-FFF2-40B4-BE49-F238E27FC236}">
                <a16:creationId xmlns:a16="http://schemas.microsoft.com/office/drawing/2014/main" id="{F72A899F-935A-BD76-8CAD-62D80AC29C60}"/>
              </a:ext>
            </a:extLst>
          </p:cNvPr>
          <p:cNvPicPr>
            <a:picLocks noChangeAspect="1"/>
          </p:cNvPicPr>
          <p:nvPr/>
        </p:nvPicPr>
        <p:blipFill rotWithShape="1">
          <a:blip r:embed="rId11">
            <a:extLst>
              <a:ext uri="{28A0092B-C50C-407E-A947-70E740481C1C}">
                <a14:useLocalDpi xmlns:a14="http://schemas.microsoft.com/office/drawing/2010/main" val="0"/>
              </a:ext>
            </a:extLst>
          </a:blip>
          <a:srcRect l="1258" t="6458" r="666" b="6557"/>
          <a:stretch/>
        </p:blipFill>
        <p:spPr>
          <a:xfrm>
            <a:off x="0" y="-15722"/>
            <a:ext cx="11297265" cy="955522"/>
          </a:xfrm>
          <a:prstGeom prst="rect">
            <a:avLst/>
          </a:prstGeom>
        </p:spPr>
      </p:pic>
      <p:sp>
        <p:nvSpPr>
          <p:cNvPr id="11" name="Title 1">
            <a:extLst>
              <a:ext uri="{FF2B5EF4-FFF2-40B4-BE49-F238E27FC236}">
                <a16:creationId xmlns:a16="http://schemas.microsoft.com/office/drawing/2014/main" id="{0BAC6369-E3B5-ABA5-996D-10C2CB76D886}"/>
              </a:ext>
            </a:extLst>
          </p:cNvPr>
          <p:cNvSpPr txBox="1">
            <a:spLocks/>
          </p:cNvSpPr>
          <p:nvPr/>
        </p:nvSpPr>
        <p:spPr>
          <a:xfrm>
            <a:off x="139870" y="957417"/>
            <a:ext cx="10131425" cy="542926"/>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Times New Roman" panose="02020603050405020304" pitchFamily="18" charset="0"/>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047D83EE-054E-17CB-401E-A4E0FD567C16}"/>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graphicFrame>
        <p:nvGraphicFramePr>
          <p:cNvPr id="2" name="Table 1">
            <a:extLst>
              <a:ext uri="{FF2B5EF4-FFF2-40B4-BE49-F238E27FC236}">
                <a16:creationId xmlns:a16="http://schemas.microsoft.com/office/drawing/2014/main" id="{ACD7B64A-E985-9629-5C1E-3FA5D091A123}"/>
              </a:ext>
            </a:extLst>
          </p:cNvPr>
          <p:cNvGraphicFramePr>
            <a:graphicFrameLocks noGrp="1"/>
          </p:cNvGraphicFramePr>
          <p:nvPr>
            <p:extLst>
              <p:ext uri="{D42A27DB-BD31-4B8C-83A1-F6EECF244321}">
                <p14:modId xmlns:p14="http://schemas.microsoft.com/office/powerpoint/2010/main" val="2394860326"/>
              </p:ext>
            </p:extLst>
          </p:nvPr>
        </p:nvGraphicFramePr>
        <p:xfrm>
          <a:off x="139870" y="1393383"/>
          <a:ext cx="11768352" cy="4718294"/>
        </p:xfrm>
        <a:graphic>
          <a:graphicData uri="http://schemas.openxmlformats.org/drawingml/2006/table">
            <a:tbl>
              <a:tblPr firstRow="1" bandRow="1">
                <a:tableStyleId>{5C22544A-7EE6-4342-B048-85BDC9FD1C3A}</a:tableStyleId>
              </a:tblPr>
              <a:tblGrid>
                <a:gridCol w="794026">
                  <a:extLst>
                    <a:ext uri="{9D8B030D-6E8A-4147-A177-3AD203B41FA5}">
                      <a16:colId xmlns:a16="http://schemas.microsoft.com/office/drawing/2014/main" val="513438048"/>
                    </a:ext>
                  </a:extLst>
                </a:gridCol>
                <a:gridCol w="3913315">
                  <a:extLst>
                    <a:ext uri="{9D8B030D-6E8A-4147-A177-3AD203B41FA5}">
                      <a16:colId xmlns:a16="http://schemas.microsoft.com/office/drawing/2014/main" val="2641967713"/>
                    </a:ext>
                  </a:extLst>
                </a:gridCol>
                <a:gridCol w="1806525">
                  <a:extLst>
                    <a:ext uri="{9D8B030D-6E8A-4147-A177-3AD203B41FA5}">
                      <a16:colId xmlns:a16="http://schemas.microsoft.com/office/drawing/2014/main" val="1510769062"/>
                    </a:ext>
                  </a:extLst>
                </a:gridCol>
                <a:gridCol w="2562012">
                  <a:extLst>
                    <a:ext uri="{9D8B030D-6E8A-4147-A177-3AD203B41FA5}">
                      <a16:colId xmlns:a16="http://schemas.microsoft.com/office/drawing/2014/main" val="1943579358"/>
                    </a:ext>
                  </a:extLst>
                </a:gridCol>
                <a:gridCol w="2692474">
                  <a:extLst>
                    <a:ext uri="{9D8B030D-6E8A-4147-A177-3AD203B41FA5}">
                      <a16:colId xmlns:a16="http://schemas.microsoft.com/office/drawing/2014/main" val="3740986500"/>
                    </a:ext>
                  </a:extLst>
                </a:gridCol>
              </a:tblGrid>
              <a:tr h="420614">
                <a:tc>
                  <a:txBody>
                    <a:bodyPr/>
                    <a:lstStyle/>
                    <a:p>
                      <a:r>
                        <a:rPr lang="en-IN" sz="2000" b="1" dirty="0">
                          <a:latin typeface="Times New Roman" panose="02020603050405020304" pitchFamily="18" charset="0"/>
                          <a:cs typeface="Times New Roman" panose="02020603050405020304" pitchFamily="18" charset="0"/>
                        </a:rPr>
                        <a:t>Sl.No</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lgn="ctr"/>
                      <a:r>
                        <a:rPr lang="en-IN" sz="2000" b="1" dirty="0">
                          <a:latin typeface="Times New Roman" panose="02020603050405020304" pitchFamily="18" charset="0"/>
                          <a:cs typeface="Times New Roman" panose="02020603050405020304" pitchFamily="18" charset="0"/>
                        </a:rPr>
                        <a:t> Title</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lgn="ctr"/>
                      <a:r>
                        <a:rPr lang="en-IN" sz="2000" b="1" dirty="0">
                          <a:latin typeface="Times New Roman" panose="02020603050405020304" pitchFamily="18" charset="0"/>
                          <a:cs typeface="Times New Roman" panose="02020603050405020304" pitchFamily="18" charset="0"/>
                        </a:rPr>
                        <a:t>Author</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1" i="0" u="none" strike="noStrike" dirty="0">
                          <a:solidFill>
                            <a:schemeClr val="bg1"/>
                          </a:solidFill>
                          <a:effectLst/>
                          <a:latin typeface="Times New Roman" panose="02020603050405020304" pitchFamily="18" charset="0"/>
                          <a:cs typeface="Times New Roman" panose="02020603050405020304" pitchFamily="18" charset="0"/>
                        </a:rPr>
                        <a:t>Contribution</a:t>
                      </a:r>
                    </a:p>
                  </a:txBody>
                  <a:tcPr anchor="ctr"/>
                </a:tc>
                <a:tc>
                  <a:txBody>
                    <a:bodyPr/>
                    <a:lstStyle/>
                    <a:p>
                      <a:pPr algn="ctr"/>
                      <a:r>
                        <a:rPr lang="en-IN" sz="2000" b="1" dirty="0">
                          <a:latin typeface="Times New Roman" panose="02020603050405020304" pitchFamily="18" charset="0"/>
                          <a:cs typeface="Times New Roman" panose="02020603050405020304" pitchFamily="18" charset="0"/>
                        </a:rPr>
                        <a:t>Drawback</a:t>
                      </a:r>
                      <a:endParaRPr lang="en-IN"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20020752"/>
                  </a:ext>
                </a:extLst>
              </a:tr>
              <a:tr h="548886">
                <a:tc>
                  <a:txBody>
                    <a:bodyPr/>
                    <a:lstStyle/>
                    <a:p>
                      <a:pPr algn="ctr"/>
                      <a:r>
                        <a:rPr lang="en-IN" sz="1800" b="0" dirty="0">
                          <a:latin typeface="Times New Roman" panose="02020603050405020304" pitchFamily="18" charset="0"/>
                          <a:cs typeface="Times New Roman" panose="02020603050405020304" pitchFamily="18" charset="0"/>
                        </a:rPr>
                        <a:t>1</a:t>
                      </a:r>
                    </a:p>
                  </a:txBody>
                  <a:tcPr anchor="ctr"/>
                </a:tc>
                <a:tc>
                  <a:txBody>
                    <a:bodyPr/>
                    <a:lstStyle/>
                    <a:p>
                      <a:pPr algn="ctr"/>
                      <a:r>
                        <a:rPr lang="en-IN" sz="1800" b="0" dirty="0">
                          <a:latin typeface="Times New Roman" panose="02020603050405020304" pitchFamily="18" charset="0"/>
                          <a:cs typeface="Times New Roman" panose="02020603050405020304" pitchFamily="18" charset="0"/>
                        </a:rPr>
                        <a:t>Enhancing Person-Job Fit for Talent Recruitment: An Ability-Aware Neural Network Approach</a:t>
                      </a:r>
                    </a:p>
                  </a:txBody>
                  <a:tcPr anchor="ctr">
                    <a:lnB w="12700" cmpd="sng">
                      <a:noFill/>
                    </a:lnB>
                  </a:tcPr>
                </a:tc>
                <a:tc>
                  <a:txBody>
                    <a:bodyPr/>
                    <a:lstStyle/>
                    <a:p>
                      <a:r>
                        <a:rPr lang="en-US" sz="18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C. Qin, H. Zhu, T. Xu, et al.</a:t>
                      </a:r>
                      <a:endParaRPr lang="en-IN" sz="1500" dirty="0">
                        <a:latin typeface="Times New Roman" panose="02020603050405020304" pitchFamily="18" charset="0"/>
                        <a:cs typeface="Times New Roman" panose="02020603050405020304" pitchFamily="18" charset="0"/>
                      </a:endParaRP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 neural network that learns the abilities a job requires and matches them with the abilities shown in a resume, improving person-job fit prediction.</a:t>
                      </a:r>
                      <a:endParaRPr lang="en-US" sz="1500" dirty="0"/>
                    </a:p>
                  </a:txBody>
                  <a:tcPr anchor="ctr"/>
                </a:tc>
                <a:tc>
                  <a:txBody>
                    <a:bodyPr/>
                    <a:lstStyle/>
                    <a:p>
                      <a:pPr algn="just"/>
                      <a:r>
                        <a:rPr lang="en-US" sz="18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The learned model gives a match score without a human-readable reason and needs large amounts of historical hiring data.</a:t>
                      </a:r>
                      <a:endParaRPr lang="en-IN" sz="15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658038804"/>
                  </a:ext>
                </a:extLst>
              </a:tr>
              <a:tr h="910658">
                <a:tc>
                  <a:txBody>
                    <a:bodyPr/>
                    <a:lstStyle/>
                    <a:p>
                      <a:pPr algn="ctr"/>
                      <a:r>
                        <a:rPr lang="en-IN" sz="1800" b="0" dirty="0">
                          <a:latin typeface="Times New Roman" panose="02020603050405020304" pitchFamily="18" charset="0"/>
                          <a:cs typeface="Times New Roman" panose="02020603050405020304" pitchFamily="18" charset="0"/>
                        </a:rPr>
                        <a:t>2</a:t>
                      </a:r>
                    </a:p>
                  </a:txBody>
                  <a:tcPr anchor="ctr">
                    <a:lnR w="12700" cmpd="sng">
                      <a:noFill/>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End-to-End Resume Parsing and Finding Candidates for a Job Description Using BERT</a:t>
                      </a:r>
                      <a:endParaRPr lang="en-US" sz="15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rtl="0">
                        <a:lnSpc>
                          <a:spcPct val="100000"/>
                        </a:lnSpc>
                        <a:spcBef>
                          <a:spcPts val="0"/>
                        </a:spcBef>
                        <a:spcAft>
                          <a:spcPts val="0"/>
                        </a:spcAft>
                        <a:buClr>
                          <a:srgbClr val="000000"/>
                        </a:buClr>
                        <a:buSzPts val="1800"/>
                        <a:buFont typeface="Times New Roman" panose="02020603050405020304"/>
                        <a:buNone/>
                      </a:pPr>
                      <a:r>
                        <a:rPr lang="en-US" sz="18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V. Bhatia, P. Rawat, A. Kumar, R. R. Shah</a:t>
                      </a:r>
                      <a:endParaRPr lang="en-US" sz="1500" dirty="0"/>
                    </a:p>
                  </a:txBody>
                  <a:tcPr anchor="ctr">
                    <a:lnL w="12700" cmpd="sng">
                      <a:noFill/>
                    </a:lnL>
                  </a:tcPr>
                </a:tc>
                <a:tc>
                  <a:txBody>
                    <a:bodyPr/>
                    <a:lstStyle/>
                    <a:p>
                      <a:pPr algn="just"/>
                      <a:r>
                        <a:rPr lang="en-US" sz="18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Extracts structured fields from resumes with BERT and ranks candidates against a job description in one pipeline.</a:t>
                      </a:r>
                      <a:endParaRPr lang="en-IN" sz="1500" dirty="0">
                        <a:latin typeface="Times New Roman" panose="02020603050405020304" pitchFamily="18" charset="0"/>
                        <a:cs typeface="Times New Roman" panose="02020603050405020304" pitchFamily="18" charset="0"/>
                      </a:endParaRPr>
                    </a:p>
                  </a:txBody>
                  <a:tcPr anchor="ctr"/>
                </a:tc>
                <a:tc>
                  <a:txBody>
                    <a:bodyPr/>
                    <a:lstStyle/>
                    <a:p>
                      <a:pPr algn="just"/>
                      <a:r>
                        <a:rPr lang="en-US" sz="18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Produces a single similarity score, with no skill-gap breakdown and no check for bias.</a:t>
                      </a:r>
                      <a:endParaRPr lang="en-IN" sz="15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333608603"/>
                  </a:ext>
                </a:extLst>
              </a:tr>
            </a:tbl>
          </a:graphicData>
        </a:graphic>
      </p:graphicFrame>
      <p:pic>
        <p:nvPicPr>
          <p:cNvPr id="3" name="Picture 2">
            <a:extLst>
              <a:ext uri="{FF2B5EF4-FFF2-40B4-BE49-F238E27FC236}">
                <a16:creationId xmlns:a16="http://schemas.microsoft.com/office/drawing/2014/main" id="{BF05D6DE-D8FF-A7D2-FDFB-1D263A77E85D}"/>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1326996" y="59268"/>
            <a:ext cx="720000" cy="720000"/>
          </a:xfrm>
          <a:prstGeom prst="rect">
            <a:avLst/>
          </a:prstGeom>
        </p:spPr>
      </p:pic>
    </p:spTree>
    <p:extLst>
      <p:ext uri="{BB962C8B-B14F-4D97-AF65-F5344CB8AC3E}">
        <p14:creationId xmlns:p14="http://schemas.microsoft.com/office/powerpoint/2010/main" val="25440599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2">
            <a:extLst>
              <a:ext uri="{FF2B5EF4-FFF2-40B4-BE49-F238E27FC236}">
                <a16:creationId xmlns:a16="http://schemas.microsoft.com/office/drawing/2014/main" id="{C2A77CD9-6D01-A8DB-C66D-BF03B69941D6}"/>
              </a:ext>
            </a:extLst>
          </p:cNvPr>
          <p:cNvGrpSpPr/>
          <p:nvPr/>
        </p:nvGrpSpPr>
        <p:grpSpPr>
          <a:xfrm>
            <a:off x="0" y="6416831"/>
            <a:ext cx="12192000" cy="546100"/>
            <a:chOff x="0" y="0"/>
            <a:chExt cx="6186311" cy="277095"/>
          </a:xfrm>
          <a:solidFill>
            <a:srgbClr val="FFC000"/>
          </a:solidFill>
        </p:grpSpPr>
        <p:sp>
          <p:nvSpPr>
            <p:cNvPr id="20" name="Freeform 3">
              <a:extLst>
                <a:ext uri="{FF2B5EF4-FFF2-40B4-BE49-F238E27FC236}">
                  <a16:creationId xmlns:a16="http://schemas.microsoft.com/office/drawing/2014/main" id="{78297845-B487-3D71-6C3A-180D740BEF2A}"/>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95BF16DE-C2ED-E5FA-FED5-20411081BC54}"/>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A38916BD-2F6C-8C5C-69F1-20EF826FFCFF}"/>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C0CB9FD8-D8C9-4709-8349-C8C9267E8324}"/>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DB4FE3B4-BB90-79D8-EB65-C10A428A39D1}"/>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6BEDBDB7-0B57-60B5-B67A-1FA0861D1DA9}"/>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BDC56BF2-92F3-3F12-F910-2816DF452EE8}"/>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31" name="Picture 30">
            <a:extLst>
              <a:ext uri="{FF2B5EF4-FFF2-40B4-BE49-F238E27FC236}">
                <a16:creationId xmlns:a16="http://schemas.microsoft.com/office/drawing/2014/main" id="{F72A899F-935A-BD76-8CAD-62D80AC29C60}"/>
              </a:ext>
            </a:extLst>
          </p:cNvPr>
          <p:cNvPicPr>
            <a:picLocks noChangeAspect="1"/>
          </p:cNvPicPr>
          <p:nvPr/>
        </p:nvPicPr>
        <p:blipFill rotWithShape="1">
          <a:blip r:embed="rId10">
            <a:extLst>
              <a:ext uri="{28A0092B-C50C-407E-A947-70E740481C1C}">
                <a14:useLocalDpi xmlns:a14="http://schemas.microsoft.com/office/drawing/2010/main" val="0"/>
              </a:ext>
            </a:extLst>
          </a:blip>
          <a:srcRect l="1258" t="6458" r="666" b="6557"/>
          <a:stretch/>
        </p:blipFill>
        <p:spPr>
          <a:xfrm>
            <a:off x="0" y="-15722"/>
            <a:ext cx="11356258" cy="955522"/>
          </a:xfrm>
          <a:prstGeom prst="rect">
            <a:avLst/>
          </a:prstGeom>
        </p:spPr>
      </p:pic>
      <p:sp>
        <p:nvSpPr>
          <p:cNvPr id="11" name="Title 1">
            <a:extLst>
              <a:ext uri="{FF2B5EF4-FFF2-40B4-BE49-F238E27FC236}">
                <a16:creationId xmlns:a16="http://schemas.microsoft.com/office/drawing/2014/main" id="{0BAC6369-E3B5-ABA5-996D-10C2CB76D886}"/>
              </a:ext>
            </a:extLst>
          </p:cNvPr>
          <p:cNvSpPr txBox="1">
            <a:spLocks/>
          </p:cNvSpPr>
          <p:nvPr/>
        </p:nvSpPr>
        <p:spPr>
          <a:xfrm>
            <a:off x="139870" y="957417"/>
            <a:ext cx="10131425" cy="542926"/>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sz="28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047D83EE-054E-17CB-401E-A4E0FD567C16}"/>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graphicFrame>
        <p:nvGraphicFramePr>
          <p:cNvPr id="5" name="Table 4">
            <a:extLst>
              <a:ext uri="{FF2B5EF4-FFF2-40B4-BE49-F238E27FC236}">
                <a16:creationId xmlns:a16="http://schemas.microsoft.com/office/drawing/2014/main" id="{71A575CF-CE66-6B5D-B338-1CD44CD24429}"/>
              </a:ext>
            </a:extLst>
          </p:cNvPr>
          <p:cNvGraphicFramePr>
            <a:graphicFrameLocks noGrp="1"/>
          </p:cNvGraphicFramePr>
          <p:nvPr>
            <p:extLst>
              <p:ext uri="{D42A27DB-BD31-4B8C-83A1-F6EECF244321}">
                <p14:modId xmlns:p14="http://schemas.microsoft.com/office/powerpoint/2010/main" val="1952318342"/>
              </p:ext>
            </p:extLst>
          </p:nvPr>
        </p:nvGraphicFramePr>
        <p:xfrm>
          <a:off x="139870" y="1090039"/>
          <a:ext cx="11768352" cy="4962134"/>
        </p:xfrm>
        <a:graphic>
          <a:graphicData uri="http://schemas.openxmlformats.org/drawingml/2006/table">
            <a:tbl>
              <a:tblPr firstRow="1" bandRow="1">
                <a:tableStyleId>{5C22544A-7EE6-4342-B048-85BDC9FD1C3A}</a:tableStyleId>
              </a:tblPr>
              <a:tblGrid>
                <a:gridCol w="794026">
                  <a:extLst>
                    <a:ext uri="{9D8B030D-6E8A-4147-A177-3AD203B41FA5}">
                      <a16:colId xmlns:a16="http://schemas.microsoft.com/office/drawing/2014/main" val="513438048"/>
                    </a:ext>
                  </a:extLst>
                </a:gridCol>
                <a:gridCol w="3913315">
                  <a:extLst>
                    <a:ext uri="{9D8B030D-6E8A-4147-A177-3AD203B41FA5}">
                      <a16:colId xmlns:a16="http://schemas.microsoft.com/office/drawing/2014/main" val="2641967713"/>
                    </a:ext>
                  </a:extLst>
                </a:gridCol>
                <a:gridCol w="1806525">
                  <a:extLst>
                    <a:ext uri="{9D8B030D-6E8A-4147-A177-3AD203B41FA5}">
                      <a16:colId xmlns:a16="http://schemas.microsoft.com/office/drawing/2014/main" val="1510769062"/>
                    </a:ext>
                  </a:extLst>
                </a:gridCol>
                <a:gridCol w="2562012">
                  <a:extLst>
                    <a:ext uri="{9D8B030D-6E8A-4147-A177-3AD203B41FA5}">
                      <a16:colId xmlns:a16="http://schemas.microsoft.com/office/drawing/2014/main" val="1943579358"/>
                    </a:ext>
                  </a:extLst>
                </a:gridCol>
                <a:gridCol w="2692474">
                  <a:extLst>
                    <a:ext uri="{9D8B030D-6E8A-4147-A177-3AD203B41FA5}">
                      <a16:colId xmlns:a16="http://schemas.microsoft.com/office/drawing/2014/main" val="3740986500"/>
                    </a:ext>
                  </a:extLst>
                </a:gridCol>
              </a:tblGrid>
              <a:tr h="420614">
                <a:tc>
                  <a:txBody>
                    <a:bodyPr/>
                    <a:lstStyle/>
                    <a:p>
                      <a:r>
                        <a:rPr lang="en-IN" sz="2000" b="1" dirty="0">
                          <a:latin typeface="Times New Roman" panose="02020603050405020304" pitchFamily="18" charset="0"/>
                          <a:cs typeface="Times New Roman" panose="02020603050405020304" pitchFamily="18" charset="0"/>
                        </a:rPr>
                        <a:t>Sl.No</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lgn="ctr"/>
                      <a:r>
                        <a:rPr lang="en-IN" sz="2000" b="1" dirty="0">
                          <a:latin typeface="Times New Roman" panose="02020603050405020304" pitchFamily="18" charset="0"/>
                          <a:cs typeface="Times New Roman" panose="02020603050405020304" pitchFamily="18" charset="0"/>
                        </a:rPr>
                        <a:t> Title</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lgn="ctr"/>
                      <a:r>
                        <a:rPr lang="en-IN" sz="2000" b="1" dirty="0">
                          <a:latin typeface="Times New Roman" panose="02020603050405020304" pitchFamily="18" charset="0"/>
                          <a:cs typeface="Times New Roman" panose="02020603050405020304" pitchFamily="18" charset="0"/>
                        </a:rPr>
                        <a:t>Author</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1" i="0" u="none" strike="noStrike" dirty="0">
                          <a:solidFill>
                            <a:schemeClr val="bg1"/>
                          </a:solidFill>
                          <a:effectLst/>
                          <a:latin typeface="Times New Roman" panose="02020603050405020304" pitchFamily="18" charset="0"/>
                          <a:cs typeface="Times New Roman" panose="02020603050405020304" pitchFamily="18" charset="0"/>
                        </a:rPr>
                        <a:t>Contribution</a:t>
                      </a:r>
                    </a:p>
                  </a:txBody>
                  <a:tcPr anchor="ctr"/>
                </a:tc>
                <a:tc>
                  <a:txBody>
                    <a:bodyPr/>
                    <a:lstStyle/>
                    <a:p>
                      <a:pPr algn="ctr"/>
                      <a:r>
                        <a:rPr lang="en-IN" sz="2000" b="1" dirty="0">
                          <a:latin typeface="Times New Roman" panose="02020603050405020304" pitchFamily="18" charset="0"/>
                          <a:cs typeface="Times New Roman" panose="02020603050405020304" pitchFamily="18" charset="0"/>
                        </a:rPr>
                        <a:t>Drawback</a:t>
                      </a:r>
                      <a:endParaRPr lang="en-IN"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20020752"/>
                  </a:ext>
                </a:extLst>
              </a:tr>
              <a:tr h="910658">
                <a:tc>
                  <a:txBody>
                    <a:bodyPr/>
                    <a:lstStyle/>
                    <a:p>
                      <a:pPr algn="ctr"/>
                      <a:r>
                        <a:rPr lang="en-IN" sz="1600" b="0" dirty="0">
                          <a:latin typeface="Times New Roman" panose="02020603050405020304" pitchFamily="18" charset="0"/>
                          <a:cs typeface="Times New Roman" panose="02020603050405020304" pitchFamily="18" charset="0"/>
                        </a:rPr>
                        <a:t>3</a:t>
                      </a:r>
                    </a:p>
                  </a:txBody>
                  <a:tcPr anchor="ctr"/>
                </a:tc>
                <a:tc>
                  <a:txBody>
                    <a:bodyPr/>
                    <a:lstStyle/>
                    <a:p>
                      <a:pPr algn="ctr"/>
                      <a:r>
                        <a:rPr lang="en-US"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Comparing BERT and Sentence-BERT for Automated Resume Screening</a:t>
                      </a:r>
                      <a:endParaRPr lang="en-IN" sz="1400" b="0" dirty="0">
                        <a:latin typeface="Times New Roman" panose="02020603050405020304" pitchFamily="18" charset="0"/>
                        <a:cs typeface="Times New Roman" panose="02020603050405020304" pitchFamily="18" charset="0"/>
                      </a:endParaRPr>
                    </a:p>
                  </a:txBody>
                  <a:tcPr anchor="ctr">
                    <a:lnB w="12700" cmpd="sng">
                      <a:noFill/>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 Deshmukh, A. R. Dahake</a:t>
                      </a:r>
                      <a:endParaRPr lang="en-US" sz="14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Compares BERT and Sentence-BERT embeddings for matching resumes to job descriptions.</a:t>
                      </a:r>
                      <a:endParaRPr lang="en-US" sz="1400" dirty="0"/>
                    </a:p>
                  </a:txBody>
                  <a:tcPr anchor="ctr"/>
                </a:tc>
                <a:tc>
                  <a:txBody>
                    <a:bodyPr/>
                    <a:lstStyle/>
                    <a:p>
                      <a:r>
                        <a:rPr lang="en-US"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Evaluates similarity quality only; explanation of the result and fairness are not addressed.</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658038804"/>
                  </a:ext>
                </a:extLst>
              </a:tr>
              <a:tr h="910658">
                <a:tc>
                  <a:txBody>
                    <a:bodyPr/>
                    <a:lstStyle/>
                    <a:p>
                      <a:pPr algn="ctr"/>
                      <a:r>
                        <a:rPr lang="en-IN" sz="1600" b="0" dirty="0">
                          <a:latin typeface="Times New Roman" panose="02020603050405020304" pitchFamily="18" charset="0"/>
                          <a:cs typeface="Times New Roman" panose="02020603050405020304" pitchFamily="18" charset="0"/>
                        </a:rPr>
                        <a:t>4</a:t>
                      </a:r>
                    </a:p>
                  </a:txBody>
                  <a:tcPr anchor="ctr">
                    <a:lnR w="12700" cmpd="sng">
                      <a:noFill/>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Sentence-BERT: Sentence Embeddings using Siamese BERT-Networks</a:t>
                      </a:r>
                      <a:endParaRPr lang="en-US" sz="1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cap="none" dirty="0">
                          <a:solidFill>
                            <a:srgbClr val="000000"/>
                          </a:solidFill>
                          <a:latin typeface="Times New Roman" panose="02020603050405020304"/>
                          <a:cs typeface="Times New Roman" panose="02020603050405020304"/>
                        </a:rPr>
                        <a:t>N. Reimers, I. Gurevych</a:t>
                      </a:r>
                      <a:endParaRPr lang="en-US" sz="1400" dirty="0"/>
                    </a:p>
                  </a:txBody>
                  <a:tcPr anchor="ctr">
                    <a:lnL w="12700" cmpd="sng">
                      <a:noFill/>
                    </a:ln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Produces fast sentence embeddings that capture meaning, so "built REST services" matches "developed HTTP APIs".</a:t>
                      </a:r>
                      <a:endParaRPr lang="en-US" sz="1400" dirty="0"/>
                    </a:p>
                  </a:txBody>
                  <a:tcPr anchor="ctr"/>
                </a:tc>
                <a:tc>
                  <a:txBody>
                    <a:bodyPr/>
                    <a:lstStyle/>
                    <a:p>
                      <a:pPr algn="just"/>
                      <a:r>
                        <a:rPr lang="en-US"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 general text-similarity tool; it needs extra logic for skills, experience and fair decision-making.</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333608603"/>
                  </a:ext>
                </a:extLst>
              </a:tr>
              <a:tr h="739909">
                <a:tc>
                  <a:txBody>
                    <a:bodyPr/>
                    <a:lstStyle/>
                    <a:p>
                      <a:pPr algn="ctr"/>
                      <a:r>
                        <a:rPr lang="en-IN" sz="1600" b="0" dirty="0">
                          <a:latin typeface="Times New Roman" panose="02020603050405020304" pitchFamily="18" charset="0"/>
                          <a:cs typeface="Times New Roman" panose="02020603050405020304" pitchFamily="18" charset="0"/>
                        </a:rPr>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i="0" u="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Gender, Race, and Intersectional Bias in Resume Screening via Language Model Retrieval</a:t>
                      </a:r>
                      <a:endParaRPr lang="en-US" sz="1400" dirty="0"/>
                    </a:p>
                  </a:txBody>
                  <a:tcPr anchor="ctr">
                    <a:lnT w="12700" cmpd="sng">
                      <a:noFill/>
                    </a:lnT>
                  </a:tcPr>
                </a:tc>
                <a:tc>
                  <a:txBody>
                    <a:bodyPr/>
                    <a:lstStyle/>
                    <a:p>
                      <a:pPr marL="0" marR="0" lvl="0" indent="0" algn="l" rtl="0">
                        <a:lnSpc>
                          <a:spcPct val="100000"/>
                        </a:lnSpc>
                        <a:spcBef>
                          <a:spcPts val="0"/>
                        </a:spcBef>
                        <a:spcAft>
                          <a:spcPts val="0"/>
                        </a:spcAft>
                        <a:buClr>
                          <a:srgbClr val="000000"/>
                        </a:buClr>
                        <a:buSzPts val="1800"/>
                        <a:buFont typeface="Times New Roman" panose="02020603050405020304"/>
                        <a:buNone/>
                      </a:pPr>
                      <a:r>
                        <a:rPr lang="en-US" sz="1600" b="0" i="0" u="none" dirty="0">
                          <a:solidFill>
                            <a:srgbClr val="000000"/>
                          </a:solidFill>
                          <a:latin typeface="Times New Roman" panose="02020603050405020304"/>
                          <a:ea typeface="Times New Roman" panose="02020603050405020304"/>
                          <a:cs typeface="Times New Roman" panose="02020603050405020304"/>
                        </a:rPr>
                        <a:t>K. Wilson, A. Caliskan</a:t>
                      </a:r>
                      <a:endParaRPr lang="en-US" sz="1400" dirty="0"/>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600" b="0" i="0" u="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Audits language-model resume retrieval and shows that it can favour some names and groups over others.</a:t>
                      </a:r>
                      <a:endParaRPr lang="en-US" sz="1400" dirty="0"/>
                    </a:p>
                  </a:txBody>
                  <a:tcPr anchor="ctr"/>
                </a:tc>
                <a:tc>
                  <a:txBody>
                    <a:bodyPr/>
                    <a:lstStyle/>
                    <a:p>
                      <a:pPr marL="0" marR="0" lvl="0" indent="0" algn="just" rtl="0">
                        <a:lnSpc>
                          <a:spcPct val="100000"/>
                        </a:lnSpc>
                        <a:spcBef>
                          <a:spcPts val="0"/>
                        </a:spcBef>
                        <a:spcAft>
                          <a:spcPts val="0"/>
                        </a:spcAft>
                        <a:buClr>
                          <a:srgbClr val="000000"/>
                        </a:buClr>
                        <a:buSzPts val="1800"/>
                        <a:buFont typeface="Times New Roman" panose="02020603050405020304"/>
                        <a:buNone/>
                      </a:pPr>
                      <a:r>
                        <a:rPr lang="en-US" sz="1600" b="0" i="0" u="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An audit only; it does not propose a screening system that removes the bias.</a:t>
                      </a:r>
                      <a:endParaRPr lang="en-US" sz="1400" dirty="0"/>
                    </a:p>
                  </a:txBody>
                  <a:tcPr anchor="ctr"/>
                </a:tc>
                <a:extLst>
                  <a:ext uri="{0D108BD9-81ED-4DB2-BD59-A6C34878D82A}">
                    <a16:rowId xmlns:a16="http://schemas.microsoft.com/office/drawing/2014/main" val="4252814938"/>
                  </a:ext>
                </a:extLst>
              </a:tr>
            </a:tbl>
          </a:graphicData>
        </a:graphic>
      </p:graphicFrame>
      <p:pic>
        <p:nvPicPr>
          <p:cNvPr id="2" name="Picture 1">
            <a:extLst>
              <a:ext uri="{FF2B5EF4-FFF2-40B4-BE49-F238E27FC236}">
                <a16:creationId xmlns:a16="http://schemas.microsoft.com/office/drawing/2014/main" id="{DEB5B825-2528-967F-7859-E3D914D3987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1414129" y="37471"/>
            <a:ext cx="720000" cy="720000"/>
          </a:xfrm>
          <a:prstGeom prst="rect">
            <a:avLst/>
          </a:prstGeom>
        </p:spPr>
      </p:pic>
    </p:spTree>
    <p:extLst>
      <p:ext uri="{BB962C8B-B14F-4D97-AF65-F5344CB8AC3E}">
        <p14:creationId xmlns:p14="http://schemas.microsoft.com/office/powerpoint/2010/main" val="33223750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02E3349-5DA5-1F31-DE2D-549902E85F5F}"/>
              </a:ext>
            </a:extLst>
          </p:cNvPr>
          <p:cNvPicPr>
            <a:picLocks noChangeAspect="1"/>
          </p:cNvPicPr>
          <p:nvPr/>
        </p:nvPicPr>
        <p:blipFill rotWithShape="1">
          <a:blip r:embed="rId3">
            <a:extLst>
              <a:ext uri="{28A0092B-C50C-407E-A947-70E740481C1C}">
                <a14:useLocalDpi xmlns:a14="http://schemas.microsoft.com/office/drawing/2010/main" val="0"/>
              </a:ext>
            </a:extLst>
          </a:blip>
          <a:srcRect l="1258" t="6458" r="666" b="6557"/>
          <a:stretch/>
        </p:blipFill>
        <p:spPr>
          <a:xfrm>
            <a:off x="0" y="-15722"/>
            <a:ext cx="11277600" cy="955522"/>
          </a:xfrm>
          <a:prstGeom prst="rect">
            <a:avLst/>
          </a:prstGeom>
        </p:spPr>
      </p:pic>
      <p:grpSp>
        <p:nvGrpSpPr>
          <p:cNvPr id="3" name="Group 2">
            <a:extLst>
              <a:ext uri="{FF2B5EF4-FFF2-40B4-BE49-F238E27FC236}">
                <a16:creationId xmlns:a16="http://schemas.microsoft.com/office/drawing/2014/main" id="{E8C81C03-75DB-9437-2BA0-90A37649AE10}"/>
              </a:ext>
            </a:extLst>
          </p:cNvPr>
          <p:cNvGrpSpPr/>
          <p:nvPr/>
        </p:nvGrpSpPr>
        <p:grpSpPr>
          <a:xfrm>
            <a:off x="0" y="6416831"/>
            <a:ext cx="12192000" cy="546100"/>
            <a:chOff x="0" y="0"/>
            <a:chExt cx="6186311" cy="277095"/>
          </a:xfrm>
          <a:solidFill>
            <a:srgbClr val="FFC000"/>
          </a:solidFill>
        </p:grpSpPr>
        <p:sp>
          <p:nvSpPr>
            <p:cNvPr id="4" name="Freeform 3">
              <a:extLst>
                <a:ext uri="{FF2B5EF4-FFF2-40B4-BE49-F238E27FC236}">
                  <a16:creationId xmlns:a16="http://schemas.microsoft.com/office/drawing/2014/main" id="{A50F20CC-56B6-4773-C045-8B5DBB792589}"/>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sp>
        <p:nvSpPr>
          <p:cNvPr id="5" name="TextBox 4">
            <a:extLst>
              <a:ext uri="{FF2B5EF4-FFF2-40B4-BE49-F238E27FC236}">
                <a16:creationId xmlns:a16="http://schemas.microsoft.com/office/drawing/2014/main" id="{B9DD42E4-01C5-2E18-3A40-072EA6EC5E83}"/>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
        <p:nvSpPr>
          <p:cNvPr id="6" name="TextBox 8">
            <a:extLst>
              <a:ext uri="{FF2B5EF4-FFF2-40B4-BE49-F238E27FC236}">
                <a16:creationId xmlns:a16="http://schemas.microsoft.com/office/drawing/2014/main" id="{F2BA1D98-ED7C-42F7-FA48-13F8050515C4}"/>
              </a:ext>
            </a:extLst>
          </p:cNvPr>
          <p:cNvSpPr txBox="1"/>
          <p:nvPr/>
        </p:nvSpPr>
        <p:spPr>
          <a:xfrm>
            <a:off x="10020063" y="6474341"/>
            <a:ext cx="2314988" cy="249107"/>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7" name="Picture 7">
            <a:extLst>
              <a:ext uri="{FF2B5EF4-FFF2-40B4-BE49-F238E27FC236}">
                <a16:creationId xmlns:a16="http://schemas.microsoft.com/office/drawing/2014/main" id="{1BAB4F65-18CE-D9C2-7A94-668F4A413F89}"/>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9883567" y="6426200"/>
            <a:ext cx="317500" cy="317500"/>
          </a:xfrm>
          <a:prstGeom prst="rect">
            <a:avLst/>
          </a:prstGeom>
        </p:spPr>
      </p:pic>
      <p:pic>
        <p:nvPicPr>
          <p:cNvPr id="8" name="Picture 6">
            <a:extLst>
              <a:ext uri="{FF2B5EF4-FFF2-40B4-BE49-F238E27FC236}">
                <a16:creationId xmlns:a16="http://schemas.microsoft.com/office/drawing/2014/main" id="{7342B2AF-9D02-E897-41F9-BD07B7F6B8AA}"/>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9512253" y="6426200"/>
            <a:ext cx="317500" cy="317500"/>
          </a:xfrm>
          <a:prstGeom prst="rect">
            <a:avLst/>
          </a:prstGeom>
        </p:spPr>
      </p:pic>
      <p:pic>
        <p:nvPicPr>
          <p:cNvPr id="9" name="Picture 5">
            <a:extLst>
              <a:ext uri="{FF2B5EF4-FFF2-40B4-BE49-F238E27FC236}">
                <a16:creationId xmlns:a16="http://schemas.microsoft.com/office/drawing/2014/main" id="{4E45BDCD-6382-2586-FEDB-ECDA4BDB31E8}"/>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9119414" y="6426200"/>
            <a:ext cx="317500" cy="317500"/>
          </a:xfrm>
          <a:prstGeom prst="rect">
            <a:avLst/>
          </a:prstGeom>
        </p:spPr>
      </p:pic>
      <p:pic>
        <p:nvPicPr>
          <p:cNvPr id="10" name="Picture 4">
            <a:extLst>
              <a:ext uri="{FF2B5EF4-FFF2-40B4-BE49-F238E27FC236}">
                <a16:creationId xmlns:a16="http://schemas.microsoft.com/office/drawing/2014/main" id="{D869F5C7-1811-8512-7F11-7973BECBE5F0}"/>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a:fillRect/>
          </a:stretch>
        </p:blipFill>
        <p:spPr>
          <a:xfrm>
            <a:off x="8726575" y="6426200"/>
            <a:ext cx="317500" cy="317500"/>
          </a:xfrm>
          <a:prstGeom prst="rect">
            <a:avLst/>
          </a:prstGeom>
        </p:spPr>
      </p:pic>
      <p:graphicFrame>
        <p:nvGraphicFramePr>
          <p:cNvPr id="13" name="Table 12">
            <a:extLst>
              <a:ext uri="{FF2B5EF4-FFF2-40B4-BE49-F238E27FC236}">
                <a16:creationId xmlns:a16="http://schemas.microsoft.com/office/drawing/2014/main" id="{0EC240FE-4926-6EBC-5494-EEE8D1425114}"/>
              </a:ext>
            </a:extLst>
          </p:cNvPr>
          <p:cNvGraphicFramePr>
            <a:graphicFrameLocks noGrp="1"/>
          </p:cNvGraphicFramePr>
          <p:nvPr>
            <p:extLst>
              <p:ext uri="{D42A27DB-BD31-4B8C-83A1-F6EECF244321}">
                <p14:modId xmlns:p14="http://schemas.microsoft.com/office/powerpoint/2010/main" val="92625491"/>
              </p:ext>
            </p:extLst>
          </p:nvPr>
        </p:nvGraphicFramePr>
        <p:xfrm>
          <a:off x="139870" y="1111045"/>
          <a:ext cx="11768352" cy="4965287"/>
        </p:xfrm>
        <a:graphic>
          <a:graphicData uri="http://schemas.openxmlformats.org/drawingml/2006/table">
            <a:tbl>
              <a:tblPr firstRow="1" bandRow="1">
                <a:tableStyleId>{5C22544A-7EE6-4342-B048-85BDC9FD1C3A}</a:tableStyleId>
              </a:tblPr>
              <a:tblGrid>
                <a:gridCol w="794026">
                  <a:extLst>
                    <a:ext uri="{9D8B030D-6E8A-4147-A177-3AD203B41FA5}">
                      <a16:colId xmlns:a16="http://schemas.microsoft.com/office/drawing/2014/main" val="513438048"/>
                    </a:ext>
                  </a:extLst>
                </a:gridCol>
                <a:gridCol w="3913315">
                  <a:extLst>
                    <a:ext uri="{9D8B030D-6E8A-4147-A177-3AD203B41FA5}">
                      <a16:colId xmlns:a16="http://schemas.microsoft.com/office/drawing/2014/main" val="2641967713"/>
                    </a:ext>
                  </a:extLst>
                </a:gridCol>
                <a:gridCol w="1806525">
                  <a:extLst>
                    <a:ext uri="{9D8B030D-6E8A-4147-A177-3AD203B41FA5}">
                      <a16:colId xmlns:a16="http://schemas.microsoft.com/office/drawing/2014/main" val="1510769062"/>
                    </a:ext>
                  </a:extLst>
                </a:gridCol>
                <a:gridCol w="2562012">
                  <a:extLst>
                    <a:ext uri="{9D8B030D-6E8A-4147-A177-3AD203B41FA5}">
                      <a16:colId xmlns:a16="http://schemas.microsoft.com/office/drawing/2014/main" val="1943579358"/>
                    </a:ext>
                  </a:extLst>
                </a:gridCol>
                <a:gridCol w="2692474">
                  <a:extLst>
                    <a:ext uri="{9D8B030D-6E8A-4147-A177-3AD203B41FA5}">
                      <a16:colId xmlns:a16="http://schemas.microsoft.com/office/drawing/2014/main" val="3740986500"/>
                    </a:ext>
                  </a:extLst>
                </a:gridCol>
              </a:tblGrid>
              <a:tr h="460481">
                <a:tc>
                  <a:txBody>
                    <a:bodyPr/>
                    <a:lstStyle/>
                    <a:p>
                      <a:r>
                        <a:rPr lang="en-IN" sz="2000" b="1" dirty="0">
                          <a:latin typeface="Times New Roman" panose="02020603050405020304" pitchFamily="18" charset="0"/>
                          <a:cs typeface="Times New Roman" panose="02020603050405020304" pitchFamily="18" charset="0"/>
                        </a:rPr>
                        <a:t>Sl.No</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lgn="ctr"/>
                      <a:r>
                        <a:rPr lang="en-IN" sz="2000" b="1" dirty="0">
                          <a:latin typeface="Times New Roman" panose="02020603050405020304" pitchFamily="18" charset="0"/>
                          <a:cs typeface="Times New Roman" panose="02020603050405020304" pitchFamily="18" charset="0"/>
                        </a:rPr>
                        <a:t> Title</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lgn="ctr"/>
                      <a:r>
                        <a:rPr lang="en-IN" sz="2000" b="1" dirty="0">
                          <a:latin typeface="Times New Roman" panose="02020603050405020304" pitchFamily="18" charset="0"/>
                          <a:cs typeface="Times New Roman" panose="02020603050405020304" pitchFamily="18" charset="0"/>
                        </a:rPr>
                        <a:t>Author</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1" i="0" u="none" strike="noStrike" dirty="0">
                          <a:solidFill>
                            <a:schemeClr val="bg1"/>
                          </a:solidFill>
                          <a:effectLst/>
                          <a:latin typeface="Times New Roman" panose="02020603050405020304" pitchFamily="18" charset="0"/>
                          <a:cs typeface="Times New Roman" panose="02020603050405020304" pitchFamily="18" charset="0"/>
                        </a:rPr>
                        <a:t>Contribution</a:t>
                      </a:r>
                    </a:p>
                  </a:txBody>
                  <a:tcPr anchor="ctr"/>
                </a:tc>
                <a:tc>
                  <a:txBody>
                    <a:bodyPr/>
                    <a:lstStyle/>
                    <a:p>
                      <a:pPr algn="ctr"/>
                      <a:r>
                        <a:rPr lang="en-IN" sz="2000" b="1" dirty="0">
                          <a:latin typeface="Times New Roman" panose="02020603050405020304" pitchFamily="18" charset="0"/>
                          <a:cs typeface="Times New Roman" panose="02020603050405020304" pitchFamily="18" charset="0"/>
                        </a:rPr>
                        <a:t>Drawback</a:t>
                      </a:r>
                      <a:endParaRPr lang="en-IN"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20020752"/>
                  </a:ext>
                </a:extLst>
              </a:tr>
              <a:tr h="1501602">
                <a:tc>
                  <a:txBody>
                    <a:bodyPr/>
                    <a:lstStyle/>
                    <a:p>
                      <a:pPr algn="ctr"/>
                      <a:r>
                        <a:rPr lang="en-IN" sz="1600" b="0" dirty="0">
                          <a:latin typeface="Times New Roman" panose="02020603050405020304" pitchFamily="18" charset="0"/>
                          <a:cs typeface="Times New Roman" panose="02020603050405020304" pitchFamily="18" charset="0"/>
                        </a:rPr>
                        <a:t>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i="0" u="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The Silicon Ceiling: Auditing GPT's Race and Gender Biases in Hiring</a:t>
                      </a:r>
                      <a:endParaRPr lang="en-US" sz="1400" dirty="0"/>
                    </a:p>
                  </a:txBody>
                  <a:tcPr anchor="ctr">
                    <a:lnB w="12700" cmpd="sng">
                      <a:noFill/>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L. Armstrong, A. Liu, S. MacNeil, D. Metaxa</a:t>
                      </a:r>
                      <a:endParaRPr lang="en-US" sz="1400" dirty="0"/>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600" b="0" i="0" u="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Shows that GPT-based hiring prompts can produce race- and gender-biased outcomes.</a:t>
                      </a:r>
                      <a:endParaRPr lang="en-US" sz="1400" dirty="0"/>
                    </a:p>
                  </a:txBody>
                  <a:tcPr anchor="ctr"/>
                </a:tc>
                <a:tc>
                  <a:txBody>
                    <a:bodyPr/>
                    <a:lstStyle/>
                    <a:p>
                      <a:pPr algn="just"/>
                      <a:r>
                        <a:rPr lang="en-US" sz="1600" b="0" i="0" u="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An audit only; no bias mitigation is built into a working pipeline.</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658038804"/>
                  </a:ext>
                </a:extLst>
              </a:tr>
              <a:tr h="1501602">
                <a:tc>
                  <a:txBody>
                    <a:bodyPr/>
                    <a:lstStyle/>
                    <a:p>
                      <a:pPr algn="ctr"/>
                      <a:r>
                        <a:rPr lang="en-IN" sz="1600" b="0" dirty="0">
                          <a:latin typeface="Times New Roman" panose="02020603050405020304" pitchFamily="18" charset="0"/>
                          <a:cs typeface="Times New Roman" panose="02020603050405020304" pitchFamily="18" charset="0"/>
                        </a:rPr>
                        <a:t>7</a:t>
                      </a:r>
                    </a:p>
                  </a:txBody>
                  <a:tcPr anchor="ctr">
                    <a:lnR w="12700" cmpd="sng">
                      <a:noFill/>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Mitigating Bias in Algorithmic Hiring: Evaluating Claims and Practices</a:t>
                      </a:r>
                      <a:endParaRPr lang="en-US" sz="1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M. Raghavan, S. Barocas, J. Kleinberg, K. Levy</a:t>
                      </a:r>
                      <a:endParaRPr lang="en-US" sz="1400" dirty="0"/>
                    </a:p>
                  </a:txBody>
                  <a:tcPr anchor="ctr">
                    <a:lnL w="12700" cmpd="sng">
                      <a:noFill/>
                    </a:ln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Examines the bias-mitigation claims made by hiring-algorithm vendors and evaluates them against technical and legal requirements.</a:t>
                      </a:r>
                      <a:endParaRPr lang="en-US" sz="1400" dirty="0"/>
                    </a:p>
                  </a:txBody>
                  <a:tcPr anchor="ctr"/>
                </a:tc>
                <a:tc>
                  <a:txBody>
                    <a:bodyPr/>
                    <a:lstStyle/>
                    <a:p>
                      <a:pPr algn="just"/>
                      <a:r>
                        <a:rPr lang="en-US"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An analysis of existing practice; it does not implement a screening system.</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333608603"/>
                  </a:ext>
                </a:extLst>
              </a:tr>
              <a:tr h="1501602">
                <a:tc>
                  <a:txBody>
                    <a:bodyPr/>
                    <a:lstStyle/>
                    <a:p>
                      <a:pPr algn="ctr"/>
                      <a:r>
                        <a:rPr lang="en-IN" sz="1600" b="0" dirty="0">
                          <a:latin typeface="Times New Roman" panose="02020603050405020304" pitchFamily="18" charset="0"/>
                          <a:cs typeface="Times New Roman" panose="02020603050405020304" pitchFamily="18" charset="0"/>
                        </a:rPr>
                        <a:t>8</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i="0" u="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FA*IR: A Fair Top-k Ranking Algorithm</a:t>
                      </a:r>
                      <a:endParaRPr lang="en-US" sz="1400" dirty="0"/>
                    </a:p>
                  </a:txBody>
                  <a:tcPr anchor="ctr">
                    <a:lnT w="12700" cmpd="sng">
                      <a:noFill/>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M. Zehlike, F. Bonchi, C. Castillo, S. Hajian, M. Megahed, R. Baeza-Yates</a:t>
                      </a:r>
                      <a:endParaRPr lang="en-US" sz="1400" dirty="0"/>
                    </a:p>
                  </a:txBody>
                  <a:tcPr anchor="ctr"/>
                </a:tc>
                <a:tc>
                  <a:txBody>
                    <a:bodyPr/>
                    <a:lstStyle/>
                    <a:p>
                      <a:pPr algn="just"/>
                      <a:r>
                        <a:rPr lang="en-US" sz="1600" b="0" i="0" u="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 re-ranking algorithm that keeps the top-k results fair to a protected group.</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gn="just"/>
                      <a:r>
                        <a:rPr lang="en-US" sz="1600" b="0" i="0" u="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Needs protected attributes at ranking time and does not explain why a candidate received a score.</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252814938"/>
                  </a:ext>
                </a:extLst>
              </a:tr>
            </a:tbl>
          </a:graphicData>
        </a:graphic>
      </p:graphicFrame>
      <p:pic>
        <p:nvPicPr>
          <p:cNvPr id="11" name="Picture 10">
            <a:extLst>
              <a:ext uri="{FF2B5EF4-FFF2-40B4-BE49-F238E27FC236}">
                <a16:creationId xmlns:a16="http://schemas.microsoft.com/office/drawing/2014/main" id="{A330BB7A-F0A6-C94A-C13C-2DDD06B546E9}"/>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1363846" y="102039"/>
            <a:ext cx="720000" cy="720000"/>
          </a:xfrm>
          <a:prstGeom prst="rect">
            <a:avLst/>
          </a:prstGeom>
        </p:spPr>
      </p:pic>
    </p:spTree>
    <p:extLst>
      <p:ext uri="{BB962C8B-B14F-4D97-AF65-F5344CB8AC3E}">
        <p14:creationId xmlns:p14="http://schemas.microsoft.com/office/powerpoint/2010/main" val="27061136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00E61-22B0-DABD-7704-B381924D01CE}"/>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3074771D-309E-C5AB-0D85-6EC8635F1D10}"/>
              </a:ext>
            </a:extLst>
          </p:cNvPr>
          <p:cNvGrpSpPr/>
          <p:nvPr/>
        </p:nvGrpSpPr>
        <p:grpSpPr>
          <a:xfrm>
            <a:off x="0" y="6311900"/>
            <a:ext cx="12192000" cy="546100"/>
            <a:chOff x="0" y="0"/>
            <a:chExt cx="6186311" cy="277095"/>
          </a:xfrm>
          <a:solidFill>
            <a:srgbClr val="FFC000"/>
          </a:solidFill>
        </p:grpSpPr>
        <p:sp>
          <p:nvSpPr>
            <p:cNvPr id="20" name="Freeform 3">
              <a:extLst>
                <a:ext uri="{FF2B5EF4-FFF2-40B4-BE49-F238E27FC236}">
                  <a16:creationId xmlns:a16="http://schemas.microsoft.com/office/drawing/2014/main" id="{6CE42D1B-00EB-D8A0-615A-ACBEF0CF4D59}"/>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C0F4F77C-01EB-8EEC-289A-374CFB13AEDF}"/>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F4AAE819-B415-1B68-E075-9D699708F90E}"/>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726574" y="6404675"/>
            <a:ext cx="339025" cy="339025"/>
          </a:xfrm>
          <a:prstGeom prst="rect">
            <a:avLst/>
          </a:prstGeom>
        </p:spPr>
      </p:pic>
      <p:pic>
        <p:nvPicPr>
          <p:cNvPr id="27" name="Picture 5">
            <a:extLst>
              <a:ext uri="{FF2B5EF4-FFF2-40B4-BE49-F238E27FC236}">
                <a16:creationId xmlns:a16="http://schemas.microsoft.com/office/drawing/2014/main" id="{94C06586-910C-F3DF-6F05-6EC542208268}"/>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50C13B44-974F-5BFA-6CBC-3808EB8BAA66}"/>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B1011D81-5ED3-4E70-0EAD-BD841EEC3598}"/>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80DF75BF-67B8-2A33-94D8-6F0377F983E8}"/>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sp>
        <p:nvSpPr>
          <p:cNvPr id="13" name="Title 8">
            <a:extLst>
              <a:ext uri="{FF2B5EF4-FFF2-40B4-BE49-F238E27FC236}">
                <a16:creationId xmlns:a16="http://schemas.microsoft.com/office/drawing/2014/main" id="{4F5439E8-BE38-ABFC-EF61-B082273C82E5}"/>
              </a:ext>
            </a:extLst>
          </p:cNvPr>
          <p:cNvSpPr txBox="1">
            <a:spLocks/>
          </p:cNvSpPr>
          <p:nvPr/>
        </p:nvSpPr>
        <p:spPr>
          <a:xfrm>
            <a:off x="139870" y="1065914"/>
            <a:ext cx="10131425" cy="347046"/>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sz="2800" b="1" dirty="0">
              <a:latin typeface="Times New Roman" panose="02020603050405020304" pitchFamily="18" charset="0"/>
              <a:cs typeface="Times New Roman" panose="02020603050405020304" pitchFamily="18" charset="0"/>
            </a:endParaRPr>
          </a:p>
        </p:txBody>
      </p:sp>
      <p:sp>
        <p:nvSpPr>
          <p:cNvPr id="14" name="Content Placeholder 5">
            <a:extLst>
              <a:ext uri="{FF2B5EF4-FFF2-40B4-BE49-F238E27FC236}">
                <a16:creationId xmlns:a16="http://schemas.microsoft.com/office/drawing/2014/main" id="{0BF30768-BA08-7AFF-4059-2155C1B2E23A}"/>
              </a:ext>
            </a:extLst>
          </p:cNvPr>
          <p:cNvSpPr txBox="1">
            <a:spLocks/>
          </p:cNvSpPr>
          <p:nvPr/>
        </p:nvSpPr>
        <p:spPr>
          <a:xfrm>
            <a:off x="131087" y="1588261"/>
            <a:ext cx="11832313" cy="432888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en-US" sz="1800" dirty="0">
              <a:latin typeface="Times New Roman" panose="02020603050405020304" pitchFamily="18" charset="0"/>
              <a:cs typeface="Times New Roman" panose="02020603050405020304" pitchFamily="18" charset="0"/>
            </a:endParaRPr>
          </a:p>
        </p:txBody>
      </p:sp>
      <p:sp>
        <p:nvSpPr>
          <p:cNvPr id="22" name="Content Placeholder 5">
            <a:extLst>
              <a:ext uri="{FF2B5EF4-FFF2-40B4-BE49-F238E27FC236}">
                <a16:creationId xmlns:a16="http://schemas.microsoft.com/office/drawing/2014/main" id="{0E0EDADD-A106-CAB3-CBBB-BF1264E29040}"/>
              </a:ext>
            </a:extLst>
          </p:cNvPr>
          <p:cNvSpPr txBox="1">
            <a:spLocks/>
          </p:cNvSpPr>
          <p:nvPr/>
        </p:nvSpPr>
        <p:spPr>
          <a:xfrm>
            <a:off x="283488" y="1740661"/>
            <a:ext cx="11500346" cy="432888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en-US" sz="1800" dirty="0">
              <a:latin typeface="Times New Roman" panose="02020603050405020304" pitchFamily="18" charset="0"/>
              <a:cs typeface="Times New Roman" panose="02020603050405020304" pitchFamily="18" charset="0"/>
            </a:endParaRPr>
          </a:p>
        </p:txBody>
      </p:sp>
      <p:pic>
        <p:nvPicPr>
          <p:cNvPr id="23" name="Picture 22">
            <a:extLst>
              <a:ext uri="{FF2B5EF4-FFF2-40B4-BE49-F238E27FC236}">
                <a16:creationId xmlns:a16="http://schemas.microsoft.com/office/drawing/2014/main" id="{383B6003-0B14-FB1E-C45D-B112602F4BB0}"/>
              </a:ext>
            </a:extLst>
          </p:cNvPr>
          <p:cNvPicPr>
            <a:picLocks noChangeAspect="1"/>
          </p:cNvPicPr>
          <p:nvPr/>
        </p:nvPicPr>
        <p:blipFill rotWithShape="1">
          <a:blip r:embed="rId10">
            <a:extLst>
              <a:ext uri="{28A0092B-C50C-407E-A947-70E740481C1C}">
                <a14:useLocalDpi xmlns:a14="http://schemas.microsoft.com/office/drawing/2010/main" val="0"/>
              </a:ext>
            </a:extLst>
          </a:blip>
          <a:srcRect l="1258" t="6458" r="666" b="6557"/>
          <a:stretch/>
        </p:blipFill>
        <p:spPr>
          <a:xfrm>
            <a:off x="0" y="-15722"/>
            <a:ext cx="11326761" cy="955522"/>
          </a:xfrm>
          <a:prstGeom prst="rect">
            <a:avLst/>
          </a:prstGeom>
        </p:spPr>
      </p:pic>
      <p:sp>
        <p:nvSpPr>
          <p:cNvPr id="17" name="TextBox 16">
            <a:extLst>
              <a:ext uri="{FF2B5EF4-FFF2-40B4-BE49-F238E27FC236}">
                <a16:creationId xmlns:a16="http://schemas.microsoft.com/office/drawing/2014/main" id="{D8AAB3BE-D317-7679-E511-F423CA41471F}"/>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graphicFrame>
        <p:nvGraphicFramePr>
          <p:cNvPr id="2" name="Table 1">
            <a:extLst>
              <a:ext uri="{FF2B5EF4-FFF2-40B4-BE49-F238E27FC236}">
                <a16:creationId xmlns:a16="http://schemas.microsoft.com/office/drawing/2014/main" id="{FAD45885-1508-5706-16ED-9A66403C8E46}"/>
              </a:ext>
            </a:extLst>
          </p:cNvPr>
          <p:cNvGraphicFramePr>
            <a:graphicFrameLocks noGrp="1"/>
          </p:cNvGraphicFramePr>
          <p:nvPr>
            <p:extLst>
              <p:ext uri="{D42A27DB-BD31-4B8C-83A1-F6EECF244321}">
                <p14:modId xmlns:p14="http://schemas.microsoft.com/office/powerpoint/2010/main" val="3629310774"/>
              </p:ext>
            </p:extLst>
          </p:nvPr>
        </p:nvGraphicFramePr>
        <p:xfrm>
          <a:off x="139870" y="1182159"/>
          <a:ext cx="11768352" cy="4870694"/>
        </p:xfrm>
        <a:graphic>
          <a:graphicData uri="http://schemas.openxmlformats.org/drawingml/2006/table">
            <a:tbl>
              <a:tblPr firstRow="1" bandRow="1">
                <a:tableStyleId>{5C22544A-7EE6-4342-B048-85BDC9FD1C3A}</a:tableStyleId>
              </a:tblPr>
              <a:tblGrid>
                <a:gridCol w="794026">
                  <a:extLst>
                    <a:ext uri="{9D8B030D-6E8A-4147-A177-3AD203B41FA5}">
                      <a16:colId xmlns:a16="http://schemas.microsoft.com/office/drawing/2014/main" val="513438048"/>
                    </a:ext>
                  </a:extLst>
                </a:gridCol>
                <a:gridCol w="3913315">
                  <a:extLst>
                    <a:ext uri="{9D8B030D-6E8A-4147-A177-3AD203B41FA5}">
                      <a16:colId xmlns:a16="http://schemas.microsoft.com/office/drawing/2014/main" val="2641967713"/>
                    </a:ext>
                  </a:extLst>
                </a:gridCol>
                <a:gridCol w="1806525">
                  <a:extLst>
                    <a:ext uri="{9D8B030D-6E8A-4147-A177-3AD203B41FA5}">
                      <a16:colId xmlns:a16="http://schemas.microsoft.com/office/drawing/2014/main" val="1510769062"/>
                    </a:ext>
                  </a:extLst>
                </a:gridCol>
                <a:gridCol w="2562012">
                  <a:extLst>
                    <a:ext uri="{9D8B030D-6E8A-4147-A177-3AD203B41FA5}">
                      <a16:colId xmlns:a16="http://schemas.microsoft.com/office/drawing/2014/main" val="1943579358"/>
                    </a:ext>
                  </a:extLst>
                </a:gridCol>
                <a:gridCol w="2692474">
                  <a:extLst>
                    <a:ext uri="{9D8B030D-6E8A-4147-A177-3AD203B41FA5}">
                      <a16:colId xmlns:a16="http://schemas.microsoft.com/office/drawing/2014/main" val="3740986500"/>
                    </a:ext>
                  </a:extLst>
                </a:gridCol>
              </a:tblGrid>
              <a:tr h="420614">
                <a:tc>
                  <a:txBody>
                    <a:bodyPr/>
                    <a:lstStyle/>
                    <a:p>
                      <a:r>
                        <a:rPr lang="en-IN" sz="2000" b="1" dirty="0">
                          <a:latin typeface="Times New Roman" panose="02020603050405020304" pitchFamily="18" charset="0"/>
                          <a:cs typeface="Times New Roman" panose="02020603050405020304" pitchFamily="18" charset="0"/>
                        </a:rPr>
                        <a:t>Sl.No</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lgn="ctr"/>
                      <a:r>
                        <a:rPr lang="en-IN" sz="2000" b="1" dirty="0">
                          <a:latin typeface="Times New Roman" panose="02020603050405020304" pitchFamily="18" charset="0"/>
                          <a:cs typeface="Times New Roman" panose="02020603050405020304" pitchFamily="18" charset="0"/>
                        </a:rPr>
                        <a:t> Title</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lgn="ctr"/>
                      <a:r>
                        <a:rPr lang="en-IN" sz="2000" b="1" dirty="0">
                          <a:latin typeface="Times New Roman" panose="02020603050405020304" pitchFamily="18" charset="0"/>
                          <a:cs typeface="Times New Roman" panose="02020603050405020304" pitchFamily="18" charset="0"/>
                        </a:rPr>
                        <a:t>Author</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1" i="0" u="none" strike="noStrike" dirty="0">
                          <a:solidFill>
                            <a:schemeClr val="bg1"/>
                          </a:solidFill>
                          <a:effectLst/>
                          <a:latin typeface="Times New Roman" panose="02020603050405020304" pitchFamily="18" charset="0"/>
                          <a:cs typeface="Times New Roman" panose="02020603050405020304" pitchFamily="18" charset="0"/>
                        </a:rPr>
                        <a:t>Contribution</a:t>
                      </a:r>
                    </a:p>
                  </a:txBody>
                  <a:tcPr anchor="ctr"/>
                </a:tc>
                <a:tc>
                  <a:txBody>
                    <a:bodyPr/>
                    <a:lstStyle/>
                    <a:p>
                      <a:pPr algn="ctr"/>
                      <a:r>
                        <a:rPr lang="en-IN" sz="2000" b="1" dirty="0">
                          <a:latin typeface="Times New Roman" panose="02020603050405020304" pitchFamily="18" charset="0"/>
                          <a:cs typeface="Times New Roman" panose="02020603050405020304" pitchFamily="18" charset="0"/>
                        </a:rPr>
                        <a:t>Drawback</a:t>
                      </a:r>
                      <a:endParaRPr lang="en-IN"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20020752"/>
                  </a:ext>
                </a:extLst>
              </a:tr>
              <a:tr h="910658">
                <a:tc>
                  <a:txBody>
                    <a:bodyPr/>
                    <a:lstStyle/>
                    <a:p>
                      <a:pPr algn="ctr"/>
                      <a:r>
                        <a:rPr lang="en-IN" sz="1800" b="0" dirty="0">
                          <a:latin typeface="Times New Roman" panose="02020603050405020304" pitchFamily="18" charset="0"/>
                          <a:cs typeface="Times New Roman" panose="02020603050405020304" pitchFamily="18" charset="0"/>
                        </a:rPr>
                        <a:t>9</a:t>
                      </a:r>
                    </a:p>
                  </a:txBody>
                  <a:tcPr anchor="ctr"/>
                </a:tc>
                <a:tc>
                  <a:txBody>
                    <a:bodyPr/>
                    <a:lstStyle/>
                    <a:p>
                      <a:pPr marL="0" marR="0" lvl="0" indent="0" algn="just" rtl="0">
                        <a:lnSpc>
                          <a:spcPct val="100000"/>
                        </a:lnSpc>
                        <a:spcBef>
                          <a:spcPts val="0"/>
                        </a:spcBef>
                        <a:spcAft>
                          <a:spcPts val="0"/>
                        </a:spcAft>
                        <a:buClr>
                          <a:srgbClr val="000000"/>
                        </a:buClr>
                        <a:buSzPts val="1800"/>
                        <a:buFont typeface="Times New Roman" panose="02020603050405020304"/>
                        <a:buNone/>
                      </a:pPr>
                      <a:r>
                        <a:rPr lang="en-US" sz="18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Improving Factuality and Reasoning in Language Models through Multiagent Debate</a:t>
                      </a:r>
                      <a:endParaRPr lang="en-US" sz="1400" dirty="0"/>
                    </a:p>
                  </a:txBody>
                  <a:tcPr anchor="ctr">
                    <a:lnB w="12700" cmpd="sng">
                      <a:noFill/>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Y. Du, S. Li, A. Torralba, J. B. Tenenbaum, I. Mordatch</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Several language-model agents debate and refine their answers, which improves reasoning and reduces errors.</a:t>
                      </a:r>
                      <a:endParaRPr lang="en-US" sz="1400" dirty="0"/>
                    </a:p>
                  </a:txBody>
                  <a:tcPr anchor="ctr"/>
                </a:tc>
                <a:tc>
                  <a:txBody>
                    <a:bodyPr/>
                    <a:lstStyle/>
                    <a:p>
                      <a:pPr algn="just"/>
                      <a:r>
                        <a:rPr lang="en-US" sz="18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Studied on general reasoning tasks, not on hiring decisions, and costs more computation.</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658038804"/>
                  </a:ext>
                </a:extLst>
              </a:tr>
              <a:tr h="910658">
                <a:tc>
                  <a:txBody>
                    <a:bodyPr/>
                    <a:lstStyle/>
                    <a:p>
                      <a:pPr algn="ctr"/>
                      <a:r>
                        <a:rPr lang="en-IN" sz="1800" b="0" dirty="0">
                          <a:latin typeface="Times New Roman" panose="02020603050405020304" pitchFamily="18" charset="0"/>
                          <a:cs typeface="Times New Roman" panose="02020603050405020304" pitchFamily="18" charset="0"/>
                        </a:rPr>
                        <a:t>10</a:t>
                      </a:r>
                    </a:p>
                  </a:txBody>
                  <a:tcPr anchor="ctr">
                    <a:lnR w="12700" cmpd="sng">
                      <a:noFill/>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 Comprehensive Survey of Artificial Intelligence Techniques for Talent Analytics</a:t>
                      </a:r>
                      <a:endParaRPr lang="en-US" sz="1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cap="none"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C. Qin, et al.</a:t>
                      </a:r>
                      <a:endParaRPr lang="en-US" sz="1400" dirty="0"/>
                    </a:p>
                  </a:txBody>
                  <a:tcPr anchor="ctr">
                    <a:lnL w="12700" cmpd="sng">
                      <a:noFill/>
                    </a:ln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0" i="0" u="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Surveys AI techniques used across talent analytics, such as recruitment, including matching and ranking methods.</a:t>
                      </a:r>
                      <a:endParaRPr lang="en-US" sz="1400" dirty="0"/>
                    </a:p>
                  </a:txBody>
                  <a:tcPr anchor="ctr"/>
                </a:tc>
                <a:tc>
                  <a:txBody>
                    <a:bodyPr/>
                    <a:lstStyle/>
                    <a:p>
                      <a:pPr algn="just"/>
                      <a:r>
                        <a:rPr lang="en-US" sz="1800" b="0" i="0" u="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 survey; it does not provide an implemented, explainable and bias-aware screening pipeline.</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333608603"/>
                  </a:ext>
                </a:extLst>
              </a:tr>
            </a:tbl>
          </a:graphicData>
        </a:graphic>
      </p:graphicFrame>
      <p:pic>
        <p:nvPicPr>
          <p:cNvPr id="3" name="Picture 2">
            <a:extLst>
              <a:ext uri="{FF2B5EF4-FFF2-40B4-BE49-F238E27FC236}">
                <a16:creationId xmlns:a16="http://schemas.microsoft.com/office/drawing/2014/main" id="{B06272E2-233C-AF07-C14A-85E7C0DE298C}"/>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1367425" y="102039"/>
            <a:ext cx="720000" cy="720000"/>
          </a:xfrm>
          <a:prstGeom prst="rect">
            <a:avLst/>
          </a:prstGeom>
        </p:spPr>
      </p:pic>
      <p:sp>
        <p:nvSpPr>
          <p:cNvPr id="31" name="TextBox 30"/>
          <p:cNvSpPr txBox="1"/>
          <p:nvPr/>
        </p:nvSpPr>
        <p:spPr>
          <a:xfrm>
            <a:off x="260000" y="5000000"/>
            <a:ext cx="11600000" cy="1150000"/>
          </a:xfrm>
          <a:prstGeom prst="rect">
            <a:avLst/>
          </a:prstGeom>
          <a:noFill/>
        </p:spPr>
        <p:txBody>
          <a:bodyPr wrap="square" anchor="t" lIns="60000" rIns="60000" tIns="30000" bIns="30000">
            <a:spAutoFit/>
          </a:bodyPr>
          <a:lstStyle/>
          <a:p>
            <a:pPr algn="l">
              <a:lnSpc>
                <a:spcPct val="120000"/>
              </a:lnSpc>
              <a:spcAft>
                <a:spcPts val="600"/>
              </a:spcAft>
            </a:pPr>
            <a:r>
              <a:rPr sz="1700" b="1">
                <a:solidFill>
                  <a:srgbClr val="C00000"/>
                </a:solidFill>
                <a:latin typeface="Times New Roman"/>
              </a:rPr>
              <a:t>Research gap: </a:t>
            </a:r>
            <a:r>
              <a:rPr sz="1700" b="0">
                <a:solidFill>
                  <a:srgbClr val="000000"/>
                </a:solidFill>
                <a:latin typeface="Times New Roman"/>
              </a:rPr>
              <a:t>existing work is either accurate but a black box, or an audit of bias with no fix. None combines semantic ranking, skill-synonym understanding, blind screening and a multi-agent explanation in one system.</a:t>
            </a:r>
          </a:p>
        </p:txBody>
      </p:sp>
    </p:spTree>
    <p:extLst>
      <p:ext uri="{BB962C8B-B14F-4D97-AF65-F5344CB8AC3E}">
        <p14:creationId xmlns:p14="http://schemas.microsoft.com/office/powerpoint/2010/main" val="36412160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2">
            <a:extLst>
              <a:ext uri="{FF2B5EF4-FFF2-40B4-BE49-F238E27FC236}">
                <a16:creationId xmlns:a16="http://schemas.microsoft.com/office/drawing/2014/main" id="{C2A77CD9-6D01-A8DB-C66D-BF03B69941D6}"/>
              </a:ext>
            </a:extLst>
          </p:cNvPr>
          <p:cNvGrpSpPr/>
          <p:nvPr/>
        </p:nvGrpSpPr>
        <p:grpSpPr>
          <a:xfrm>
            <a:off x="0" y="6392367"/>
            <a:ext cx="12192000" cy="546100"/>
            <a:chOff x="0" y="0"/>
            <a:chExt cx="6186311" cy="277095"/>
          </a:xfrm>
          <a:solidFill>
            <a:srgbClr val="FFC000"/>
          </a:solidFill>
        </p:grpSpPr>
        <p:sp>
          <p:nvSpPr>
            <p:cNvPr id="20" name="Freeform 3">
              <a:extLst>
                <a:ext uri="{FF2B5EF4-FFF2-40B4-BE49-F238E27FC236}">
                  <a16:creationId xmlns:a16="http://schemas.microsoft.com/office/drawing/2014/main" id="{78297845-B487-3D71-6C3A-180D740BEF2A}"/>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95BF16DE-C2ED-E5FA-FED5-20411081BC54}"/>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A38916BD-2F6C-8C5C-69F1-20EF826FFCFF}"/>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C0CB9FD8-D8C9-4709-8349-C8C9267E8324}"/>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DB4FE3B4-BB90-79D8-EB65-C10A428A39D1}"/>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6BEDBDB7-0B57-60B5-B67A-1FA0861D1DA9}"/>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BDC56BF2-92F3-3F12-F910-2816DF452EE8}"/>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1" name="Picture 10">
            <a:extLst>
              <a:ext uri="{FF2B5EF4-FFF2-40B4-BE49-F238E27FC236}">
                <a16:creationId xmlns:a16="http://schemas.microsoft.com/office/drawing/2014/main" id="{67C11B58-EB3F-0722-64C6-6988DC42213F}"/>
              </a:ext>
            </a:extLst>
          </p:cNvPr>
          <p:cNvPicPr>
            <a:picLocks noChangeAspect="1"/>
          </p:cNvPicPr>
          <p:nvPr/>
        </p:nvPicPr>
        <p:blipFill rotWithShape="1">
          <a:blip r:embed="rId11">
            <a:extLst>
              <a:ext uri="{28A0092B-C50C-407E-A947-70E740481C1C}">
                <a14:useLocalDpi xmlns:a14="http://schemas.microsoft.com/office/drawing/2010/main" val="0"/>
              </a:ext>
            </a:extLst>
          </a:blip>
          <a:srcRect l="1258" t="6458" r="666" b="6557"/>
          <a:stretch/>
        </p:blipFill>
        <p:spPr>
          <a:xfrm>
            <a:off x="0" y="-15722"/>
            <a:ext cx="11257935" cy="955522"/>
          </a:xfrm>
          <a:prstGeom prst="rect">
            <a:avLst/>
          </a:prstGeom>
        </p:spPr>
      </p:pic>
      <p:sp>
        <p:nvSpPr>
          <p:cNvPr id="14" name="Content Placeholder 3">
            <a:extLst>
              <a:ext uri="{FF2B5EF4-FFF2-40B4-BE49-F238E27FC236}">
                <a16:creationId xmlns:a16="http://schemas.microsoft.com/office/drawing/2014/main" id="{60360352-8E76-E4C8-46BE-2F99AF88A637}"/>
              </a:ext>
            </a:extLst>
          </p:cNvPr>
          <p:cNvSpPr txBox="1">
            <a:spLocks/>
          </p:cNvSpPr>
          <p:nvPr/>
        </p:nvSpPr>
        <p:spPr>
          <a:xfrm>
            <a:off x="123825" y="1026160"/>
            <a:ext cx="11383645" cy="504444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b="1"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8A7A8822-82B9-55D4-8B4C-4F03C3DA2137}"/>
              </a:ext>
            </a:extLst>
          </p:cNvPr>
          <p:cNvSpPr txBox="1"/>
          <p:nvPr/>
        </p:nvSpPr>
        <p:spPr>
          <a:xfrm>
            <a:off x="-1" y="1025101"/>
            <a:ext cx="12191999" cy="4797724"/>
          </a:xfrm>
          <a:prstGeom prst="rect">
            <a:avLst/>
          </a:prstGeom>
          <a:noFill/>
        </p:spPr>
        <p:txBody>
          <a:bodyPr wrap="square">
            <a:spAutoFit/>
          </a:bodyPr>
          <a:lstStyle/>
          <a:p>
            <a:pPr algn="just" eaLnBrk="0" fontAlgn="base" hangingPunct="0">
              <a:lnSpc>
                <a:spcPct val="150000"/>
              </a:lnSpc>
              <a:spcBef>
                <a:spcPct val="0"/>
              </a:spcBef>
              <a:spcAft>
                <a:spcPct val="0"/>
              </a:spcAft>
            </a:pPr>
            <a:r>
              <a:rPr lang="en-US" sz="2800" b="1" dirty="0">
                <a:latin typeface="Times New Roman" panose="02020603050405020304" pitchFamily="18" charset="0"/>
                <a:cs typeface="Times New Roman" panose="02020603050405020304" pitchFamily="18" charset="0"/>
              </a:rPr>
              <a:t>OBJECTIVES</a:t>
            </a:r>
          </a:p>
          <a:p>
            <a:pPr algn="just">
              <a:lnSpc>
                <a:spcPct val="200000"/>
              </a:lnSpc>
            </a:pPr>
            <a:r>
              <a:rPr lang="en-US" sz="2000" dirty="0">
                <a:latin typeface="Times New Roman" panose="02020603050405020304" pitchFamily="18" charset="0"/>
                <a:cs typeface="Times New Roman" panose="02020603050405020304" pitchFamily="18" charset="0"/>
              </a:rPr>
              <a:t>1. </a:t>
            </a:r>
            <a:r>
              <a:rPr lang="en-US" sz="2000" i="1" u="sng" dirty="0">
                <a:solidFill>
                  <a:srgbClr val="FF0000"/>
                </a:solidFill>
                <a:latin typeface="Times New Roman" panose="02020603050405020304" pitchFamily="18" charset="0"/>
                <a:cs typeface="Times New Roman" panose="02020603050405020304" pitchFamily="18" charset="0"/>
              </a:rPr>
              <a:t>To Design</a:t>
            </a:r>
            <a:r>
              <a:rPr lang="en-US" sz="2000" dirty="0">
                <a:latin typeface="Times New Roman" panose="02020603050405020304" pitchFamily="18" charset="0"/>
                <a:cs typeface="Times New Roman" panose="02020603050405020304" pitchFamily="18" charset="0"/>
              </a:rPr>
              <a:t>: an explainable screening workflow that shows why every candidate was ranked and which skills are missing.</a:t>
            </a:r>
          </a:p>
          <a:p>
            <a:pPr>
              <a:lnSpc>
                <a:spcPct val="200000"/>
              </a:lnSpc>
            </a:pPr>
            <a:r>
              <a:rPr lang="en-US" sz="2000" dirty="0">
                <a:latin typeface="Times New Roman" panose="02020603050405020304" pitchFamily="18" charset="0"/>
                <a:cs typeface="Times New Roman" panose="02020603050405020304" pitchFamily="18" charset="0"/>
              </a:rPr>
              <a:t>2. </a:t>
            </a:r>
            <a:r>
              <a:rPr lang="en-US" sz="2000" i="1" u="sng" dirty="0">
                <a:solidFill>
                  <a:srgbClr val="FF0000"/>
                </a:solidFill>
                <a:latin typeface="Times New Roman" panose="02020603050405020304" pitchFamily="18" charset="0"/>
                <a:cs typeface="Times New Roman" panose="02020603050405020304" pitchFamily="18" charset="0"/>
              </a:rPr>
              <a:t>To Implement</a:t>
            </a:r>
            <a:r>
              <a:rPr lang="en-US" sz="2000" dirty="0">
                <a:latin typeface="Times New Roman" panose="02020603050405020304" pitchFamily="18" charset="0"/>
                <a:cs typeface="Times New Roman" panose="02020603050405020304" pitchFamily="18" charset="0"/>
              </a:rPr>
              <a:t>: a hybrid ranker that combines skills, semantic fit, experience, education, projects, certifications and resume quality.</a:t>
            </a:r>
          </a:p>
          <a:p>
            <a:pPr algn="just">
              <a:lnSpc>
                <a:spcPct val="200000"/>
              </a:lnSpc>
            </a:pPr>
            <a:r>
              <a:rPr lang="en-US" sz="2000" dirty="0">
                <a:latin typeface="Times New Roman" panose="02020603050405020304" pitchFamily="18" charset="0"/>
                <a:cs typeface="Times New Roman" panose="02020603050405020304" pitchFamily="18" charset="0"/>
              </a:rPr>
              <a:t>3. </a:t>
            </a:r>
            <a:r>
              <a:rPr lang="en-US" sz="2000" i="1" u="sng" dirty="0">
                <a:solidFill>
                  <a:srgbClr val="FF0000"/>
                </a:solidFill>
                <a:latin typeface="Times New Roman" panose="02020603050405020304" pitchFamily="18" charset="0"/>
                <a:cs typeface="Times New Roman" panose="02020603050405020304" pitchFamily="18" charset="0"/>
              </a:rPr>
              <a:t>To Build</a:t>
            </a:r>
            <a:r>
              <a:rPr lang="en-US" sz="2000" dirty="0">
                <a:latin typeface="Times New Roman" panose="02020603050405020304" pitchFamily="18" charset="0"/>
                <a:cs typeface="Times New Roman" panose="02020603050405020304" pitchFamily="18" charset="0"/>
              </a:rPr>
              <a:t>: a skill-synonym ontology with skill-gap analysis that shows matched, partial and missing skills.</a:t>
            </a:r>
          </a:p>
          <a:p>
            <a:pPr algn="just">
              <a:lnSpc>
                <a:spcPct val="200000"/>
              </a:lnSpc>
            </a:pPr>
            <a:r>
              <a:rPr lang="en-US" sz="2000" dirty="0">
                <a:latin typeface="Times New Roman" panose="02020603050405020304" pitchFamily="18" charset="0"/>
                <a:cs typeface="Times New Roman" panose="02020603050405020304" pitchFamily="18" charset="0"/>
              </a:rPr>
              <a:t>4. </a:t>
            </a:r>
            <a:r>
              <a:rPr lang="en-US" sz="2000" i="1" u="sng" dirty="0">
                <a:solidFill>
                  <a:srgbClr val="FF0000"/>
                </a:solidFill>
                <a:latin typeface="Times New Roman" panose="02020603050405020304" pitchFamily="18" charset="0"/>
                <a:cs typeface="Times New Roman" panose="02020603050405020304" pitchFamily="18" charset="0"/>
              </a:rPr>
              <a:t>To Minimize</a:t>
            </a:r>
            <a:r>
              <a:rPr lang="en-US" sz="2000" dirty="0">
                <a:latin typeface="Times New Roman" panose="02020603050405020304" pitchFamily="18" charset="0"/>
                <a:cs typeface="Times New Roman" panose="02020603050405020304" pitchFamily="18" charset="0"/>
              </a:rPr>
              <a:t>: bias with a blind-screening mode that hides names and personal details before any scoring.</a:t>
            </a:r>
          </a:p>
          <a:p>
            <a:pPr algn="just">
              <a:lnSpc>
                <a:spcPct val="200000"/>
              </a:lnSpc>
            </a:pPr>
            <a:r>
              <a:rPr lang="en-US" sz="2000" dirty="0">
                <a:latin typeface="Times New Roman" panose="02020603050405020304" pitchFamily="18" charset="0"/>
                <a:cs typeface="Times New Roman" panose="02020603050405020304" pitchFamily="18" charset="0"/>
              </a:rPr>
              <a:t>5. </a:t>
            </a:r>
            <a:r>
              <a:rPr lang="en-US" sz="2000" i="1" u="sng" dirty="0">
                <a:solidFill>
                  <a:srgbClr val="FF0000"/>
                </a:solidFill>
                <a:latin typeface="Times New Roman" panose="02020603050405020304" pitchFamily="18" charset="0"/>
                <a:cs typeface="Times New Roman" panose="02020603050405020304" pitchFamily="18" charset="0"/>
              </a:rPr>
              <a:t>To Accomplish</a:t>
            </a:r>
            <a:r>
              <a:rPr lang="en-US" sz="2000" dirty="0">
                <a:latin typeface="Times New Roman" panose="02020603050405020304" pitchFamily="18" charset="0"/>
                <a:cs typeface="Times New Roman" panose="02020603050405020304" pitchFamily="18" charset="0"/>
              </a:rPr>
              <a:t>: fast, auditable hiring decisions through a four-agent review council and a FastAPI service.</a:t>
            </a:r>
          </a:p>
          <a:p>
            <a:pPr marL="0" marR="0" lvl="0" indent="0" algn="just" defTabSz="914400" rtl="0" eaLnBrk="0" fontAlgn="base" latinLnBrk="0" hangingPunct="0">
              <a:lnSpc>
                <a:spcPct val="150000"/>
              </a:lnSpc>
              <a:spcBef>
                <a:spcPct val="0"/>
              </a:spcBef>
              <a:spcAft>
                <a:spcPct val="0"/>
              </a:spcAft>
              <a:buClrTx/>
              <a:buSzTx/>
              <a:tabLst/>
            </a:pPr>
            <a:endParaRPr lang="en-IN"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0B9A3A04-681F-08BF-6B31-8595D34351AD}"/>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
        <p:nvSpPr>
          <p:cNvPr id="4" name="Rectangle 3">
            <a:extLst>
              <a:ext uri="{FF2B5EF4-FFF2-40B4-BE49-F238E27FC236}">
                <a16:creationId xmlns:a16="http://schemas.microsoft.com/office/drawing/2014/main" id="{93BD5571-B822-670B-C4DC-924F8BEB4785}"/>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86FFCC8A-07B1-4C26-9757-6DBBA5A4E1FE}"/>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1311383" y="58917"/>
            <a:ext cx="720000" cy="720000"/>
          </a:xfrm>
          <a:prstGeom prst="rect">
            <a:avLst/>
          </a:prstGeom>
        </p:spPr>
      </p:pic>
    </p:spTree>
    <p:extLst>
      <p:ext uri="{BB962C8B-B14F-4D97-AF65-F5344CB8AC3E}">
        <p14:creationId xmlns:p14="http://schemas.microsoft.com/office/powerpoint/2010/main" val="6602252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F8B83-1083-0DB0-02D4-6ED739B14BCA}"/>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4D93779B-2CA8-63CB-E7EE-E061EC07D964}"/>
              </a:ext>
            </a:extLst>
          </p:cNvPr>
          <p:cNvGrpSpPr/>
          <p:nvPr/>
        </p:nvGrpSpPr>
        <p:grpSpPr>
          <a:xfrm>
            <a:off x="0" y="6392367"/>
            <a:ext cx="12192000" cy="546100"/>
            <a:chOff x="0" y="0"/>
            <a:chExt cx="6186311" cy="277095"/>
          </a:xfrm>
          <a:solidFill>
            <a:srgbClr val="FFC000"/>
          </a:solidFill>
        </p:grpSpPr>
        <p:sp>
          <p:nvSpPr>
            <p:cNvPr id="20" name="Freeform 3">
              <a:extLst>
                <a:ext uri="{FF2B5EF4-FFF2-40B4-BE49-F238E27FC236}">
                  <a16:creationId xmlns:a16="http://schemas.microsoft.com/office/drawing/2014/main" id="{90C567DE-024C-3499-18F3-BAF80A540266}"/>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92B2B0AD-6CDB-70DE-7582-089AC34EBA65}"/>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A8D2B993-6C98-C20A-F4E7-E787B240F862}"/>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53912B07-037B-56A7-E925-270D3F74AF45}"/>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F1514EAF-2E8C-08E0-0D0C-15CB0623E2B2}"/>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46DEC2A4-28C3-AD01-4338-E5C4EFB0F42B}"/>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92E1895D-1407-0258-26F6-B4E5088F1B5B}"/>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1" name="Picture 10">
            <a:extLst>
              <a:ext uri="{FF2B5EF4-FFF2-40B4-BE49-F238E27FC236}">
                <a16:creationId xmlns:a16="http://schemas.microsoft.com/office/drawing/2014/main" id="{90F62A63-BEB3-AB52-DDBB-1267A46A935F}"/>
              </a:ext>
            </a:extLst>
          </p:cNvPr>
          <p:cNvPicPr>
            <a:picLocks noChangeAspect="1"/>
          </p:cNvPicPr>
          <p:nvPr/>
        </p:nvPicPr>
        <p:blipFill rotWithShape="1">
          <a:blip r:embed="rId11">
            <a:extLst>
              <a:ext uri="{28A0092B-C50C-407E-A947-70E740481C1C}">
                <a14:useLocalDpi xmlns:a14="http://schemas.microsoft.com/office/drawing/2010/main" val="0"/>
              </a:ext>
            </a:extLst>
          </a:blip>
          <a:srcRect l="1258" t="6458" r="666" b="6557"/>
          <a:stretch/>
        </p:blipFill>
        <p:spPr>
          <a:xfrm>
            <a:off x="0" y="-15722"/>
            <a:ext cx="11257935" cy="955522"/>
          </a:xfrm>
          <a:prstGeom prst="rect">
            <a:avLst/>
          </a:prstGeom>
        </p:spPr>
      </p:pic>
      <p:sp>
        <p:nvSpPr>
          <p:cNvPr id="14" name="Content Placeholder 3">
            <a:extLst>
              <a:ext uri="{FF2B5EF4-FFF2-40B4-BE49-F238E27FC236}">
                <a16:creationId xmlns:a16="http://schemas.microsoft.com/office/drawing/2014/main" id="{C0B8DDC0-3270-E370-B326-D079EE69BF35}"/>
              </a:ext>
            </a:extLst>
          </p:cNvPr>
          <p:cNvSpPr txBox="1">
            <a:spLocks/>
          </p:cNvSpPr>
          <p:nvPr/>
        </p:nvSpPr>
        <p:spPr>
          <a:xfrm>
            <a:off x="123825" y="1026160"/>
            <a:ext cx="11383645" cy="504444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9E8D4DD1-5F8B-628A-18EC-D4E4A5FAF050}"/>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
        <p:nvSpPr>
          <p:cNvPr id="4" name="Rectangle 3">
            <a:extLst>
              <a:ext uri="{FF2B5EF4-FFF2-40B4-BE49-F238E27FC236}">
                <a16:creationId xmlns:a16="http://schemas.microsoft.com/office/drawing/2014/main" id="{638E69B5-E647-2270-B3D5-A8CF6B3D3E9F}"/>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BB1CA780-208C-D1A2-FB39-194EAF74FDA3}"/>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1311383" y="58917"/>
            <a:ext cx="720000" cy="720000"/>
          </a:xfrm>
          <a:prstGeom prst="rect">
            <a:avLst/>
          </a:prstGeom>
        </p:spPr>
      </p:pic>
      <p:sp>
        <p:nvSpPr>
          <p:cNvPr id="5" name="TextBox 4">
            <a:extLst>
              <a:ext uri="{FF2B5EF4-FFF2-40B4-BE49-F238E27FC236}">
                <a16:creationId xmlns:a16="http://schemas.microsoft.com/office/drawing/2014/main" id="{0F7E199E-707D-C98A-BD69-E79716A3B812}"/>
              </a:ext>
            </a:extLst>
          </p:cNvPr>
          <p:cNvSpPr txBox="1"/>
          <p:nvPr/>
        </p:nvSpPr>
        <p:spPr>
          <a:xfrm>
            <a:off x="374019" y="1085354"/>
            <a:ext cx="6145160" cy="523220"/>
          </a:xfrm>
          <a:prstGeom prst="rect">
            <a:avLst/>
          </a:prstGeom>
          <a:noFill/>
        </p:spPr>
        <p:txBody>
          <a:bodyPr wrap="square">
            <a:spAutoFit/>
          </a:bodyPr>
          <a:lstStyle/>
          <a:p>
            <a:r>
              <a:rPr lang="en-GB" sz="2800" b="1" dirty="0">
                <a:ln w="0"/>
                <a:latin typeface="Times New Roman" panose="02020603050405020304" pitchFamily="18" charset="0"/>
                <a:ea typeface="Open Sans" panose="020B0606030504020204" pitchFamily="34" charset="0"/>
                <a:cs typeface="Times New Roman" panose="02020603050405020304" pitchFamily="18" charset="0"/>
                <a:sym typeface="Arial" panose="020B0604020202020204"/>
              </a:rPr>
              <a:t>METHODOLOGY</a:t>
            </a:r>
            <a:endParaRPr lang="en-IN" sz="2800" b="1" dirty="0"/>
          </a:p>
        </p:txBody>
      </p:sp>
      <p:sp>
        <p:nvSpPr>
          <p:cNvPr id="31" name="Rounded Rectangle 30"/>
          <p:cNvSpPr/>
          <p:nvPr/>
        </p:nvSpPr>
        <p:spPr>
          <a:xfrm>
            <a:off x="380000" y="1800000"/>
            <a:ext cx="2450000" cy="1300000"/>
          </a:xfrm>
          <a:prstGeom prst="roundRect">
            <a:avLst>
              <a:gd name="adj" fmla="val 12000"/>
            </a:avLst>
          </a:prstGeom>
          <a:solidFill>
            <a:srgbClr val="1F3864"/>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600" b="1">
                <a:solidFill>
                  <a:srgbClr val="FFFFFF"/>
                </a:solidFill>
                <a:latin typeface="Times New Roman"/>
              </a:rPr>
              <a:t>1  Input</a:t>
            </a:r>
          </a:p>
          <a:p>
            <a:pPr algn="ctr"/>
            <a:r>
              <a:rPr sz="1300" b="0">
                <a:solidFill>
                  <a:srgbClr val="FFFFFF"/>
                </a:solidFill>
                <a:latin typeface="Times New Roman"/>
              </a:rPr>
              <a:t>Job description + resumes (PDF, DOCX, TXT, scanned)</a:t>
            </a:r>
          </a:p>
        </p:txBody>
      </p:sp>
      <p:sp>
        <p:nvSpPr>
          <p:cNvPr id="32" name="Rounded Rectangle 31"/>
          <p:cNvSpPr/>
          <p:nvPr/>
        </p:nvSpPr>
        <p:spPr>
          <a:xfrm>
            <a:off x="3380000" y="1800000"/>
            <a:ext cx="2450000" cy="1300000"/>
          </a:xfrm>
          <a:prstGeom prst="roundRect">
            <a:avLst>
              <a:gd name="adj" fmla="val 12000"/>
            </a:avLst>
          </a:prstGeom>
          <a:solidFill>
            <a:srgbClr val="D9E2F3"/>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600" b="1">
                <a:solidFill>
                  <a:srgbClr val="1F3864"/>
                </a:solidFill>
                <a:latin typeface="Times New Roman"/>
              </a:rPr>
              <a:t>2  Parsing</a:t>
            </a:r>
          </a:p>
          <a:p>
            <a:pPr algn="ctr"/>
            <a:r>
              <a:rPr sz="1300" b="0">
                <a:solidFill>
                  <a:srgbClr val="1F3864"/>
                </a:solidFill>
                <a:latin typeface="Times New Roman"/>
              </a:rPr>
              <a:t>Skills, experience, education, projects</a:t>
            </a:r>
          </a:p>
        </p:txBody>
      </p:sp>
      <p:sp>
        <p:nvSpPr>
          <p:cNvPr id="33" name="Rounded Rectangle 32"/>
          <p:cNvSpPr/>
          <p:nvPr/>
        </p:nvSpPr>
        <p:spPr>
          <a:xfrm>
            <a:off x="6380000" y="1800000"/>
            <a:ext cx="2450000" cy="1300000"/>
          </a:xfrm>
          <a:prstGeom prst="roundRect">
            <a:avLst>
              <a:gd name="adj" fmla="val 12000"/>
            </a:avLst>
          </a:prstGeom>
          <a:solidFill>
            <a:srgbClr val="D9E2F3"/>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600" b="1">
                <a:solidFill>
                  <a:srgbClr val="1F3864"/>
                </a:solidFill>
                <a:latin typeface="Times New Roman"/>
              </a:rPr>
              <a:t>3  Blind Screening</a:t>
            </a:r>
          </a:p>
          <a:p>
            <a:pPr algn="ctr"/>
            <a:r>
              <a:rPr sz="1300" b="0">
                <a:solidFill>
                  <a:srgbClr val="1F3864"/>
                </a:solidFill>
                <a:latin typeface="Times New Roman"/>
              </a:rPr>
              <a:t>Name and personal details hidden</a:t>
            </a:r>
          </a:p>
        </p:txBody>
      </p:sp>
      <p:sp>
        <p:nvSpPr>
          <p:cNvPr id="34" name="Rounded Rectangle 33"/>
          <p:cNvSpPr/>
          <p:nvPr/>
        </p:nvSpPr>
        <p:spPr>
          <a:xfrm>
            <a:off x="9380000" y="1800000"/>
            <a:ext cx="2450000" cy="1300000"/>
          </a:xfrm>
          <a:prstGeom prst="roundRect">
            <a:avLst>
              <a:gd name="adj" fmla="val 12000"/>
            </a:avLst>
          </a:prstGeom>
          <a:solidFill>
            <a:srgbClr val="D9E2F3"/>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600" b="1">
                <a:solidFill>
                  <a:srgbClr val="1F3864"/>
                </a:solidFill>
                <a:latin typeface="Times New Roman"/>
              </a:rPr>
              <a:t>4  Skill Ontology</a:t>
            </a:r>
          </a:p>
          <a:p>
            <a:pPr algn="ctr"/>
            <a:r>
              <a:rPr sz="1300" b="0">
                <a:solidFill>
                  <a:srgbClr val="1F3864"/>
                </a:solidFill>
                <a:latin typeface="Times New Roman"/>
              </a:rPr>
              <a:t>Synonyms and partial matches</a:t>
            </a:r>
          </a:p>
        </p:txBody>
      </p:sp>
      <p:sp>
        <p:nvSpPr>
          <p:cNvPr id="35" name="Rounded Rectangle 34"/>
          <p:cNvSpPr/>
          <p:nvPr/>
        </p:nvSpPr>
        <p:spPr>
          <a:xfrm>
            <a:off x="9380000" y="3950000"/>
            <a:ext cx="2450000" cy="1300000"/>
          </a:xfrm>
          <a:prstGeom prst="roundRect">
            <a:avLst>
              <a:gd name="adj" fmla="val 12000"/>
            </a:avLst>
          </a:prstGeom>
          <a:solidFill>
            <a:srgbClr val="D9E2F3"/>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600" b="1">
                <a:solidFill>
                  <a:srgbClr val="1F3864"/>
                </a:solidFill>
                <a:latin typeface="Times New Roman"/>
              </a:rPr>
              <a:t>5  Hybrid Ranking</a:t>
            </a:r>
          </a:p>
          <a:p>
            <a:pPr algn="ctr"/>
            <a:r>
              <a:rPr sz="1300" b="0">
                <a:solidFill>
                  <a:srgbClr val="1F3864"/>
                </a:solidFill>
                <a:latin typeface="Times New Roman"/>
              </a:rPr>
              <a:t>Seven weighted scores give match %</a:t>
            </a:r>
          </a:p>
        </p:txBody>
      </p:sp>
      <p:sp>
        <p:nvSpPr>
          <p:cNvPr id="36" name="Rounded Rectangle 35"/>
          <p:cNvSpPr/>
          <p:nvPr/>
        </p:nvSpPr>
        <p:spPr>
          <a:xfrm>
            <a:off x="6380000" y="3950000"/>
            <a:ext cx="2450000" cy="1300000"/>
          </a:xfrm>
          <a:prstGeom prst="roundRect">
            <a:avLst>
              <a:gd name="adj" fmla="val 12000"/>
            </a:avLst>
          </a:prstGeom>
          <a:solidFill>
            <a:srgbClr val="D9E2F3"/>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600" b="1">
                <a:solidFill>
                  <a:srgbClr val="1F3864"/>
                </a:solidFill>
                <a:latin typeface="Times New Roman"/>
              </a:rPr>
              <a:t>6  Council Review</a:t>
            </a:r>
          </a:p>
          <a:p>
            <a:pPr algn="ctr"/>
            <a:r>
              <a:rPr sz="1300" b="0">
                <a:solidFill>
                  <a:srgbClr val="1F3864"/>
                </a:solidFill>
                <a:latin typeface="Times New Roman"/>
              </a:rPr>
              <a:t>Four agents score and debate</a:t>
            </a:r>
          </a:p>
        </p:txBody>
      </p:sp>
      <p:sp>
        <p:nvSpPr>
          <p:cNvPr id="37" name="Rounded Rectangle 36"/>
          <p:cNvSpPr/>
          <p:nvPr/>
        </p:nvSpPr>
        <p:spPr>
          <a:xfrm>
            <a:off x="3380000" y="3950000"/>
            <a:ext cx="2450000" cy="1300000"/>
          </a:xfrm>
          <a:prstGeom prst="roundRect">
            <a:avLst>
              <a:gd name="adj" fmla="val 12000"/>
            </a:avLst>
          </a:prstGeom>
          <a:solidFill>
            <a:srgbClr val="D9E2F3"/>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600" b="1">
                <a:solidFill>
                  <a:srgbClr val="1F3864"/>
                </a:solidFill>
                <a:latin typeface="Times New Roman"/>
              </a:rPr>
              <a:t>7  Explainable Verdict</a:t>
            </a:r>
          </a:p>
          <a:p>
            <a:pPr algn="ctr"/>
            <a:r>
              <a:rPr sz="1300" b="0">
                <a:solidFill>
                  <a:srgbClr val="1F3864"/>
                </a:solidFill>
                <a:latin typeface="Times New Roman"/>
              </a:rPr>
              <a:t>Score, red flags, rationale</a:t>
            </a:r>
          </a:p>
        </p:txBody>
      </p:sp>
      <p:sp>
        <p:nvSpPr>
          <p:cNvPr id="38" name="Rounded Rectangle 37"/>
          <p:cNvSpPr/>
          <p:nvPr/>
        </p:nvSpPr>
        <p:spPr>
          <a:xfrm>
            <a:off x="380000" y="3950000"/>
            <a:ext cx="2450000" cy="1300000"/>
          </a:xfrm>
          <a:prstGeom prst="roundRect">
            <a:avLst>
              <a:gd name="adj" fmla="val 12000"/>
            </a:avLst>
          </a:prstGeom>
          <a:solidFill>
            <a:srgbClr val="1F3864"/>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600" b="1">
                <a:solidFill>
                  <a:srgbClr val="FFFFFF"/>
                </a:solidFill>
                <a:latin typeface="Times New Roman"/>
              </a:rPr>
              <a:t>8  Recruiter Dashboard</a:t>
            </a:r>
          </a:p>
          <a:p>
            <a:pPr algn="ctr"/>
            <a:r>
              <a:rPr sz="1300" b="0">
                <a:solidFill>
                  <a:srgbClr val="FFFFFF"/>
                </a:solidFill>
                <a:latin typeface="Times New Roman"/>
              </a:rPr>
              <a:t>Leaderboard, compare, export</a:t>
            </a:r>
          </a:p>
        </p:txBody>
      </p:sp>
      <p:cxnSp>
        <p:nvCxnSpPr>
          <p:cNvPr id="39" name="Connector 38"/>
          <p:cNvCxnSpPr/>
          <p:nvPr/>
        </p:nvCxnSpPr>
        <p:spPr>
          <a:xfrm>
            <a:off x="2830000" y="2450000"/>
            <a:ext cx="550000" cy="0"/>
          </a:xfrm>
          <a:prstGeom prst="line">
            <a:avLst/>
          </a:prstGeom>
          <a:ln w="25400">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830000" y="2450000"/>
            <a:ext cx="550000" cy="0"/>
          </a:xfrm>
          <a:prstGeom prst="line">
            <a:avLst/>
          </a:prstGeom>
          <a:ln w="25400">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830000" y="2450000"/>
            <a:ext cx="550000" cy="0"/>
          </a:xfrm>
          <a:prstGeom prst="line">
            <a:avLst/>
          </a:prstGeom>
          <a:ln w="25400">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0605000" y="3100000"/>
            <a:ext cx="0" cy="850000"/>
          </a:xfrm>
          <a:prstGeom prst="line">
            <a:avLst/>
          </a:prstGeom>
          <a:ln w="25400">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8830000" y="4600000"/>
            <a:ext cx="550000" cy="0"/>
          </a:xfrm>
          <a:prstGeom prst="line">
            <a:avLst/>
          </a:prstGeom>
          <a:ln w="25400">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5830000" y="4600000"/>
            <a:ext cx="550000" cy="0"/>
          </a:xfrm>
          <a:prstGeom prst="line">
            <a:avLst/>
          </a:prstGeom>
          <a:ln w="25400">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2830000" y="4600000"/>
            <a:ext cx="550000" cy="0"/>
          </a:xfrm>
          <a:prstGeom prst="line">
            <a:avLst/>
          </a:prstGeom>
          <a:ln w="25400">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380000" y="5500000"/>
            <a:ext cx="11400000" cy="500000"/>
          </a:xfrm>
          <a:prstGeom prst="rect">
            <a:avLst/>
          </a:prstGeom>
          <a:noFill/>
        </p:spPr>
        <p:txBody>
          <a:bodyPr wrap="square" anchor="t" lIns="60000" rIns="60000" tIns="30000" bIns="30000">
            <a:spAutoFit/>
          </a:bodyPr>
          <a:lstStyle/>
          <a:p>
            <a:pPr algn="ctr">
              <a:lnSpc>
                <a:spcPct val="115000"/>
              </a:lnSpc>
              <a:spcAft>
                <a:spcPts val="600"/>
              </a:spcAft>
            </a:pPr>
            <a:r>
              <a:rPr sz="1600" b="0">
                <a:solidFill>
                  <a:srgbClr val="595959"/>
                </a:solidFill>
                <a:latin typeface="Times New Roman"/>
              </a:rPr>
              <a:t>Every stage is logged in the screening history, so each ranking can be audited later.</a:t>
            </a:r>
          </a:p>
        </p:txBody>
      </p:sp>
    </p:spTree>
    <p:extLst>
      <p:ext uri="{BB962C8B-B14F-4D97-AF65-F5344CB8AC3E}">
        <p14:creationId xmlns:p14="http://schemas.microsoft.com/office/powerpoint/2010/main" val="19608638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00273-F7C7-D369-3077-E43751641D9D}"/>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1F3BC477-F895-6E27-A960-B7B104364289}"/>
              </a:ext>
            </a:extLst>
          </p:cNvPr>
          <p:cNvGrpSpPr/>
          <p:nvPr/>
        </p:nvGrpSpPr>
        <p:grpSpPr>
          <a:xfrm>
            <a:off x="0" y="6392367"/>
            <a:ext cx="12192000" cy="546100"/>
            <a:chOff x="0" y="0"/>
            <a:chExt cx="6186311" cy="277095"/>
          </a:xfrm>
          <a:solidFill>
            <a:srgbClr val="FFC000"/>
          </a:solidFill>
        </p:grpSpPr>
        <p:sp>
          <p:nvSpPr>
            <p:cNvPr id="20" name="Freeform 3">
              <a:extLst>
                <a:ext uri="{FF2B5EF4-FFF2-40B4-BE49-F238E27FC236}">
                  <a16:creationId xmlns:a16="http://schemas.microsoft.com/office/drawing/2014/main" id="{4034E92A-FE69-9CB4-4AF9-1D9800F886B5}"/>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15412593-88B2-89A3-5094-4C90D37B68BA}"/>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D2C6F32A-0E62-758F-F54E-A1BE9B9D9CA3}"/>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C68FEABD-F600-7A29-BF6E-88F3D193A047}"/>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00E0F6CC-E206-DE19-E727-CD51E4386EC4}"/>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B02D8892-CF37-E713-3D17-6AC89D748F42}"/>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F30F4E96-8FD9-61C3-9B4C-3C85A6BE1CDB}"/>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1" name="Picture 10">
            <a:extLst>
              <a:ext uri="{FF2B5EF4-FFF2-40B4-BE49-F238E27FC236}">
                <a16:creationId xmlns:a16="http://schemas.microsoft.com/office/drawing/2014/main" id="{8FC1CA5A-B4DA-01F1-990B-C761EFB3D0D4}"/>
              </a:ext>
            </a:extLst>
          </p:cNvPr>
          <p:cNvPicPr>
            <a:picLocks noChangeAspect="1"/>
          </p:cNvPicPr>
          <p:nvPr/>
        </p:nvPicPr>
        <p:blipFill rotWithShape="1">
          <a:blip r:embed="rId11">
            <a:extLst>
              <a:ext uri="{28A0092B-C50C-407E-A947-70E740481C1C}">
                <a14:useLocalDpi xmlns:a14="http://schemas.microsoft.com/office/drawing/2010/main" val="0"/>
              </a:ext>
            </a:extLst>
          </a:blip>
          <a:srcRect l="1258" t="6458" r="666" b="6557"/>
          <a:stretch/>
        </p:blipFill>
        <p:spPr>
          <a:xfrm>
            <a:off x="0" y="-15722"/>
            <a:ext cx="11257935" cy="955522"/>
          </a:xfrm>
          <a:prstGeom prst="rect">
            <a:avLst/>
          </a:prstGeom>
        </p:spPr>
      </p:pic>
      <p:sp>
        <p:nvSpPr>
          <p:cNvPr id="14" name="Content Placeholder 3">
            <a:extLst>
              <a:ext uri="{FF2B5EF4-FFF2-40B4-BE49-F238E27FC236}">
                <a16:creationId xmlns:a16="http://schemas.microsoft.com/office/drawing/2014/main" id="{30111714-4CFE-0120-1436-D49EB1C9A9E4}"/>
              </a:ext>
            </a:extLst>
          </p:cNvPr>
          <p:cNvSpPr txBox="1">
            <a:spLocks/>
          </p:cNvSpPr>
          <p:nvPr/>
        </p:nvSpPr>
        <p:spPr>
          <a:xfrm>
            <a:off x="123825" y="1026160"/>
            <a:ext cx="11383645" cy="504444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1A3D4D5E-959F-FDD5-9FA3-02E61E0486E1}"/>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
        <p:nvSpPr>
          <p:cNvPr id="4" name="Rectangle 3">
            <a:extLst>
              <a:ext uri="{FF2B5EF4-FFF2-40B4-BE49-F238E27FC236}">
                <a16:creationId xmlns:a16="http://schemas.microsoft.com/office/drawing/2014/main" id="{882C3CDE-7C4B-464A-AC15-0BAD326A3376}"/>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5169C503-752A-81CC-F880-231EBD464518}"/>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1311383" y="58917"/>
            <a:ext cx="720000" cy="720000"/>
          </a:xfrm>
          <a:prstGeom prst="rect">
            <a:avLst/>
          </a:prstGeom>
        </p:spPr>
      </p:pic>
      <p:sp>
        <p:nvSpPr>
          <p:cNvPr id="6" name="TextBox 5">
            <a:extLst>
              <a:ext uri="{FF2B5EF4-FFF2-40B4-BE49-F238E27FC236}">
                <a16:creationId xmlns:a16="http://schemas.microsoft.com/office/drawing/2014/main" id="{BD5B54B5-1CD7-7BEA-C795-E4B94E9764A6}"/>
              </a:ext>
            </a:extLst>
          </p:cNvPr>
          <p:cNvSpPr txBox="1"/>
          <p:nvPr/>
        </p:nvSpPr>
        <p:spPr>
          <a:xfrm>
            <a:off x="264816" y="1025101"/>
            <a:ext cx="6145160"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ARCHITECTURAL DESIGN</a:t>
            </a:r>
            <a:endParaRPr lang="en-IN" sz="2800" b="1" dirty="0"/>
          </a:p>
        </p:txBody>
      </p:sp>
      <p:sp>
        <p:nvSpPr>
          <p:cNvPr id="31" name="Rectangle 30"/>
          <p:cNvSpPr/>
          <p:nvPr/>
        </p:nvSpPr>
        <p:spPr>
          <a:xfrm>
            <a:off x="300000" y="1650000"/>
            <a:ext cx="1750000" cy="1000000"/>
          </a:xfrm>
          <a:prstGeom prst="rect">
            <a:avLst/>
          </a:prstGeom>
          <a:solidFill>
            <a:srgbClr val="1F3864"/>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600" b="1">
                <a:solidFill>
                  <a:srgbClr val="FFFFFF"/>
                </a:solidFill>
                <a:latin typeface="Times New Roman"/>
              </a:rPr>
              <a:t>Presentation</a:t>
            </a:r>
          </a:p>
        </p:txBody>
      </p:sp>
      <p:sp>
        <p:nvSpPr>
          <p:cNvPr id="32" name="Rounded Rectangle 31"/>
          <p:cNvSpPr/>
          <p:nvPr/>
        </p:nvSpPr>
        <p:spPr>
          <a:xfrm>
            <a:off x="2200000" y="1650000"/>
            <a:ext cx="3153333" cy="1000000"/>
          </a:xfrm>
          <a:prstGeom prst="roundRect">
            <a:avLst>
              <a:gd name="adj" fmla="val 12000"/>
            </a:avLst>
          </a:prstGeom>
          <a:solidFill>
            <a:srgbClr val="D9E2F3"/>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400" b="1">
                <a:solidFill>
                  <a:srgbClr val="1F3864"/>
                </a:solidFill>
                <a:latin typeface="Times New Roman"/>
              </a:rPr>
              <a:t>React web app</a:t>
            </a:r>
          </a:p>
          <a:p>
            <a:pPr algn="ctr"/>
            <a:r>
              <a:rPr sz="1100" b="0">
                <a:solidFill>
                  <a:srgbClr val="1F3864"/>
                </a:solidFill>
                <a:latin typeface="Times New Roman"/>
              </a:rPr>
              <a:t>Nexus ATS (Vercel)</a:t>
            </a:r>
          </a:p>
        </p:txBody>
      </p:sp>
      <p:sp>
        <p:nvSpPr>
          <p:cNvPr id="33" name="Rounded Rectangle 32"/>
          <p:cNvSpPr/>
          <p:nvPr/>
        </p:nvSpPr>
        <p:spPr>
          <a:xfrm>
            <a:off x="5473333" y="1650000"/>
            <a:ext cx="3153333" cy="1000000"/>
          </a:xfrm>
          <a:prstGeom prst="roundRect">
            <a:avLst>
              <a:gd name="adj" fmla="val 12000"/>
            </a:avLst>
          </a:prstGeom>
          <a:solidFill>
            <a:srgbClr val="D9E2F3"/>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400" b="1">
                <a:solidFill>
                  <a:srgbClr val="1F3864"/>
                </a:solidFill>
                <a:latin typeface="Times New Roman"/>
              </a:rPr>
              <a:t>Streamlit app</a:t>
            </a:r>
          </a:p>
          <a:p>
            <a:pPr algn="ctr"/>
            <a:r>
              <a:rPr sz="1100" b="0">
                <a:solidFill>
                  <a:srgbClr val="1F3864"/>
                </a:solidFill>
                <a:latin typeface="Times New Roman"/>
              </a:rPr>
              <a:t>Recruiter workspace</a:t>
            </a:r>
          </a:p>
        </p:txBody>
      </p:sp>
      <p:sp>
        <p:nvSpPr>
          <p:cNvPr id="34" name="Rounded Rectangle 33"/>
          <p:cNvSpPr/>
          <p:nvPr/>
        </p:nvSpPr>
        <p:spPr>
          <a:xfrm>
            <a:off x="8746666" y="1650000"/>
            <a:ext cx="3153333" cy="1000000"/>
          </a:xfrm>
          <a:prstGeom prst="roundRect">
            <a:avLst>
              <a:gd name="adj" fmla="val 12000"/>
            </a:avLst>
          </a:prstGeom>
          <a:solidFill>
            <a:srgbClr val="D9E2F3"/>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400" b="1">
                <a:solidFill>
                  <a:srgbClr val="1F3864"/>
                </a:solidFill>
                <a:latin typeface="Times New Roman"/>
              </a:rPr>
              <a:t>Recruiter dashboard</a:t>
            </a:r>
          </a:p>
          <a:p>
            <a:pPr algn="ctr"/>
            <a:r>
              <a:rPr sz="1100" b="0">
                <a:solidFill>
                  <a:srgbClr val="1F3864"/>
                </a:solidFill>
                <a:latin typeface="Times New Roman"/>
              </a:rPr>
              <a:t>Leaderboard, interview kit, chatbot</a:t>
            </a:r>
          </a:p>
        </p:txBody>
      </p:sp>
      <p:cxnSp>
        <p:nvCxnSpPr>
          <p:cNvPr id="35" name="Connector 34"/>
          <p:cNvCxnSpPr/>
          <p:nvPr/>
        </p:nvCxnSpPr>
        <p:spPr>
          <a:xfrm>
            <a:off x="6200000" y="2650000"/>
            <a:ext cx="0" cy="190000"/>
          </a:xfrm>
          <a:prstGeom prst="line">
            <a:avLst/>
          </a:prstGeom>
          <a:ln w="22225">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300000" y="2840000"/>
            <a:ext cx="1750000" cy="1000000"/>
          </a:xfrm>
          <a:prstGeom prst="rect">
            <a:avLst/>
          </a:prstGeom>
          <a:solidFill>
            <a:srgbClr val="1F3864"/>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600" b="1">
                <a:solidFill>
                  <a:srgbClr val="FFFFFF"/>
                </a:solidFill>
                <a:latin typeface="Times New Roman"/>
              </a:rPr>
              <a:t>Service</a:t>
            </a:r>
          </a:p>
        </p:txBody>
      </p:sp>
      <p:sp>
        <p:nvSpPr>
          <p:cNvPr id="37" name="Rounded Rectangle 36"/>
          <p:cNvSpPr/>
          <p:nvPr/>
        </p:nvSpPr>
        <p:spPr>
          <a:xfrm>
            <a:off x="2200000" y="2840000"/>
            <a:ext cx="4790000" cy="1000000"/>
          </a:xfrm>
          <a:prstGeom prst="roundRect">
            <a:avLst>
              <a:gd name="adj" fmla="val 12000"/>
            </a:avLst>
          </a:prstGeom>
          <a:solidFill>
            <a:srgbClr val="D9E2F3"/>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400" b="1">
                <a:solidFill>
                  <a:srgbClr val="1F3864"/>
                </a:solidFill>
                <a:latin typeface="Times New Roman"/>
              </a:rPr>
              <a:t>FastAPI REST service</a:t>
            </a:r>
          </a:p>
          <a:p>
            <a:pPr algn="ctr"/>
            <a:r>
              <a:rPr sz="1100" b="0">
                <a:solidFill>
                  <a:srgbClr val="1F3864"/>
                </a:solidFill>
                <a:latin typeface="Times New Roman"/>
              </a:rPr>
              <a:t>Screening engine and accounts (Render)</a:t>
            </a:r>
          </a:p>
        </p:txBody>
      </p:sp>
      <p:sp>
        <p:nvSpPr>
          <p:cNvPr id="38" name="Rounded Rectangle 37"/>
          <p:cNvSpPr/>
          <p:nvPr/>
        </p:nvSpPr>
        <p:spPr>
          <a:xfrm>
            <a:off x="7110000" y="2840000"/>
            <a:ext cx="4790000" cy="1000000"/>
          </a:xfrm>
          <a:prstGeom prst="roundRect">
            <a:avLst>
              <a:gd name="adj" fmla="val 12000"/>
            </a:avLst>
          </a:prstGeom>
          <a:solidFill>
            <a:srgbClr val="D9E2F3"/>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400" b="1">
                <a:solidFill>
                  <a:srgbClr val="1F3864"/>
                </a:solidFill>
                <a:latin typeface="Times New Roman"/>
              </a:rPr>
              <a:t>Secure sign-in</a:t>
            </a:r>
          </a:p>
          <a:p>
            <a:pPr algn="ctr"/>
            <a:r>
              <a:rPr sz="1100" b="0">
                <a:solidFill>
                  <a:srgbClr val="1F3864"/>
                </a:solidFill>
                <a:latin typeface="Times New Roman"/>
              </a:rPr>
              <a:t>Hashed passwords, 7-day sessions, Google verified on the server</a:t>
            </a:r>
          </a:p>
        </p:txBody>
      </p:sp>
      <p:cxnSp>
        <p:nvCxnSpPr>
          <p:cNvPr id="39" name="Connector 38"/>
          <p:cNvCxnSpPr/>
          <p:nvPr/>
        </p:nvCxnSpPr>
        <p:spPr>
          <a:xfrm>
            <a:off x="6200000" y="3840000"/>
            <a:ext cx="0" cy="190000"/>
          </a:xfrm>
          <a:prstGeom prst="line">
            <a:avLst/>
          </a:prstGeom>
          <a:ln w="22225">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300000" y="4030000"/>
            <a:ext cx="1750000" cy="1000000"/>
          </a:xfrm>
          <a:prstGeom prst="rect">
            <a:avLst/>
          </a:prstGeom>
          <a:solidFill>
            <a:srgbClr val="1F3864"/>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600" b="1">
                <a:solidFill>
                  <a:srgbClr val="FFFFFF"/>
                </a:solidFill>
                <a:latin typeface="Times New Roman"/>
              </a:rPr>
              <a:t>Intelligence engine</a:t>
            </a:r>
          </a:p>
        </p:txBody>
      </p:sp>
      <p:sp>
        <p:nvSpPr>
          <p:cNvPr id="41" name="Rounded Rectangle 40"/>
          <p:cNvSpPr/>
          <p:nvPr/>
        </p:nvSpPr>
        <p:spPr>
          <a:xfrm>
            <a:off x="2200000" y="4030000"/>
            <a:ext cx="1844000" cy="1000000"/>
          </a:xfrm>
          <a:prstGeom prst="roundRect">
            <a:avLst>
              <a:gd name="adj" fmla="val 12000"/>
            </a:avLst>
          </a:prstGeom>
          <a:solidFill>
            <a:srgbClr val="D9E2F3"/>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400" b="1">
                <a:solidFill>
                  <a:srgbClr val="1F3864"/>
                </a:solidFill>
                <a:latin typeface="Times New Roman"/>
              </a:rPr>
              <a:t>Resume parser</a:t>
            </a:r>
          </a:p>
          <a:p>
            <a:pPr algn="ctr"/>
            <a:r>
              <a:rPr sz="1100" b="0">
                <a:solidFill>
                  <a:srgbClr val="1F3864"/>
                </a:solidFill>
                <a:latin typeface="Times New Roman"/>
              </a:rPr>
              <a:t>PDF, DOCX, TXT, OCR</a:t>
            </a:r>
          </a:p>
        </p:txBody>
      </p:sp>
      <p:sp>
        <p:nvSpPr>
          <p:cNvPr id="42" name="Rounded Rectangle 41"/>
          <p:cNvSpPr/>
          <p:nvPr/>
        </p:nvSpPr>
        <p:spPr>
          <a:xfrm>
            <a:off x="4164000" y="4030000"/>
            <a:ext cx="1844000" cy="1000000"/>
          </a:xfrm>
          <a:prstGeom prst="roundRect">
            <a:avLst>
              <a:gd name="adj" fmla="val 12000"/>
            </a:avLst>
          </a:prstGeom>
          <a:solidFill>
            <a:srgbClr val="D9E2F3"/>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400" b="1">
                <a:solidFill>
                  <a:srgbClr val="1F3864"/>
                </a:solidFill>
                <a:latin typeface="Times New Roman"/>
              </a:rPr>
              <a:t>Skill ontology</a:t>
            </a:r>
          </a:p>
          <a:p>
            <a:pPr algn="ctr"/>
            <a:r>
              <a:rPr sz="1100" b="0">
                <a:solidFill>
                  <a:srgbClr val="1F3864"/>
                </a:solidFill>
                <a:latin typeface="Times New Roman"/>
              </a:rPr>
              <a:t>Synonyms, partial credit</a:t>
            </a:r>
          </a:p>
        </p:txBody>
      </p:sp>
      <p:sp>
        <p:nvSpPr>
          <p:cNvPr id="43" name="Rounded Rectangle 42"/>
          <p:cNvSpPr/>
          <p:nvPr/>
        </p:nvSpPr>
        <p:spPr>
          <a:xfrm>
            <a:off x="6128000" y="4030000"/>
            <a:ext cx="1844000" cy="1000000"/>
          </a:xfrm>
          <a:prstGeom prst="roundRect">
            <a:avLst>
              <a:gd name="adj" fmla="val 12000"/>
            </a:avLst>
          </a:prstGeom>
          <a:solidFill>
            <a:srgbClr val="D9E2F3"/>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400" b="1">
                <a:solidFill>
                  <a:srgbClr val="1F3864"/>
                </a:solidFill>
                <a:latin typeface="Times New Roman"/>
              </a:rPr>
              <a:t>Hybrid ranker</a:t>
            </a:r>
          </a:p>
          <a:p>
            <a:pPr algn="ctr"/>
            <a:r>
              <a:rPr sz="1100" b="0">
                <a:solidFill>
                  <a:srgbClr val="1F3864"/>
                </a:solidFill>
                <a:latin typeface="Times New Roman"/>
              </a:rPr>
              <a:t>7 weighted scores</a:t>
            </a:r>
          </a:p>
        </p:txBody>
      </p:sp>
      <p:sp>
        <p:nvSpPr>
          <p:cNvPr id="44" name="Rounded Rectangle 43"/>
          <p:cNvSpPr/>
          <p:nvPr/>
        </p:nvSpPr>
        <p:spPr>
          <a:xfrm>
            <a:off x="8092000" y="4030000"/>
            <a:ext cx="1844000" cy="1000000"/>
          </a:xfrm>
          <a:prstGeom prst="roundRect">
            <a:avLst>
              <a:gd name="adj" fmla="val 12000"/>
            </a:avLst>
          </a:prstGeom>
          <a:solidFill>
            <a:srgbClr val="D9E2F3"/>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400" b="1">
                <a:solidFill>
                  <a:srgbClr val="1F3864"/>
                </a:solidFill>
                <a:latin typeface="Times New Roman"/>
              </a:rPr>
              <a:t>Four-agent council</a:t>
            </a:r>
          </a:p>
          <a:p>
            <a:pPr algn="ctr"/>
            <a:r>
              <a:rPr sz="1100" b="0">
                <a:solidFill>
                  <a:srgbClr val="1F3864"/>
                </a:solidFill>
                <a:latin typeface="Times New Roman"/>
              </a:rPr>
              <a:t>Verdict + red flags</a:t>
            </a:r>
          </a:p>
        </p:txBody>
      </p:sp>
      <p:sp>
        <p:nvSpPr>
          <p:cNvPr id="45" name="Rounded Rectangle 44"/>
          <p:cNvSpPr/>
          <p:nvPr/>
        </p:nvSpPr>
        <p:spPr>
          <a:xfrm>
            <a:off x="10056000" y="4030000"/>
            <a:ext cx="1844000" cy="1000000"/>
          </a:xfrm>
          <a:prstGeom prst="roundRect">
            <a:avLst>
              <a:gd name="adj" fmla="val 12000"/>
            </a:avLst>
          </a:prstGeom>
          <a:solidFill>
            <a:srgbClr val="D9E2F3"/>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400" b="1">
                <a:solidFill>
                  <a:srgbClr val="1F3864"/>
                </a:solidFill>
                <a:latin typeface="Times New Roman"/>
              </a:rPr>
              <a:t>Interview kit</a:t>
            </a:r>
          </a:p>
          <a:p>
            <a:pPr algn="ctr"/>
            <a:r>
              <a:rPr sz="1100" b="0">
                <a:solidFill>
                  <a:srgbClr val="1F3864"/>
                </a:solidFill>
                <a:latin typeface="Times New Roman"/>
              </a:rPr>
              <a:t>20+ tailored questions</a:t>
            </a:r>
          </a:p>
        </p:txBody>
      </p:sp>
      <p:cxnSp>
        <p:nvCxnSpPr>
          <p:cNvPr id="46" name="Connector 45"/>
          <p:cNvCxnSpPr/>
          <p:nvPr/>
        </p:nvCxnSpPr>
        <p:spPr>
          <a:xfrm>
            <a:off x="6200000" y="5030000"/>
            <a:ext cx="0" cy="190000"/>
          </a:xfrm>
          <a:prstGeom prst="line">
            <a:avLst/>
          </a:prstGeom>
          <a:ln w="22225">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300000" y="5220000"/>
            <a:ext cx="1750000" cy="1000000"/>
          </a:xfrm>
          <a:prstGeom prst="rect">
            <a:avLst/>
          </a:prstGeom>
          <a:solidFill>
            <a:srgbClr val="1F3864"/>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600" b="1">
                <a:solidFill>
                  <a:srgbClr val="FFFFFF"/>
                </a:solidFill>
                <a:latin typeface="Times New Roman"/>
              </a:rPr>
              <a:t>Data</a:t>
            </a:r>
          </a:p>
        </p:txBody>
      </p:sp>
      <p:sp>
        <p:nvSpPr>
          <p:cNvPr id="48" name="Rounded Rectangle 47"/>
          <p:cNvSpPr/>
          <p:nvPr/>
        </p:nvSpPr>
        <p:spPr>
          <a:xfrm>
            <a:off x="2200000" y="5220000"/>
            <a:ext cx="3153333" cy="1000000"/>
          </a:xfrm>
          <a:prstGeom prst="roundRect">
            <a:avLst>
              <a:gd name="adj" fmla="val 12000"/>
            </a:avLst>
          </a:prstGeom>
          <a:solidFill>
            <a:srgbClr val="D9E2F3"/>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400" b="1">
                <a:solidFill>
                  <a:srgbClr val="1F3864"/>
                </a:solidFill>
                <a:latin typeface="Times New Roman"/>
              </a:rPr>
              <a:t>MongoDB Atlas</a:t>
            </a:r>
          </a:p>
          <a:p>
            <a:pPr algn="ctr"/>
            <a:r>
              <a:rPr sz="1100" b="0">
                <a:solidFill>
                  <a:srgbClr val="1F3864"/>
                </a:solidFill>
                <a:latin typeface="Times New Roman"/>
              </a:rPr>
              <a:t>Accounts, sessions, candidate pools</a:t>
            </a:r>
          </a:p>
        </p:txBody>
      </p:sp>
      <p:sp>
        <p:nvSpPr>
          <p:cNvPr id="49" name="Rounded Rectangle 48"/>
          <p:cNvSpPr/>
          <p:nvPr/>
        </p:nvSpPr>
        <p:spPr>
          <a:xfrm>
            <a:off x="5473333" y="5220000"/>
            <a:ext cx="3153333" cy="1000000"/>
          </a:xfrm>
          <a:prstGeom prst="roundRect">
            <a:avLst>
              <a:gd name="adj" fmla="val 12000"/>
            </a:avLst>
          </a:prstGeom>
          <a:solidFill>
            <a:srgbClr val="D9E2F3"/>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400" b="1">
                <a:solidFill>
                  <a:srgbClr val="1F3864"/>
                </a:solidFill>
                <a:latin typeface="Times New Roman"/>
              </a:rPr>
              <a:t>SQLite history</a:t>
            </a:r>
          </a:p>
          <a:p>
            <a:pPr algn="ctr"/>
            <a:r>
              <a:rPr sz="1100" b="0">
                <a:solidFill>
                  <a:srgbClr val="1F3864"/>
                </a:solidFill>
                <a:latin typeface="Times New Roman"/>
              </a:rPr>
              <a:t>Screening runs, audit trail</a:t>
            </a:r>
          </a:p>
        </p:txBody>
      </p:sp>
      <p:sp>
        <p:nvSpPr>
          <p:cNvPr id="50" name="Rounded Rectangle 49"/>
          <p:cNvSpPr/>
          <p:nvPr/>
        </p:nvSpPr>
        <p:spPr>
          <a:xfrm>
            <a:off x="8746666" y="5220000"/>
            <a:ext cx="3153333" cy="1000000"/>
          </a:xfrm>
          <a:prstGeom prst="roundRect">
            <a:avLst>
              <a:gd name="adj" fmla="val 12000"/>
            </a:avLst>
          </a:prstGeom>
          <a:solidFill>
            <a:srgbClr val="D9E2F3"/>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400" b="1">
                <a:solidFill>
                  <a:srgbClr val="1F3864"/>
                </a:solidFill>
                <a:latin typeface="Times New Roman"/>
              </a:rPr>
              <a:t>Job roles</a:t>
            </a:r>
          </a:p>
          <a:p>
            <a:pPr algn="ctr"/>
            <a:r>
              <a:rPr sz="1100" b="0">
                <a:solidFill>
                  <a:srgbClr val="1F3864"/>
                </a:solidFill>
                <a:latin typeface="Times New Roman"/>
              </a:rPr>
              <a:t>Required and preferred skills</a:t>
            </a:r>
          </a:p>
        </p:txBody>
      </p:sp>
    </p:spTree>
    <p:extLst>
      <p:ext uri="{BB962C8B-B14F-4D97-AF65-F5344CB8AC3E}">
        <p14:creationId xmlns:p14="http://schemas.microsoft.com/office/powerpoint/2010/main" val="1592086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C7AD6-5AA8-8896-E352-5A6BE806DDC7}"/>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92382421-C0AF-D47D-6E46-FDA4100E8ADE}"/>
              </a:ext>
            </a:extLst>
          </p:cNvPr>
          <p:cNvGrpSpPr/>
          <p:nvPr/>
        </p:nvGrpSpPr>
        <p:grpSpPr>
          <a:xfrm>
            <a:off x="0" y="6392367"/>
            <a:ext cx="12192000" cy="546100"/>
            <a:chOff x="0" y="0"/>
            <a:chExt cx="6186311" cy="277095"/>
          </a:xfrm>
          <a:solidFill>
            <a:srgbClr val="FFC000"/>
          </a:solidFill>
        </p:grpSpPr>
        <p:sp>
          <p:nvSpPr>
            <p:cNvPr id="20" name="Freeform 3">
              <a:extLst>
                <a:ext uri="{FF2B5EF4-FFF2-40B4-BE49-F238E27FC236}">
                  <a16:creationId xmlns:a16="http://schemas.microsoft.com/office/drawing/2014/main" id="{D92C163B-3233-D1EA-7752-F7F668017DA4}"/>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8053E706-4DFB-5F5B-BBAE-9E5FB86A3DDC}"/>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22A2B533-F892-57DD-623F-486FDE783A73}"/>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0F3EBB85-610C-EA00-7A69-83470907C7FF}"/>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36B48F93-9FDF-5442-AAB0-04E51AAEEC6E}"/>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6DF9113D-0C11-08BB-F73C-267E0D85D38A}"/>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BE9DB3C4-0744-9B2C-EC7C-81519EB41E40}"/>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1" name="Picture 10">
            <a:extLst>
              <a:ext uri="{FF2B5EF4-FFF2-40B4-BE49-F238E27FC236}">
                <a16:creationId xmlns:a16="http://schemas.microsoft.com/office/drawing/2014/main" id="{DA5E4479-8E60-255F-7A4A-4641BA35CAF8}"/>
              </a:ext>
            </a:extLst>
          </p:cNvPr>
          <p:cNvPicPr>
            <a:picLocks noChangeAspect="1"/>
          </p:cNvPicPr>
          <p:nvPr/>
        </p:nvPicPr>
        <p:blipFill rotWithShape="1">
          <a:blip r:embed="rId11">
            <a:extLst>
              <a:ext uri="{28A0092B-C50C-407E-A947-70E740481C1C}">
                <a14:useLocalDpi xmlns:a14="http://schemas.microsoft.com/office/drawing/2010/main" val="0"/>
              </a:ext>
            </a:extLst>
          </a:blip>
          <a:srcRect l="1258" t="6458" r="666" b="6557"/>
          <a:stretch/>
        </p:blipFill>
        <p:spPr>
          <a:xfrm>
            <a:off x="0" y="-15722"/>
            <a:ext cx="11257935" cy="955522"/>
          </a:xfrm>
          <a:prstGeom prst="rect">
            <a:avLst/>
          </a:prstGeom>
        </p:spPr>
      </p:pic>
      <p:sp>
        <p:nvSpPr>
          <p:cNvPr id="14" name="Content Placeholder 3">
            <a:extLst>
              <a:ext uri="{FF2B5EF4-FFF2-40B4-BE49-F238E27FC236}">
                <a16:creationId xmlns:a16="http://schemas.microsoft.com/office/drawing/2014/main" id="{6E7FF7F6-247D-75D7-CE23-854A84E539CF}"/>
              </a:ext>
            </a:extLst>
          </p:cNvPr>
          <p:cNvSpPr txBox="1">
            <a:spLocks/>
          </p:cNvSpPr>
          <p:nvPr/>
        </p:nvSpPr>
        <p:spPr>
          <a:xfrm>
            <a:off x="123825" y="1026160"/>
            <a:ext cx="11383645" cy="504444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3DF9D982-58FB-C568-338C-3B482C3F0EAC}"/>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
        <p:nvSpPr>
          <p:cNvPr id="4" name="Rectangle 3">
            <a:extLst>
              <a:ext uri="{FF2B5EF4-FFF2-40B4-BE49-F238E27FC236}">
                <a16:creationId xmlns:a16="http://schemas.microsoft.com/office/drawing/2014/main" id="{31FE0282-DF5C-D455-0EB3-805C53B2EEFA}"/>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9D1DFEB8-F7A2-BD8E-57E0-FA070EC36E8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1311383" y="58917"/>
            <a:ext cx="720000" cy="720000"/>
          </a:xfrm>
          <a:prstGeom prst="rect">
            <a:avLst/>
          </a:prstGeom>
        </p:spPr>
      </p:pic>
      <p:sp>
        <p:nvSpPr>
          <p:cNvPr id="5" name="TextBox 4">
            <a:extLst>
              <a:ext uri="{FF2B5EF4-FFF2-40B4-BE49-F238E27FC236}">
                <a16:creationId xmlns:a16="http://schemas.microsoft.com/office/drawing/2014/main" id="{05BC9AE0-AAF6-E36B-B762-58ACC0C2E085}"/>
              </a:ext>
            </a:extLst>
          </p:cNvPr>
          <p:cNvSpPr txBox="1"/>
          <p:nvPr/>
        </p:nvSpPr>
        <p:spPr>
          <a:xfrm>
            <a:off x="264816" y="1079173"/>
            <a:ext cx="8165690"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IMPLEMENTATION</a:t>
            </a:r>
            <a:endParaRPr lang="en-IN" sz="2800" b="1" dirty="0">
              <a:latin typeface="Times New Roman" panose="02020603050405020304" pitchFamily="18" charset="0"/>
              <a:cs typeface="Times New Roman" panose="02020603050405020304" pitchFamily="18" charset="0"/>
            </a:endParaRPr>
          </a:p>
        </p:txBody>
      </p:sp>
      <p:sp>
        <p:nvSpPr>
          <p:cNvPr id="31" name="Rounded Rectangle 30"/>
          <p:cNvSpPr/>
          <p:nvPr/>
        </p:nvSpPr>
        <p:spPr>
          <a:xfrm>
            <a:off x="260000" y="1650000"/>
            <a:ext cx="3500000" cy="700000"/>
          </a:xfrm>
          <a:prstGeom prst="roundRect">
            <a:avLst>
              <a:gd name="adj" fmla="val 12000"/>
            </a:avLst>
          </a:prstGeom>
          <a:solidFill>
            <a:srgbClr val="1F3864"/>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400" b="1">
                <a:solidFill>
                  <a:srgbClr val="FFFFFF"/>
                </a:solidFill>
                <a:latin typeface="Times New Roman"/>
              </a:rPr>
              <a:t>Job Description</a:t>
            </a:r>
          </a:p>
          <a:p>
            <a:pPr algn="ctr"/>
            <a:r>
              <a:rPr sz="1100" b="0">
                <a:solidFill>
                  <a:srgbClr val="FFFFFF"/>
                </a:solidFill>
                <a:latin typeface="Times New Roman"/>
              </a:rPr>
              <a:t>Pasted by the recruiter</a:t>
            </a:r>
          </a:p>
        </p:txBody>
      </p:sp>
      <p:sp>
        <p:nvSpPr>
          <p:cNvPr id="32" name="Rounded Rectangle 31"/>
          <p:cNvSpPr/>
          <p:nvPr/>
        </p:nvSpPr>
        <p:spPr>
          <a:xfrm>
            <a:off x="4060000" y="1650000"/>
            <a:ext cx="3500000" cy="700000"/>
          </a:xfrm>
          <a:prstGeom prst="roundRect">
            <a:avLst>
              <a:gd name="adj" fmla="val 12000"/>
            </a:avLst>
          </a:prstGeom>
          <a:solidFill>
            <a:srgbClr val="1F3864"/>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400" b="1">
                <a:solidFill>
                  <a:srgbClr val="FFFFFF"/>
                </a:solidFill>
                <a:latin typeface="Times New Roman"/>
              </a:rPr>
              <a:t>Resume Upload</a:t>
            </a:r>
          </a:p>
          <a:p>
            <a:pPr algn="ctr"/>
            <a:r>
              <a:rPr sz="1100" b="0">
                <a:solidFill>
                  <a:srgbClr val="FFFFFF"/>
                </a:solidFill>
                <a:latin typeface="Times New Roman"/>
              </a:rPr>
              <a:t>PDF, DOCX, TXT, scanned (OCR)</a:t>
            </a:r>
          </a:p>
        </p:txBody>
      </p:sp>
      <p:sp>
        <p:nvSpPr>
          <p:cNvPr id="33" name="Rounded Rectangle 32"/>
          <p:cNvSpPr/>
          <p:nvPr/>
        </p:nvSpPr>
        <p:spPr>
          <a:xfrm>
            <a:off x="260000" y="2600000"/>
            <a:ext cx="3500000" cy="700000"/>
          </a:xfrm>
          <a:prstGeom prst="roundRect">
            <a:avLst>
              <a:gd name="adj" fmla="val 12000"/>
            </a:avLst>
          </a:prstGeom>
          <a:solidFill>
            <a:srgbClr val="D9E2F3"/>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400" b="1">
                <a:solidFill>
                  <a:srgbClr val="1F3864"/>
                </a:solidFill>
                <a:latin typeface="Times New Roman"/>
              </a:rPr>
              <a:t>JD Parser</a:t>
            </a:r>
          </a:p>
          <a:p>
            <a:pPr algn="ctr"/>
            <a:r>
              <a:rPr sz="1100" b="0">
                <a:solidFill>
                  <a:srgbClr val="1F3864"/>
                </a:solidFill>
                <a:latin typeface="Times New Roman"/>
              </a:rPr>
              <a:t>Required and preferred skills</a:t>
            </a:r>
          </a:p>
        </p:txBody>
      </p:sp>
      <p:sp>
        <p:nvSpPr>
          <p:cNvPr id="34" name="Rounded Rectangle 33"/>
          <p:cNvSpPr/>
          <p:nvPr/>
        </p:nvSpPr>
        <p:spPr>
          <a:xfrm>
            <a:off x="4060000" y="2600000"/>
            <a:ext cx="3500000" cy="700000"/>
          </a:xfrm>
          <a:prstGeom prst="roundRect">
            <a:avLst>
              <a:gd name="adj" fmla="val 12000"/>
            </a:avLst>
          </a:prstGeom>
          <a:solidFill>
            <a:srgbClr val="D9E2F3"/>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400" b="1">
                <a:solidFill>
                  <a:srgbClr val="1F3864"/>
                </a:solidFill>
                <a:latin typeface="Times New Roman"/>
              </a:rPr>
              <a:t>Resume Parser</a:t>
            </a:r>
          </a:p>
          <a:p>
            <a:pPr algn="ctr"/>
            <a:r>
              <a:rPr sz="1100" b="0">
                <a:solidFill>
                  <a:srgbClr val="1F3864"/>
                </a:solidFill>
                <a:latin typeface="Times New Roman"/>
              </a:rPr>
              <a:t>Skills, experience, education, projects</a:t>
            </a:r>
          </a:p>
        </p:txBody>
      </p:sp>
      <p:sp>
        <p:nvSpPr>
          <p:cNvPr id="35" name="Rounded Rectangle 34"/>
          <p:cNvSpPr/>
          <p:nvPr/>
        </p:nvSpPr>
        <p:spPr>
          <a:xfrm>
            <a:off x="260000" y="3550000"/>
            <a:ext cx="7300000" cy="700000"/>
          </a:xfrm>
          <a:prstGeom prst="roundRect">
            <a:avLst>
              <a:gd name="adj" fmla="val 12000"/>
            </a:avLst>
          </a:prstGeom>
          <a:solidFill>
            <a:srgbClr val="FFF2CC"/>
          </a:solidFill>
          <a:ln w="15875">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400" b="1">
                <a:solidFill>
                  <a:srgbClr val="1F3864"/>
                </a:solidFill>
                <a:latin typeface="Times New Roman"/>
              </a:rPr>
              <a:t>Blind Screening (optional)</a:t>
            </a:r>
          </a:p>
          <a:p>
            <a:pPr algn="ctr"/>
            <a:r>
              <a:rPr sz="1100" b="0">
                <a:solidFill>
                  <a:srgbClr val="1F3864"/>
                </a:solidFill>
                <a:latin typeface="Times New Roman"/>
              </a:rPr>
              <a:t>Names and contact details replaced by Candidate #00N</a:t>
            </a:r>
          </a:p>
        </p:txBody>
      </p:sp>
      <p:sp>
        <p:nvSpPr>
          <p:cNvPr id="36" name="Rounded Rectangle 35"/>
          <p:cNvSpPr/>
          <p:nvPr/>
        </p:nvSpPr>
        <p:spPr>
          <a:xfrm>
            <a:off x="260000" y="4500000"/>
            <a:ext cx="3500000" cy="700000"/>
          </a:xfrm>
          <a:prstGeom prst="roundRect">
            <a:avLst>
              <a:gd name="adj" fmla="val 12000"/>
            </a:avLst>
          </a:prstGeom>
          <a:solidFill>
            <a:srgbClr val="D9E2F3"/>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400" b="1">
                <a:solidFill>
                  <a:srgbClr val="1F3864"/>
                </a:solidFill>
                <a:latin typeface="Times New Roman"/>
              </a:rPr>
              <a:t>Skill Ontology</a:t>
            </a:r>
          </a:p>
          <a:p>
            <a:pPr algn="ctr"/>
            <a:r>
              <a:rPr sz="1100" b="0">
                <a:solidFill>
                  <a:srgbClr val="1F3864"/>
                </a:solidFill>
                <a:latin typeface="Times New Roman"/>
              </a:rPr>
              <a:t>Synonyms, partial credit</a:t>
            </a:r>
          </a:p>
        </p:txBody>
      </p:sp>
      <p:sp>
        <p:nvSpPr>
          <p:cNvPr id="37" name="Rounded Rectangle 36"/>
          <p:cNvSpPr/>
          <p:nvPr/>
        </p:nvSpPr>
        <p:spPr>
          <a:xfrm>
            <a:off x="4060000" y="4500000"/>
            <a:ext cx="3500000" cy="700000"/>
          </a:xfrm>
          <a:prstGeom prst="roundRect">
            <a:avLst>
              <a:gd name="adj" fmla="val 12000"/>
            </a:avLst>
          </a:prstGeom>
          <a:solidFill>
            <a:srgbClr val="D9E2F3"/>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400" b="1">
                <a:solidFill>
                  <a:srgbClr val="1F3864"/>
                </a:solidFill>
                <a:latin typeface="Times New Roman"/>
              </a:rPr>
              <a:t>Hybrid Ranker</a:t>
            </a:r>
          </a:p>
          <a:p>
            <a:pPr algn="ctr"/>
            <a:r>
              <a:rPr sz="1100" b="0">
                <a:solidFill>
                  <a:srgbClr val="1F3864"/>
                </a:solidFill>
                <a:latin typeface="Times New Roman"/>
              </a:rPr>
              <a:t>7 weighted scores = match %</a:t>
            </a:r>
          </a:p>
        </p:txBody>
      </p:sp>
      <p:sp>
        <p:nvSpPr>
          <p:cNvPr id="38" name="Rounded Rectangle 37"/>
          <p:cNvSpPr/>
          <p:nvPr/>
        </p:nvSpPr>
        <p:spPr>
          <a:xfrm>
            <a:off x="260000" y="5450000"/>
            <a:ext cx="3500000" cy="700000"/>
          </a:xfrm>
          <a:prstGeom prst="roundRect">
            <a:avLst>
              <a:gd name="adj" fmla="val 12000"/>
            </a:avLst>
          </a:prstGeom>
          <a:solidFill>
            <a:srgbClr val="1F3864"/>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400" b="1">
                <a:solidFill>
                  <a:srgbClr val="FFFFFF"/>
                </a:solidFill>
                <a:latin typeface="Times New Roman"/>
              </a:rPr>
              <a:t>Verdict + Dashboard</a:t>
            </a:r>
          </a:p>
          <a:p>
            <a:pPr algn="ctr"/>
            <a:r>
              <a:rPr sz="1100" b="0">
                <a:solidFill>
                  <a:srgbClr val="FFFFFF"/>
                </a:solidFill>
                <a:latin typeface="Times New Roman"/>
              </a:rPr>
              <a:t>Skill gap, interview kit, chatbot</a:t>
            </a:r>
          </a:p>
        </p:txBody>
      </p:sp>
      <p:sp>
        <p:nvSpPr>
          <p:cNvPr id="39" name="Rounded Rectangle 38"/>
          <p:cNvSpPr/>
          <p:nvPr/>
        </p:nvSpPr>
        <p:spPr>
          <a:xfrm>
            <a:off x="4060000" y="5450000"/>
            <a:ext cx="3500000" cy="700000"/>
          </a:xfrm>
          <a:prstGeom prst="roundRect">
            <a:avLst>
              <a:gd name="adj" fmla="val 12000"/>
            </a:avLst>
          </a:prstGeom>
          <a:solidFill>
            <a:srgbClr val="D9E2F3"/>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400" b="1">
                <a:solidFill>
                  <a:srgbClr val="1F3864"/>
                </a:solidFill>
                <a:latin typeface="Times New Roman"/>
              </a:rPr>
              <a:t>Four-Agent Council</a:t>
            </a:r>
          </a:p>
          <a:p>
            <a:pPr algn="ctr"/>
            <a:r>
              <a:rPr sz="1100" b="0">
                <a:solidFill>
                  <a:srgbClr val="1F3864"/>
                </a:solidFill>
                <a:latin typeface="Times New Roman"/>
              </a:rPr>
              <a:t>Tech Lead, Culture, Fair Auditor, Seniority</a:t>
            </a:r>
          </a:p>
        </p:txBody>
      </p:sp>
      <p:cxnSp>
        <p:nvCxnSpPr>
          <p:cNvPr id="40" name="Connector 39"/>
          <p:cNvCxnSpPr/>
          <p:nvPr/>
        </p:nvCxnSpPr>
        <p:spPr>
          <a:xfrm>
            <a:off x="2010000" y="2350000"/>
            <a:ext cx="0" cy="250000"/>
          </a:xfrm>
          <a:prstGeom prst="line">
            <a:avLst/>
          </a:prstGeom>
          <a:ln w="25400">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810000" y="2350000"/>
            <a:ext cx="0" cy="250000"/>
          </a:xfrm>
          <a:prstGeom prst="line">
            <a:avLst/>
          </a:prstGeom>
          <a:ln w="25400">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2010000" y="3300000"/>
            <a:ext cx="0" cy="250000"/>
          </a:xfrm>
          <a:prstGeom prst="line">
            <a:avLst/>
          </a:prstGeom>
          <a:ln w="25400">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5810000" y="3300000"/>
            <a:ext cx="0" cy="250000"/>
          </a:xfrm>
          <a:prstGeom prst="line">
            <a:avLst/>
          </a:prstGeom>
          <a:ln w="25400">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2010000" y="3300000"/>
            <a:ext cx="0" cy="250000"/>
          </a:xfrm>
          <a:prstGeom prst="line">
            <a:avLst/>
          </a:prstGeom>
          <a:ln w="25400">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2010000" y="4250000"/>
            <a:ext cx="0" cy="250000"/>
          </a:xfrm>
          <a:prstGeom prst="line">
            <a:avLst/>
          </a:prstGeom>
          <a:ln w="25400">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3760000" y="4850000"/>
            <a:ext cx="300000" cy="0"/>
          </a:xfrm>
          <a:prstGeom prst="line">
            <a:avLst/>
          </a:prstGeom>
          <a:ln w="25400">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810000" y="5200000"/>
            <a:ext cx="0" cy="250000"/>
          </a:xfrm>
          <a:prstGeom prst="line">
            <a:avLst/>
          </a:prstGeom>
          <a:ln w="25400">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3760000" y="5800000"/>
            <a:ext cx="300000" cy="0"/>
          </a:xfrm>
          <a:prstGeom prst="line">
            <a:avLst/>
          </a:prstGeom>
          <a:ln w="25400">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7950000" y="1650000"/>
            <a:ext cx="4000000" cy="4600000"/>
          </a:xfrm>
          <a:prstGeom prst="rect">
            <a:avLst/>
          </a:prstGeom>
          <a:noFill/>
        </p:spPr>
        <p:txBody>
          <a:bodyPr wrap="square" anchor="t" lIns="60000" rIns="60000" tIns="30000" bIns="30000">
            <a:spAutoFit/>
          </a:bodyPr>
          <a:lstStyle/>
          <a:p>
            <a:pPr algn="l" marL="285750" indent="-285750">
              <a:lnSpc>
                <a:spcPct val="115000"/>
              </a:lnSpc>
              <a:spcAft>
                <a:spcPts val="800"/>
              </a:spcAft>
              <a:buFont typeface="Arial"/>
              <a:buChar char="•"/>
            </a:pPr>
            <a:r>
              <a:rPr sz="1500" b="1">
                <a:solidFill>
                  <a:srgbClr val="000000"/>
                </a:solidFill>
                <a:latin typeface="Times New Roman"/>
              </a:rPr>
              <a:t>Input: </a:t>
            </a:r>
            <a:r>
              <a:rPr sz="1500" b="0">
                <a:solidFill>
                  <a:srgbClr val="000000"/>
                </a:solidFill>
                <a:latin typeface="Times New Roman"/>
              </a:rPr>
              <a:t>the job description and resumes are parsed into structured profiles.</a:t>
            </a:r>
          </a:p>
          <a:p>
            <a:pPr algn="l" marL="285750" indent="-285750">
              <a:lnSpc>
                <a:spcPct val="115000"/>
              </a:lnSpc>
              <a:spcAft>
                <a:spcPts val="800"/>
              </a:spcAft>
              <a:buFont typeface="Arial"/>
              <a:buChar char="•"/>
            </a:pPr>
            <a:r>
              <a:rPr sz="1500" b="1">
                <a:solidFill>
                  <a:srgbClr val="000000"/>
                </a:solidFill>
                <a:latin typeface="Times New Roman"/>
              </a:rPr>
              <a:t>Fairness: </a:t>
            </a:r>
            <a:r>
              <a:rPr sz="1500" b="0">
                <a:solidFill>
                  <a:srgbClr val="000000"/>
                </a:solidFill>
                <a:latin typeface="Times New Roman"/>
              </a:rPr>
              <a:t>blind screening hides identity before any scoring.</a:t>
            </a:r>
          </a:p>
          <a:p>
            <a:pPr algn="l" marL="285750" indent="-285750">
              <a:lnSpc>
                <a:spcPct val="115000"/>
              </a:lnSpc>
              <a:spcAft>
                <a:spcPts val="800"/>
              </a:spcAft>
              <a:buFont typeface="Arial"/>
              <a:buChar char="•"/>
            </a:pPr>
            <a:r>
              <a:rPr sz="1500" b="1">
                <a:solidFill>
                  <a:srgbClr val="000000"/>
                </a:solidFill>
                <a:latin typeface="Times New Roman"/>
              </a:rPr>
              <a:t>Scoring: </a:t>
            </a:r>
            <a:r>
              <a:rPr sz="1500" b="0">
                <a:solidFill>
                  <a:srgbClr val="000000"/>
                </a:solidFill>
                <a:latin typeface="Times New Roman"/>
              </a:rPr>
              <a:t>the ontology feeds a ranker that blends seven signals.</a:t>
            </a:r>
          </a:p>
          <a:p>
            <a:pPr algn="l" marL="285750" indent="-285750">
              <a:lnSpc>
                <a:spcPct val="115000"/>
              </a:lnSpc>
              <a:spcAft>
                <a:spcPts val="800"/>
              </a:spcAft>
              <a:buFont typeface="Arial"/>
              <a:buChar char="•"/>
            </a:pPr>
            <a:r>
              <a:rPr sz="1500" b="1">
                <a:solidFill>
                  <a:srgbClr val="000000"/>
                </a:solidFill>
                <a:latin typeface="Times New Roman"/>
              </a:rPr>
              <a:t>Decision: </a:t>
            </a:r>
            <a:r>
              <a:rPr sz="1500" b="0">
                <a:solidFill>
                  <a:srgbClr val="000000"/>
                </a:solidFill>
                <a:latin typeface="Times New Roman"/>
              </a:rPr>
              <a:t>four agents score, debate and give a verdict with red flags.</a:t>
            </a:r>
          </a:p>
          <a:p>
            <a:pPr algn="l" marL="285750" indent="-285750">
              <a:lnSpc>
                <a:spcPct val="115000"/>
              </a:lnSpc>
              <a:spcAft>
                <a:spcPts val="800"/>
              </a:spcAft>
              <a:buFont typeface="Arial"/>
              <a:buChar char="•"/>
            </a:pPr>
            <a:r>
              <a:rPr sz="1500" b="1">
                <a:solidFill>
                  <a:srgbClr val="000000"/>
                </a:solidFill>
                <a:latin typeface="Times New Roman"/>
              </a:rPr>
              <a:t>Output: </a:t>
            </a:r>
            <a:r>
              <a:rPr sz="1500" b="0">
                <a:solidFill>
                  <a:srgbClr val="000000"/>
                </a:solidFill>
                <a:latin typeface="Times New Roman"/>
              </a:rPr>
              <a:t>leaderboard, skill gap, a 20-question interview kit and a chatbot; the engine is served through FastAPI, with accounts and candidate pools in MongoDB Atlas.</a:t>
            </a:r>
          </a:p>
        </p:txBody>
      </p:sp>
    </p:spTree>
    <p:extLst>
      <p:ext uri="{BB962C8B-B14F-4D97-AF65-F5344CB8AC3E}">
        <p14:creationId xmlns:p14="http://schemas.microsoft.com/office/powerpoint/2010/main" val="37961424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06187-2497-66A0-93D1-0BBF55D9BBA5}"/>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435BB231-5BFC-F5BB-E890-FD4F63A42053}"/>
              </a:ext>
            </a:extLst>
          </p:cNvPr>
          <p:cNvGrpSpPr/>
          <p:nvPr/>
        </p:nvGrpSpPr>
        <p:grpSpPr>
          <a:xfrm>
            <a:off x="0" y="6392367"/>
            <a:ext cx="12192000" cy="546100"/>
            <a:chOff x="0" y="0"/>
            <a:chExt cx="6186311" cy="277095"/>
          </a:xfrm>
          <a:solidFill>
            <a:srgbClr val="FFC000"/>
          </a:solidFill>
        </p:grpSpPr>
        <p:sp>
          <p:nvSpPr>
            <p:cNvPr id="20" name="Freeform 3">
              <a:extLst>
                <a:ext uri="{FF2B5EF4-FFF2-40B4-BE49-F238E27FC236}">
                  <a16:creationId xmlns:a16="http://schemas.microsoft.com/office/drawing/2014/main" id="{8F493131-68C6-1571-C341-D175C93B50D0}"/>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723D9AA1-9870-4237-6139-F7153A9669CA}"/>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C30F9FC0-95E3-240C-29D6-356FFE17C292}"/>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24B672EB-4204-680D-D552-2AC2D70599AE}"/>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FCA9FE36-DA09-7633-E4E7-24FA9E53041F}"/>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A13ACB70-41C0-2A18-4EE8-33F456CE4C7D}"/>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091086BB-9111-4C5E-8DA6-6E095B8670B4}"/>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1" name="Picture 10">
            <a:extLst>
              <a:ext uri="{FF2B5EF4-FFF2-40B4-BE49-F238E27FC236}">
                <a16:creationId xmlns:a16="http://schemas.microsoft.com/office/drawing/2014/main" id="{D125C2F9-D07C-789C-BB46-7ACAC4C3F8B6}"/>
              </a:ext>
            </a:extLst>
          </p:cNvPr>
          <p:cNvPicPr>
            <a:picLocks noChangeAspect="1"/>
          </p:cNvPicPr>
          <p:nvPr/>
        </p:nvPicPr>
        <p:blipFill rotWithShape="1">
          <a:blip r:embed="rId11">
            <a:extLst>
              <a:ext uri="{28A0092B-C50C-407E-A947-70E740481C1C}">
                <a14:useLocalDpi xmlns:a14="http://schemas.microsoft.com/office/drawing/2010/main" val="0"/>
              </a:ext>
            </a:extLst>
          </a:blip>
          <a:srcRect l="1258" t="6458" r="666" b="6557"/>
          <a:stretch/>
        </p:blipFill>
        <p:spPr>
          <a:xfrm>
            <a:off x="0" y="-15722"/>
            <a:ext cx="11257935" cy="955522"/>
          </a:xfrm>
          <a:prstGeom prst="rect">
            <a:avLst/>
          </a:prstGeom>
        </p:spPr>
      </p:pic>
      <p:sp>
        <p:nvSpPr>
          <p:cNvPr id="14" name="Content Placeholder 3">
            <a:extLst>
              <a:ext uri="{FF2B5EF4-FFF2-40B4-BE49-F238E27FC236}">
                <a16:creationId xmlns:a16="http://schemas.microsoft.com/office/drawing/2014/main" id="{E5590571-CCE8-B2F0-CF3E-A6338BA935EA}"/>
              </a:ext>
            </a:extLst>
          </p:cNvPr>
          <p:cNvSpPr txBox="1">
            <a:spLocks/>
          </p:cNvSpPr>
          <p:nvPr/>
        </p:nvSpPr>
        <p:spPr>
          <a:xfrm>
            <a:off x="123825" y="1026160"/>
            <a:ext cx="11383645" cy="504444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DC1C8311-26B0-3AFA-8DA4-5D2E4907B25D}"/>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
        <p:nvSpPr>
          <p:cNvPr id="4" name="Rectangle 3">
            <a:extLst>
              <a:ext uri="{FF2B5EF4-FFF2-40B4-BE49-F238E27FC236}">
                <a16:creationId xmlns:a16="http://schemas.microsoft.com/office/drawing/2014/main" id="{DA050632-EFC1-241A-AB94-C6F8D3517A39}"/>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F5EBBD26-B3A6-E795-991F-4E06339D08E2}"/>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1311383" y="58917"/>
            <a:ext cx="720000" cy="720000"/>
          </a:xfrm>
          <a:prstGeom prst="rect">
            <a:avLst/>
          </a:prstGeom>
        </p:spPr>
      </p:pic>
      <p:sp>
        <p:nvSpPr>
          <p:cNvPr id="31" name="Title"/>
          <p:cNvSpPr txBox="1"/>
          <p:nvPr/>
        </p:nvSpPr>
        <p:spPr>
          <a:xfrm>
            <a:off x="264816" y="1025101"/>
            <a:ext cx="9000000" cy="523220"/>
          </a:xfrm>
          <a:prstGeom prst="rect">
            <a:avLst/>
          </a:prstGeom>
          <a:noFill/>
        </p:spPr>
        <p:txBody>
          <a:bodyPr wrap="square" anchor="t" lIns="60000" rIns="60000" tIns="30000" bIns="30000">
            <a:spAutoFit/>
          </a:bodyPr>
          <a:lstStyle/>
          <a:p>
            <a:pPr algn="l">
              <a:lnSpc>
                <a:spcPct val="115000"/>
              </a:lnSpc>
              <a:spcAft>
                <a:spcPts val="600"/>
              </a:spcAft>
            </a:pPr>
            <a:r>
              <a:rPr sz="2800" b="1">
                <a:solidFill>
                  <a:srgbClr val="000000"/>
                </a:solidFill>
                <a:latin typeface="Times New Roman"/>
              </a:rPr>
              <a:t>HYBRID RANKING MODEL</a:t>
            </a:r>
          </a:p>
        </p:txBody>
      </p:sp>
      <p:graphicFrame>
        <p:nvGraphicFramePr>
          <p:cNvPr id="32" name="Chart 31"/>
          <p:cNvGraphicFramePr>
            <a:graphicFrameLocks noGrp="1"/>
          </p:cNvGraphicFramePr>
          <p:nvPr/>
        </p:nvGraphicFramePr>
        <p:xfrm>
          <a:off x="260000" y="1600000"/>
          <a:ext cx="6300000" cy="4600000"/>
        </p:xfrm>
        <a:graphic>
          <a:graphicData uri="http://schemas.openxmlformats.org/drawingml/2006/chart">
            <c:chart xmlns:c="http://schemas.openxmlformats.org/drawingml/2006/chart" r:id="rId13"/>
          </a:graphicData>
        </a:graphic>
      </p:graphicFrame>
      <p:sp>
        <p:nvSpPr>
          <p:cNvPr id="33" name="TextBox 32"/>
          <p:cNvSpPr txBox="1"/>
          <p:nvPr/>
        </p:nvSpPr>
        <p:spPr>
          <a:xfrm>
            <a:off x="6750000" y="1650000"/>
            <a:ext cx="5200000" cy="4600000"/>
          </a:xfrm>
          <a:prstGeom prst="rect">
            <a:avLst/>
          </a:prstGeom>
          <a:noFill/>
        </p:spPr>
        <p:txBody>
          <a:bodyPr wrap="square" anchor="t" lIns="60000" rIns="60000" tIns="30000" bIns="30000">
            <a:spAutoFit/>
          </a:bodyPr>
          <a:lstStyle/>
          <a:p>
            <a:pPr algn="l" marL="285750" indent="-285750">
              <a:lnSpc>
                <a:spcPct val="115000"/>
              </a:lnSpc>
              <a:spcAft>
                <a:spcPts val="700"/>
              </a:spcAft>
              <a:buFont typeface="Arial"/>
              <a:buChar char="•"/>
            </a:pPr>
            <a:r>
              <a:rPr sz="1500" b="1">
                <a:solidFill>
                  <a:srgbClr val="000000"/>
                </a:solidFill>
                <a:latin typeface="Times New Roman"/>
              </a:rPr>
              <a:t>Match % </a:t>
            </a:r>
            <a:r>
              <a:rPr sz="1500" b="0">
                <a:solidFill>
                  <a:srgbClr val="000000"/>
                </a:solidFill>
                <a:latin typeface="Times New Roman"/>
              </a:rPr>
              <a:t>is the weighted sum of seven scores, each from 0 to 100.</a:t>
            </a:r>
          </a:p>
          <a:p>
            <a:pPr algn="l" marL="285750" indent="-285750">
              <a:lnSpc>
                <a:spcPct val="115000"/>
              </a:lnSpc>
              <a:spcAft>
                <a:spcPts val="700"/>
              </a:spcAft>
              <a:buFont typeface="Arial"/>
              <a:buChar char="•"/>
            </a:pPr>
            <a:r>
              <a:rPr sz="1500" b="1">
                <a:solidFill>
                  <a:srgbClr val="000000"/>
                </a:solidFill>
                <a:latin typeface="Times New Roman"/>
              </a:rPr>
              <a:t>Skills (35%): </a:t>
            </a:r>
            <a:r>
              <a:rPr sz="1500" b="0">
                <a:solidFill>
                  <a:srgbClr val="000000"/>
                </a:solidFill>
                <a:latin typeface="Times New Roman"/>
              </a:rPr>
              <a:t>required skills are matched through the ontology; related skills get partial credit (FastAPI through Flask counts 0.5).</a:t>
            </a:r>
          </a:p>
          <a:p>
            <a:pPr algn="l" marL="285750" indent="-285750">
              <a:lnSpc>
                <a:spcPct val="115000"/>
              </a:lnSpc>
              <a:spcAft>
                <a:spcPts val="700"/>
              </a:spcAft>
              <a:buFont typeface="Arial"/>
              <a:buChar char="•"/>
            </a:pPr>
            <a:r>
              <a:rPr sz="1500" b="1">
                <a:solidFill>
                  <a:srgbClr val="000000"/>
                </a:solidFill>
                <a:latin typeface="Times New Roman"/>
              </a:rPr>
              <a:t>Semantic fit (20%): </a:t>
            </a:r>
            <a:r>
              <a:rPr sz="1500" b="0">
                <a:solidFill>
                  <a:srgbClr val="000000"/>
                </a:solidFill>
                <a:latin typeface="Times New Roman"/>
              </a:rPr>
              <a:t>TF-IDF and BM25 offline, Sentence-BERT when installed.</a:t>
            </a:r>
          </a:p>
          <a:p>
            <a:pPr algn="l" marL="285750" indent="-285750">
              <a:lnSpc>
                <a:spcPct val="115000"/>
              </a:lnSpc>
              <a:spcAft>
                <a:spcPts val="700"/>
              </a:spcAft>
              <a:buFont typeface="Arial"/>
              <a:buChar char="•"/>
            </a:pPr>
            <a:r>
              <a:rPr sz="1500" b="1">
                <a:solidFill>
                  <a:srgbClr val="000000"/>
                </a:solidFill>
                <a:latin typeface="Times New Roman"/>
              </a:rPr>
              <a:t>Evidence weighting: </a:t>
            </a:r>
            <a:r>
              <a:rPr sz="1500" b="0">
                <a:solidFill>
                  <a:srgbClr val="000000"/>
                </a:solidFill>
                <a:latin typeface="Times New Roman"/>
              </a:rPr>
              <a:t>a skill that is listed but never shown in a project or result counts for less.</a:t>
            </a:r>
          </a:p>
          <a:p>
            <a:pPr algn="l" marL="285750" indent="-285750">
              <a:lnSpc>
                <a:spcPct val="115000"/>
              </a:lnSpc>
              <a:spcAft>
                <a:spcPts val="700"/>
              </a:spcAft>
              <a:buFont typeface="Arial"/>
              <a:buChar char="•"/>
            </a:pPr>
            <a:r>
              <a:rPr sz="1500" b="1">
                <a:solidFill>
                  <a:srgbClr val="000000"/>
                </a:solidFill>
                <a:latin typeface="Times New Roman"/>
              </a:rPr>
              <a:t>Flags: </a:t>
            </a:r>
            <a:r>
              <a:rPr sz="1500" b="0">
                <a:solidFill>
                  <a:srgbClr val="000000"/>
                </a:solidFill>
                <a:latin typeface="Times New Roman"/>
              </a:rPr>
              <a:t>experience deficit, skill stuffing and date inconsistency lower the verdict.</a:t>
            </a:r>
          </a:p>
        </p:txBody>
      </p:sp>
    </p:spTree>
    <p:extLst>
      <p:ext uri="{BB962C8B-B14F-4D97-AF65-F5344CB8AC3E}">
        <p14:creationId xmlns:p14="http://schemas.microsoft.com/office/powerpoint/2010/main" val="7098597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3F665-6C87-4E77-3DAD-0B07F39976A1}"/>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819FE947-474C-9A6D-569A-D04FDBF51F87}"/>
              </a:ext>
            </a:extLst>
          </p:cNvPr>
          <p:cNvGrpSpPr/>
          <p:nvPr/>
        </p:nvGrpSpPr>
        <p:grpSpPr>
          <a:xfrm>
            <a:off x="0" y="6392367"/>
            <a:ext cx="12192000" cy="546100"/>
            <a:chOff x="0" y="0"/>
            <a:chExt cx="6186311" cy="277095"/>
          </a:xfrm>
          <a:solidFill>
            <a:srgbClr val="FFC000"/>
          </a:solidFill>
        </p:grpSpPr>
        <p:sp>
          <p:nvSpPr>
            <p:cNvPr id="20" name="Freeform 3">
              <a:extLst>
                <a:ext uri="{FF2B5EF4-FFF2-40B4-BE49-F238E27FC236}">
                  <a16:creationId xmlns:a16="http://schemas.microsoft.com/office/drawing/2014/main" id="{63E0F065-7326-7A28-ACF2-EDDCC0BA4964}"/>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2FCD1B2F-4F55-47FE-7EC7-0D39AE438885}"/>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72529C4B-E5E0-3047-B87A-CA35B8BC45AE}"/>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A8ECC3C3-6F5D-3208-B246-F5CF80F9B9B4}"/>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3FCC7DA3-6E13-8FDA-C656-A22E1D80E8B4}"/>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75CFED61-D5B7-3E70-ECDF-4E1A59BE0FA8}"/>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7D763B5F-FD90-5667-BC15-1786AF841A92}"/>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1" name="Picture 10">
            <a:extLst>
              <a:ext uri="{FF2B5EF4-FFF2-40B4-BE49-F238E27FC236}">
                <a16:creationId xmlns:a16="http://schemas.microsoft.com/office/drawing/2014/main" id="{E421DC59-8EBC-849F-D2AD-70666C48C349}"/>
              </a:ext>
            </a:extLst>
          </p:cNvPr>
          <p:cNvPicPr>
            <a:picLocks noChangeAspect="1"/>
          </p:cNvPicPr>
          <p:nvPr/>
        </p:nvPicPr>
        <p:blipFill rotWithShape="1">
          <a:blip r:embed="rId11">
            <a:extLst>
              <a:ext uri="{28A0092B-C50C-407E-A947-70E740481C1C}">
                <a14:useLocalDpi xmlns:a14="http://schemas.microsoft.com/office/drawing/2010/main" val="0"/>
              </a:ext>
            </a:extLst>
          </a:blip>
          <a:srcRect l="1258" t="6458" r="666" b="6557"/>
          <a:stretch/>
        </p:blipFill>
        <p:spPr>
          <a:xfrm>
            <a:off x="0" y="-15722"/>
            <a:ext cx="11257935" cy="955522"/>
          </a:xfrm>
          <a:prstGeom prst="rect">
            <a:avLst/>
          </a:prstGeom>
        </p:spPr>
      </p:pic>
      <p:sp>
        <p:nvSpPr>
          <p:cNvPr id="14" name="Content Placeholder 3">
            <a:extLst>
              <a:ext uri="{FF2B5EF4-FFF2-40B4-BE49-F238E27FC236}">
                <a16:creationId xmlns:a16="http://schemas.microsoft.com/office/drawing/2014/main" id="{E67C4EA3-C470-ED68-E249-48E2243C241C}"/>
              </a:ext>
            </a:extLst>
          </p:cNvPr>
          <p:cNvSpPr txBox="1">
            <a:spLocks/>
          </p:cNvSpPr>
          <p:nvPr/>
        </p:nvSpPr>
        <p:spPr>
          <a:xfrm>
            <a:off x="123825" y="1026160"/>
            <a:ext cx="11383645" cy="504444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2B09BF77-7AA8-6E53-E1EA-24402A9B1898}"/>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
        <p:nvSpPr>
          <p:cNvPr id="4" name="Rectangle 3">
            <a:extLst>
              <a:ext uri="{FF2B5EF4-FFF2-40B4-BE49-F238E27FC236}">
                <a16:creationId xmlns:a16="http://schemas.microsoft.com/office/drawing/2014/main" id="{A602778F-1918-95DE-C6E2-0D29F29613AD}"/>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15C1016A-DCDA-9581-E9FC-01AEAFCD0ABC}"/>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1311383" y="58917"/>
            <a:ext cx="720000" cy="720000"/>
          </a:xfrm>
          <a:prstGeom prst="rect">
            <a:avLst/>
          </a:prstGeom>
        </p:spPr>
      </p:pic>
      <p:sp>
        <p:nvSpPr>
          <p:cNvPr id="31" name="Title"/>
          <p:cNvSpPr txBox="1"/>
          <p:nvPr/>
        </p:nvSpPr>
        <p:spPr>
          <a:xfrm>
            <a:off x="264816" y="1000000"/>
            <a:ext cx="9000000" cy="523220"/>
          </a:xfrm>
          <a:prstGeom prst="rect">
            <a:avLst/>
          </a:prstGeom>
          <a:noFill/>
        </p:spPr>
        <p:txBody>
          <a:bodyPr wrap="square" anchor="t" lIns="60000" rIns="60000" tIns="30000" bIns="30000">
            <a:spAutoFit/>
          </a:bodyPr>
          <a:lstStyle/>
          <a:p>
            <a:pPr algn="l">
              <a:lnSpc>
                <a:spcPct val="115000"/>
              </a:lnSpc>
              <a:spcAft>
                <a:spcPts val="600"/>
              </a:spcAft>
            </a:pPr>
            <a:r>
              <a:rPr sz="2800" b="1">
                <a:solidFill>
                  <a:srgbClr val="000000"/>
                </a:solidFill>
                <a:latin typeface="Times New Roman"/>
              </a:rPr>
              <a:t>FOUR-AGENT COUNCIL AND EXPLAINABILITY</a:t>
            </a:r>
          </a:p>
        </p:txBody>
      </p:sp>
      <p:graphicFrame>
        <p:nvGraphicFramePr>
          <p:cNvPr id="32" name="Chart 31"/>
          <p:cNvGraphicFramePr>
            <a:graphicFrameLocks noGrp="1"/>
          </p:cNvGraphicFramePr>
          <p:nvPr/>
        </p:nvGraphicFramePr>
        <p:xfrm>
          <a:off x="260000" y="1650000"/>
          <a:ext cx="6000000" cy="4550000"/>
        </p:xfrm>
        <a:graphic>
          <a:graphicData uri="http://schemas.openxmlformats.org/drawingml/2006/chart">
            <c:chart xmlns:c="http://schemas.openxmlformats.org/drawingml/2006/chart" r:id="rId13"/>
          </a:graphicData>
        </a:graphic>
      </p:graphicFrame>
      <p:sp>
        <p:nvSpPr>
          <p:cNvPr id="33" name="TextBox 32"/>
          <p:cNvSpPr txBox="1"/>
          <p:nvPr/>
        </p:nvSpPr>
        <p:spPr>
          <a:xfrm>
            <a:off x="6450000" y="1650000"/>
            <a:ext cx="5500000" cy="4600000"/>
          </a:xfrm>
          <a:prstGeom prst="rect">
            <a:avLst/>
          </a:prstGeom>
          <a:noFill/>
        </p:spPr>
        <p:txBody>
          <a:bodyPr wrap="square" anchor="t" lIns="60000" rIns="60000" tIns="30000" bIns="30000">
            <a:spAutoFit/>
          </a:bodyPr>
          <a:lstStyle/>
          <a:p>
            <a:pPr algn="l" marL="285750" indent="-285750">
              <a:lnSpc>
                <a:spcPct val="115000"/>
              </a:lnSpc>
              <a:spcAft>
                <a:spcPts val="700"/>
              </a:spcAft>
              <a:buFont typeface="Arial"/>
              <a:buChar char="•"/>
            </a:pPr>
            <a:r>
              <a:rPr sz="1500" b="1">
                <a:solidFill>
                  <a:srgbClr val="000000"/>
                </a:solidFill>
                <a:latin typeface="Times New Roman"/>
              </a:rPr>
              <a:t>Tech Lead: </a:t>
            </a:r>
            <a:r>
              <a:rPr sz="1500" b="0">
                <a:solidFill>
                  <a:srgbClr val="000000"/>
                </a:solidFill>
                <a:latin typeface="Times New Roman"/>
              </a:rPr>
              <a:t>checks skill coverage, evidence and architecture signals.</a:t>
            </a:r>
          </a:p>
          <a:p>
            <a:pPr algn="l" marL="285750" indent="-285750">
              <a:lnSpc>
                <a:spcPct val="115000"/>
              </a:lnSpc>
              <a:spcAft>
                <a:spcPts val="700"/>
              </a:spcAft>
              <a:buFont typeface="Arial"/>
              <a:buChar char="•"/>
            </a:pPr>
            <a:r>
              <a:rPr sz="1500" b="1">
                <a:solidFill>
                  <a:srgbClr val="000000"/>
                </a:solidFill>
                <a:latin typeface="Times New Roman"/>
              </a:rPr>
              <a:t>Culture: </a:t>
            </a:r>
            <a:r>
              <a:rPr sz="1500" b="0">
                <a:solidFill>
                  <a:srgbClr val="000000"/>
                </a:solidFill>
                <a:latin typeface="Times New Roman"/>
              </a:rPr>
              <a:t>judges stability and retention risk.</a:t>
            </a:r>
          </a:p>
          <a:p>
            <a:pPr algn="l" marL="285750" indent="-285750">
              <a:lnSpc>
                <a:spcPct val="115000"/>
              </a:lnSpc>
              <a:spcAft>
                <a:spcPts val="700"/>
              </a:spcAft>
              <a:buFont typeface="Arial"/>
              <a:buChar char="•"/>
            </a:pPr>
            <a:r>
              <a:rPr sz="1500" b="1">
                <a:solidFill>
                  <a:srgbClr val="000000"/>
                </a:solidFill>
                <a:latin typeface="Times New Roman"/>
              </a:rPr>
              <a:t>Fair Auditor: </a:t>
            </a:r>
            <a:r>
              <a:rPr sz="1500" b="0">
                <a:solidFill>
                  <a:srgbClr val="000000"/>
                </a:solidFill>
                <a:latin typeface="Times New Roman"/>
              </a:rPr>
              <a:t>checks that the decision is neutral and bias-free.</a:t>
            </a:r>
          </a:p>
          <a:p>
            <a:pPr algn="l" marL="285750" indent="-285750">
              <a:lnSpc>
                <a:spcPct val="115000"/>
              </a:lnSpc>
              <a:spcAft>
                <a:spcPts val="700"/>
              </a:spcAft>
              <a:buFont typeface="Arial"/>
              <a:buChar char="•"/>
            </a:pPr>
            <a:r>
              <a:rPr sz="1500" b="1">
                <a:solidFill>
                  <a:srgbClr val="000000"/>
                </a:solidFill>
                <a:latin typeface="Times New Roman"/>
              </a:rPr>
              <a:t>Seniority and Compensation: </a:t>
            </a:r>
            <a:r>
              <a:rPr sz="1500" b="0">
                <a:solidFill>
                  <a:srgbClr val="000000"/>
                </a:solidFill>
                <a:latin typeface="Times New Roman"/>
              </a:rPr>
              <a:t>compares experience with the role level.</a:t>
            </a:r>
          </a:p>
          <a:p>
            <a:pPr algn="l" marL="285750" indent="-285750">
              <a:lnSpc>
                <a:spcPct val="115000"/>
              </a:lnSpc>
              <a:spcAft>
                <a:spcPts val="700"/>
              </a:spcAft>
              <a:buFont typeface="Arial"/>
              <a:buChar char="•"/>
            </a:pPr>
            <a:r>
              <a:rPr sz="1500" b="1">
                <a:solidFill>
                  <a:srgbClr val="000000"/>
                </a:solidFill>
                <a:latin typeface="Times New Roman"/>
              </a:rPr>
              <a:t>Consensus: </a:t>
            </a:r>
            <a:r>
              <a:rPr sz="1500" b="0">
                <a:solidFill>
                  <a:srgbClr val="000000"/>
                </a:solidFill>
                <a:latin typeface="Times New Roman"/>
              </a:rPr>
              <a:t>the agents cross-examine each other, then give one verdict (Strong Hire, Lean Hire or Reject) with red flags and a debate transcript.</a:t>
            </a:r>
          </a:p>
        </p:txBody>
      </p:sp>
    </p:spTree>
    <p:extLst>
      <p:ext uri="{BB962C8B-B14F-4D97-AF65-F5344CB8AC3E}">
        <p14:creationId xmlns:p14="http://schemas.microsoft.com/office/powerpoint/2010/main" val="26244969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C4B3C-236A-4313-7A1A-0A68222C6F73}"/>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E4D6207A-36B3-FF56-0E63-AF12ECEC52D9}"/>
              </a:ext>
            </a:extLst>
          </p:cNvPr>
          <p:cNvGrpSpPr/>
          <p:nvPr/>
        </p:nvGrpSpPr>
        <p:grpSpPr>
          <a:xfrm>
            <a:off x="0" y="6392367"/>
            <a:ext cx="12192000" cy="546100"/>
            <a:chOff x="0" y="0"/>
            <a:chExt cx="6186311" cy="277095"/>
          </a:xfrm>
          <a:solidFill>
            <a:srgbClr val="FFC000"/>
          </a:solidFill>
        </p:grpSpPr>
        <p:sp>
          <p:nvSpPr>
            <p:cNvPr id="20" name="Freeform 3">
              <a:extLst>
                <a:ext uri="{FF2B5EF4-FFF2-40B4-BE49-F238E27FC236}">
                  <a16:creationId xmlns:a16="http://schemas.microsoft.com/office/drawing/2014/main" id="{319D93A8-EF2C-3482-8A9F-BD7330FBC68C}"/>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B93D9BE1-3DB7-8043-212E-211C2E23C87C}"/>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564A0134-7AE9-6DF1-02FF-20817370211C}"/>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6CEF5785-BE11-171A-D5D5-3470FA367A2E}"/>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9E33FF35-850C-1537-0E34-061B59FA7E77}"/>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C74E604F-9DB9-C473-F145-17C09D234228}"/>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666F4D60-D7AF-F665-0492-6A7E2D4C35AB}"/>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1" name="Picture 10">
            <a:extLst>
              <a:ext uri="{FF2B5EF4-FFF2-40B4-BE49-F238E27FC236}">
                <a16:creationId xmlns:a16="http://schemas.microsoft.com/office/drawing/2014/main" id="{118C1FCD-E301-BA4E-83A3-A15907C0E760}"/>
              </a:ext>
            </a:extLst>
          </p:cNvPr>
          <p:cNvPicPr>
            <a:picLocks noChangeAspect="1"/>
          </p:cNvPicPr>
          <p:nvPr/>
        </p:nvPicPr>
        <p:blipFill rotWithShape="1">
          <a:blip r:embed="rId11">
            <a:extLst>
              <a:ext uri="{28A0092B-C50C-407E-A947-70E740481C1C}">
                <a14:useLocalDpi xmlns:a14="http://schemas.microsoft.com/office/drawing/2010/main" val="0"/>
              </a:ext>
            </a:extLst>
          </a:blip>
          <a:srcRect l="1258" t="6458" r="666" b="6557"/>
          <a:stretch/>
        </p:blipFill>
        <p:spPr>
          <a:xfrm>
            <a:off x="0" y="-15722"/>
            <a:ext cx="11257935" cy="955522"/>
          </a:xfrm>
          <a:prstGeom prst="rect">
            <a:avLst/>
          </a:prstGeom>
        </p:spPr>
      </p:pic>
      <p:sp>
        <p:nvSpPr>
          <p:cNvPr id="14" name="Content Placeholder 3">
            <a:extLst>
              <a:ext uri="{FF2B5EF4-FFF2-40B4-BE49-F238E27FC236}">
                <a16:creationId xmlns:a16="http://schemas.microsoft.com/office/drawing/2014/main" id="{F3B65CFB-AD09-30E4-CB08-7D124D7AB3FE}"/>
              </a:ext>
            </a:extLst>
          </p:cNvPr>
          <p:cNvSpPr txBox="1">
            <a:spLocks/>
          </p:cNvSpPr>
          <p:nvPr/>
        </p:nvSpPr>
        <p:spPr>
          <a:xfrm>
            <a:off x="123825" y="1026160"/>
            <a:ext cx="11383645" cy="504444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C8A852AA-FBD5-9F96-7311-76FF664325F9}"/>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
        <p:nvSpPr>
          <p:cNvPr id="4" name="Rectangle 3">
            <a:extLst>
              <a:ext uri="{FF2B5EF4-FFF2-40B4-BE49-F238E27FC236}">
                <a16:creationId xmlns:a16="http://schemas.microsoft.com/office/drawing/2014/main" id="{F59F735A-2984-9D89-9ECE-0F64A90E96A2}"/>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E3D03F53-6026-4D84-60CA-2486D79BD751}"/>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1311383" y="58917"/>
            <a:ext cx="720000" cy="720000"/>
          </a:xfrm>
          <a:prstGeom prst="rect">
            <a:avLst/>
          </a:prstGeom>
        </p:spPr>
      </p:pic>
      <p:sp>
        <p:nvSpPr>
          <p:cNvPr id="5" name="TextBox 4">
            <a:extLst>
              <a:ext uri="{FF2B5EF4-FFF2-40B4-BE49-F238E27FC236}">
                <a16:creationId xmlns:a16="http://schemas.microsoft.com/office/drawing/2014/main" id="{7E7DE59B-73E5-2461-D2A8-A5DAB1C778B3}"/>
              </a:ext>
            </a:extLst>
          </p:cNvPr>
          <p:cNvSpPr txBox="1"/>
          <p:nvPr/>
        </p:nvSpPr>
        <p:spPr>
          <a:xfrm>
            <a:off x="264816" y="905450"/>
            <a:ext cx="6145160"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DATA FLOW DIAGRAM</a:t>
            </a:r>
            <a:endParaRPr lang="en-IN" sz="2800" b="1" dirty="0"/>
          </a:p>
        </p:txBody>
      </p:sp>
      <p:sp>
        <p:nvSpPr>
          <p:cNvPr id="7" name="TextBox 6">
            <a:extLst>
              <a:ext uri="{FF2B5EF4-FFF2-40B4-BE49-F238E27FC236}">
                <a16:creationId xmlns:a16="http://schemas.microsoft.com/office/drawing/2014/main" id="{B5DED190-22B8-8334-4AD4-F16234047828}"/>
              </a:ext>
            </a:extLst>
          </p:cNvPr>
          <p:cNvSpPr txBox="1"/>
          <p:nvPr/>
        </p:nvSpPr>
        <p:spPr>
          <a:xfrm>
            <a:off x="264816" y="1380354"/>
            <a:ext cx="614516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Resume screening flow:</a:t>
            </a:r>
            <a:endParaRPr lang="en-IN" sz="1800" dirty="0"/>
          </a:p>
        </p:txBody>
      </p:sp>
      <p:sp>
        <p:nvSpPr>
          <p:cNvPr id="12" name="TextBox 11">
            <a:extLst>
              <a:ext uri="{FF2B5EF4-FFF2-40B4-BE49-F238E27FC236}">
                <a16:creationId xmlns:a16="http://schemas.microsoft.com/office/drawing/2014/main" id="{DB226D70-825F-93A6-B73E-FE3C30003046}"/>
              </a:ext>
            </a:extLst>
          </p:cNvPr>
          <p:cNvSpPr txBox="1"/>
          <p:nvPr/>
        </p:nvSpPr>
        <p:spPr>
          <a:xfrm>
            <a:off x="264816" y="1694934"/>
            <a:ext cx="6768794" cy="4521109"/>
          </a:xfrm>
          <a:prstGeom prst="rect">
            <a:avLst/>
          </a:prstGeom>
          <a:noFill/>
        </p:spPr>
        <p:txBody>
          <a:bodyPr wrap="square">
            <a:spAutoFit/>
          </a:bodyPr>
          <a:lstStyle/>
          <a:p>
            <a:pPr marL="387350" marR="101600" indent="-285750" algn="just">
              <a:lnSpc>
                <a:spcPct val="150000"/>
              </a:lnSpc>
              <a:spcBef>
                <a:spcPts val="800"/>
              </a:spcBef>
              <a:buFont typeface="Arial" panose="020B0604020202020204" pitchFamily="34" charset="0"/>
              <a:buChar char="•"/>
            </a:pPr>
            <a:r>
              <a:rPr lang="en-US" sz="1600" dirty="0">
                <a:solidFill>
                  <a:srgbClr val="003300"/>
                </a:solidFill>
                <a:latin typeface="Times New Roman" panose="02020603050405020304" pitchFamily="18" charset="0"/>
                <a:cs typeface="Times New Roman" panose="02020603050405020304" pitchFamily="18" charset="0"/>
              </a:rPr>
              <a:t>The recruiter signs in and uploads the job description and the resumes.</a:t>
            </a:r>
          </a:p>
          <a:p>
            <a:pPr marL="387350" marR="101600" indent="-285750" algn="just">
              <a:lnSpc>
                <a:spcPct val="150000"/>
              </a:lnSpc>
              <a:spcBef>
                <a:spcPts val="800"/>
              </a:spcBef>
              <a:buFont typeface="Arial" panose="020B0604020202020204" pitchFamily="34" charset="0"/>
              <a:buChar char="•"/>
            </a:pPr>
            <a:r>
              <a:rPr lang="en-US" sz="1600" dirty="0">
                <a:solidFill>
                  <a:srgbClr val="003300"/>
                </a:solidFill>
                <a:latin typeface="Times New Roman" panose="02020603050405020304" pitchFamily="18" charset="0"/>
                <a:cs typeface="Times New Roman" panose="02020603050405020304" pitchFamily="18" charset="0"/>
              </a:rPr>
              <a:t>Each resume is parsed into skills, experience, education, projects and certifications.</a:t>
            </a:r>
          </a:p>
          <a:p>
            <a:pPr marL="387350" marR="101600" indent="-285750" algn="just">
              <a:lnSpc>
                <a:spcPct val="150000"/>
              </a:lnSpc>
              <a:spcBef>
                <a:spcPts val="800"/>
              </a:spcBef>
              <a:buFont typeface="Arial" panose="020B0604020202020204" pitchFamily="34" charset="0"/>
              <a:buChar char="•"/>
            </a:pPr>
            <a:r>
              <a:rPr lang="en-US" sz="1600" dirty="0">
                <a:solidFill>
                  <a:srgbClr val="003300"/>
                </a:solidFill>
                <a:latin typeface="Times New Roman" panose="02020603050405020304" pitchFamily="18" charset="0"/>
                <a:cs typeface="Times New Roman" panose="02020603050405020304" pitchFamily="18" charset="0"/>
              </a:rPr>
              <a:t>Blind screening, when switched on, hides the name and personal details.</a:t>
            </a:r>
          </a:p>
          <a:p>
            <a:pPr marL="387350" marR="101600" indent="-285750" algn="just">
              <a:lnSpc>
                <a:spcPct val="150000"/>
              </a:lnSpc>
              <a:spcBef>
                <a:spcPts val="800"/>
              </a:spcBef>
              <a:buFont typeface="Arial" panose="020B0604020202020204" pitchFamily="34" charset="0"/>
              <a:buChar char="•"/>
            </a:pPr>
            <a:r>
              <a:rPr lang="en-US" sz="1600" dirty="0">
                <a:solidFill>
                  <a:srgbClr val="003300"/>
                </a:solidFill>
                <a:latin typeface="Times New Roman" panose="02020603050405020304" pitchFamily="18" charset="0"/>
                <a:cs typeface="Times New Roman" panose="02020603050405020304" pitchFamily="18" charset="0"/>
              </a:rPr>
              <a:t>Every candidate is scored on seven signals using the skill ontology.</a:t>
            </a:r>
          </a:p>
          <a:p>
            <a:pPr marL="387350" marR="101600" indent="-285750" algn="just">
              <a:lnSpc>
                <a:spcPct val="150000"/>
              </a:lnSpc>
              <a:spcBef>
                <a:spcPts val="800"/>
              </a:spcBef>
              <a:buFont typeface="Arial" panose="020B0604020202020204" pitchFamily="34" charset="0"/>
              <a:buChar char="•"/>
            </a:pPr>
            <a:r>
              <a:rPr lang="en-US" sz="1600" dirty="0">
                <a:solidFill>
                  <a:srgbClr val="003300"/>
                </a:solidFill>
                <a:latin typeface="Times New Roman" panose="02020603050405020304" pitchFamily="18" charset="0"/>
                <a:cs typeface="Times New Roman" panose="02020603050405020304" pitchFamily="18" charset="0"/>
              </a:rPr>
              <a:t>The four-agent council reviews the scores and gives a verdict with red flags.</a:t>
            </a:r>
          </a:p>
          <a:p>
            <a:pPr marL="387350" marR="101600" indent="-285750" algn="just">
              <a:lnSpc>
                <a:spcPct val="150000"/>
              </a:lnSpc>
              <a:spcBef>
                <a:spcPts val="800"/>
              </a:spcBef>
              <a:buFont typeface="Arial" panose="020B0604020202020204" pitchFamily="34" charset="0"/>
              <a:buChar char="•"/>
            </a:pPr>
            <a:r>
              <a:rPr lang="en-US" sz="1600" dirty="0">
                <a:solidFill>
                  <a:srgbClr val="003300"/>
                </a:solidFill>
                <a:latin typeface="Times New Roman" panose="02020603050405020304" pitchFamily="18" charset="0"/>
                <a:cs typeface="Times New Roman" panose="02020603050405020304" pitchFamily="18" charset="0"/>
              </a:rPr>
              <a:t>Results are shown on the dashboard, and the API also saves them to the screening history.</a:t>
            </a:r>
          </a:p>
        </p:txBody>
      </p:sp>
      <p:sp>
        <p:nvSpPr>
          <p:cNvPr id="31" name="Rounded Rectangle 30"/>
          <p:cNvSpPr/>
          <p:nvPr/>
        </p:nvSpPr>
        <p:spPr>
          <a:xfrm>
            <a:off x="7900000" y="1450000"/>
            <a:ext cx="3700000" cy="600000"/>
          </a:xfrm>
          <a:prstGeom prst="roundRect">
            <a:avLst>
              <a:gd name="adj" fmla="val 12000"/>
            </a:avLst>
          </a:prstGeom>
          <a:solidFill>
            <a:srgbClr val="1F3864"/>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500" b="1">
                <a:solidFill>
                  <a:srgbClr val="FFFFFF"/>
                </a:solidFill>
                <a:latin typeface="Times New Roman"/>
              </a:rPr>
              <a:t>Recruiter signs in, uploads JD + resumes</a:t>
            </a:r>
          </a:p>
        </p:txBody>
      </p:sp>
      <p:cxnSp>
        <p:nvCxnSpPr>
          <p:cNvPr id="32" name="Connector 31"/>
          <p:cNvCxnSpPr/>
          <p:nvPr/>
        </p:nvCxnSpPr>
        <p:spPr>
          <a:xfrm>
            <a:off x="9750000" y="2050000"/>
            <a:ext cx="0" cy="230000"/>
          </a:xfrm>
          <a:prstGeom prst="line">
            <a:avLst/>
          </a:prstGeom>
          <a:ln w="25400">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7900000" y="2280000"/>
            <a:ext cx="3700000" cy="600000"/>
          </a:xfrm>
          <a:prstGeom prst="roundRect">
            <a:avLst>
              <a:gd name="adj" fmla="val 12000"/>
            </a:avLst>
          </a:prstGeom>
          <a:solidFill>
            <a:srgbClr val="D9E2F3"/>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500" b="1">
                <a:solidFill>
                  <a:srgbClr val="1F3864"/>
                </a:solidFill>
                <a:latin typeface="Times New Roman"/>
              </a:rPr>
              <a:t>Resume parsing</a:t>
            </a:r>
          </a:p>
        </p:txBody>
      </p:sp>
      <p:cxnSp>
        <p:nvCxnSpPr>
          <p:cNvPr id="34" name="Connector 33"/>
          <p:cNvCxnSpPr/>
          <p:nvPr/>
        </p:nvCxnSpPr>
        <p:spPr>
          <a:xfrm>
            <a:off x="9750000" y="2880000"/>
            <a:ext cx="0" cy="230000"/>
          </a:xfrm>
          <a:prstGeom prst="line">
            <a:avLst/>
          </a:prstGeom>
          <a:ln w="25400">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7900000" y="3110000"/>
            <a:ext cx="3700000" cy="600000"/>
          </a:xfrm>
          <a:prstGeom prst="roundRect">
            <a:avLst>
              <a:gd name="adj" fmla="val 12000"/>
            </a:avLst>
          </a:prstGeom>
          <a:solidFill>
            <a:srgbClr val="D9E2F3"/>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500" b="1">
                <a:solidFill>
                  <a:srgbClr val="1F3864"/>
                </a:solidFill>
                <a:latin typeface="Times New Roman"/>
              </a:rPr>
              <a:t>Blind screening (optional)</a:t>
            </a:r>
          </a:p>
        </p:txBody>
      </p:sp>
      <p:cxnSp>
        <p:nvCxnSpPr>
          <p:cNvPr id="36" name="Connector 35"/>
          <p:cNvCxnSpPr/>
          <p:nvPr/>
        </p:nvCxnSpPr>
        <p:spPr>
          <a:xfrm>
            <a:off x="9750000" y="3710000"/>
            <a:ext cx="0" cy="230000"/>
          </a:xfrm>
          <a:prstGeom prst="line">
            <a:avLst/>
          </a:prstGeom>
          <a:ln w="25400">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7900000" y="3940000"/>
            <a:ext cx="3700000" cy="600000"/>
          </a:xfrm>
          <a:prstGeom prst="roundRect">
            <a:avLst>
              <a:gd name="adj" fmla="val 12000"/>
            </a:avLst>
          </a:prstGeom>
          <a:solidFill>
            <a:srgbClr val="D9E2F3"/>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500" b="1">
                <a:solidFill>
                  <a:srgbClr val="1F3864"/>
                </a:solidFill>
                <a:latin typeface="Times New Roman"/>
              </a:rPr>
              <a:t>Scoring on 7 signals</a:t>
            </a:r>
          </a:p>
        </p:txBody>
      </p:sp>
      <p:cxnSp>
        <p:nvCxnSpPr>
          <p:cNvPr id="38" name="Connector 37"/>
          <p:cNvCxnSpPr/>
          <p:nvPr/>
        </p:nvCxnSpPr>
        <p:spPr>
          <a:xfrm>
            <a:off x="9750000" y="4540000"/>
            <a:ext cx="0" cy="230000"/>
          </a:xfrm>
          <a:prstGeom prst="line">
            <a:avLst/>
          </a:prstGeom>
          <a:ln w="25400">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7900000" y="4770000"/>
            <a:ext cx="3700000" cy="600000"/>
          </a:xfrm>
          <a:prstGeom prst="roundRect">
            <a:avLst>
              <a:gd name="adj" fmla="val 12000"/>
            </a:avLst>
          </a:prstGeom>
          <a:solidFill>
            <a:srgbClr val="D9E2F3"/>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500" b="1">
                <a:solidFill>
                  <a:srgbClr val="1F3864"/>
                </a:solidFill>
                <a:latin typeface="Times New Roman"/>
              </a:rPr>
              <a:t>Council verdict + flags</a:t>
            </a:r>
          </a:p>
        </p:txBody>
      </p:sp>
      <p:cxnSp>
        <p:nvCxnSpPr>
          <p:cNvPr id="40" name="Connector 39"/>
          <p:cNvCxnSpPr/>
          <p:nvPr/>
        </p:nvCxnSpPr>
        <p:spPr>
          <a:xfrm>
            <a:off x="9750000" y="5370000"/>
            <a:ext cx="0" cy="230000"/>
          </a:xfrm>
          <a:prstGeom prst="line">
            <a:avLst/>
          </a:prstGeom>
          <a:ln w="25400">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7900000" y="5600000"/>
            <a:ext cx="3700000" cy="600000"/>
          </a:xfrm>
          <a:prstGeom prst="roundRect">
            <a:avLst>
              <a:gd name="adj" fmla="val 12000"/>
            </a:avLst>
          </a:prstGeom>
          <a:solidFill>
            <a:srgbClr val="1F3864"/>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500" b="1">
                <a:solidFill>
                  <a:srgbClr val="FFFFFF"/>
                </a:solidFill>
                <a:latin typeface="Times New Roman"/>
              </a:rPr>
              <a:t>Dashboard + saved history</a:t>
            </a:r>
          </a:p>
        </p:txBody>
      </p:sp>
    </p:spTree>
    <p:extLst>
      <p:ext uri="{BB962C8B-B14F-4D97-AF65-F5344CB8AC3E}">
        <p14:creationId xmlns:p14="http://schemas.microsoft.com/office/powerpoint/2010/main" val="1734018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6D5F3-78DC-988B-480A-EE84138E5D06}"/>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ACB02CED-8EA2-2618-E822-0FDF6BE67A57}"/>
              </a:ext>
            </a:extLst>
          </p:cNvPr>
          <p:cNvGrpSpPr/>
          <p:nvPr/>
        </p:nvGrpSpPr>
        <p:grpSpPr>
          <a:xfrm>
            <a:off x="0" y="6392367"/>
            <a:ext cx="12192000" cy="546100"/>
            <a:chOff x="0" y="0"/>
            <a:chExt cx="6186311" cy="277095"/>
          </a:xfrm>
          <a:solidFill>
            <a:srgbClr val="FFC000"/>
          </a:solidFill>
        </p:grpSpPr>
        <p:sp>
          <p:nvSpPr>
            <p:cNvPr id="20" name="Freeform 3">
              <a:extLst>
                <a:ext uri="{FF2B5EF4-FFF2-40B4-BE49-F238E27FC236}">
                  <a16:creationId xmlns:a16="http://schemas.microsoft.com/office/drawing/2014/main" id="{62D2FF99-D64E-DDB4-E10F-146C67072836}"/>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F8F4B657-A86D-F81F-BE12-ED91F5FE6A63}"/>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B680DC69-EA61-2511-0E89-D2CA323A7CBE}"/>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F3561E79-BDDE-8DE0-B241-6F7B6FE876E5}"/>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B0EA2675-5AA6-5778-E39A-AA6BA111CDEE}"/>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2AC2482C-766A-2DF7-AC2F-48C2C31B974A}"/>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327168FD-A7AC-ADB6-B6E4-26A2D4339BE3}"/>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1" name="Picture 10">
            <a:extLst>
              <a:ext uri="{FF2B5EF4-FFF2-40B4-BE49-F238E27FC236}">
                <a16:creationId xmlns:a16="http://schemas.microsoft.com/office/drawing/2014/main" id="{1E4E5E20-1B7F-61EB-6657-281BA41D2D0F}"/>
              </a:ext>
            </a:extLst>
          </p:cNvPr>
          <p:cNvPicPr>
            <a:picLocks noChangeAspect="1"/>
          </p:cNvPicPr>
          <p:nvPr/>
        </p:nvPicPr>
        <p:blipFill rotWithShape="1">
          <a:blip r:embed="rId11">
            <a:extLst>
              <a:ext uri="{28A0092B-C50C-407E-A947-70E740481C1C}">
                <a14:useLocalDpi xmlns:a14="http://schemas.microsoft.com/office/drawing/2010/main" val="0"/>
              </a:ext>
            </a:extLst>
          </a:blip>
          <a:srcRect l="1258" t="6458" r="666" b="6557"/>
          <a:stretch/>
        </p:blipFill>
        <p:spPr>
          <a:xfrm>
            <a:off x="0" y="-15722"/>
            <a:ext cx="11257935" cy="955522"/>
          </a:xfrm>
          <a:prstGeom prst="rect">
            <a:avLst/>
          </a:prstGeom>
        </p:spPr>
      </p:pic>
      <p:sp>
        <p:nvSpPr>
          <p:cNvPr id="14" name="Content Placeholder 3">
            <a:extLst>
              <a:ext uri="{FF2B5EF4-FFF2-40B4-BE49-F238E27FC236}">
                <a16:creationId xmlns:a16="http://schemas.microsoft.com/office/drawing/2014/main" id="{AB85E18E-7265-A043-D002-8EFE4C417579}"/>
              </a:ext>
            </a:extLst>
          </p:cNvPr>
          <p:cNvSpPr txBox="1">
            <a:spLocks/>
          </p:cNvSpPr>
          <p:nvPr/>
        </p:nvSpPr>
        <p:spPr>
          <a:xfrm>
            <a:off x="123825" y="1026160"/>
            <a:ext cx="11383645" cy="504444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1B88DF49-BC09-1156-0D44-8C819D73A2B3}"/>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
        <p:nvSpPr>
          <p:cNvPr id="4" name="Rectangle 3">
            <a:extLst>
              <a:ext uri="{FF2B5EF4-FFF2-40B4-BE49-F238E27FC236}">
                <a16:creationId xmlns:a16="http://schemas.microsoft.com/office/drawing/2014/main" id="{568BD70E-41F4-F04A-B0EC-79CB78690833}"/>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AB60834A-620B-4BD2-C47B-808C352F7D19}"/>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1311383" y="58917"/>
            <a:ext cx="720000" cy="720000"/>
          </a:xfrm>
          <a:prstGeom prst="rect">
            <a:avLst/>
          </a:prstGeom>
        </p:spPr>
      </p:pic>
      <p:sp>
        <p:nvSpPr>
          <p:cNvPr id="5" name="TextBox 4">
            <a:extLst>
              <a:ext uri="{FF2B5EF4-FFF2-40B4-BE49-F238E27FC236}">
                <a16:creationId xmlns:a16="http://schemas.microsoft.com/office/drawing/2014/main" id="{CAF81426-DDC3-6E6B-9AFE-B105EA26CC44}"/>
              </a:ext>
            </a:extLst>
          </p:cNvPr>
          <p:cNvSpPr txBox="1"/>
          <p:nvPr/>
        </p:nvSpPr>
        <p:spPr>
          <a:xfrm>
            <a:off x="408039" y="995858"/>
            <a:ext cx="614516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Council decision flow:</a:t>
            </a:r>
            <a:endParaRPr lang="en-IN" sz="1800" dirty="0"/>
          </a:p>
        </p:txBody>
      </p:sp>
      <p:sp>
        <p:nvSpPr>
          <p:cNvPr id="8" name="TextBox 7">
            <a:extLst>
              <a:ext uri="{FF2B5EF4-FFF2-40B4-BE49-F238E27FC236}">
                <a16:creationId xmlns:a16="http://schemas.microsoft.com/office/drawing/2014/main" id="{F37DD8F5-3E5F-B457-43B4-8E8D658129D5}"/>
              </a:ext>
            </a:extLst>
          </p:cNvPr>
          <p:cNvSpPr txBox="1"/>
          <p:nvPr/>
        </p:nvSpPr>
        <p:spPr>
          <a:xfrm>
            <a:off x="614516" y="1417994"/>
            <a:ext cx="6145160" cy="4500206"/>
          </a:xfrm>
          <a:prstGeom prst="rect">
            <a:avLst/>
          </a:prstGeom>
          <a:noFill/>
        </p:spPr>
        <p:txBody>
          <a:bodyPr wrap="square">
            <a:spAutoFit/>
          </a:bodyPr>
          <a:lstStyle/>
          <a:p>
            <a:pPr marL="101600" marR="101600" indent="0">
              <a:lnSpc>
                <a:spcPct val="150000"/>
              </a:lnSpc>
              <a:spcBef>
                <a:spcPts val="800"/>
              </a:spcBef>
              <a:buNone/>
            </a:pPr>
            <a:r>
              <a:rPr lang="en-US" sz="1800" dirty="0">
                <a:solidFill>
                  <a:srgbClr val="003300"/>
                </a:solidFill>
                <a:latin typeface="Times New Roman" panose="02020603050405020304" pitchFamily="18" charset="0"/>
                <a:cs typeface="Times New Roman" panose="02020603050405020304" pitchFamily="18" charset="0"/>
              </a:rPr>
              <a:t>The scored candidate profile, anonymised when blind screening is on, is sent to the council.</a:t>
            </a:r>
          </a:p>
          <a:p>
            <a:pPr marL="101600" marR="101600" indent="0">
              <a:lnSpc>
                <a:spcPct val="150000"/>
              </a:lnSpc>
              <a:spcBef>
                <a:spcPts val="800"/>
              </a:spcBef>
              <a:buNone/>
            </a:pPr>
            <a:r>
              <a:rPr lang="en-US" sz="1800" dirty="0">
                <a:solidFill>
                  <a:srgbClr val="003300"/>
                </a:solidFill>
                <a:latin typeface="Times New Roman" panose="02020603050405020304" pitchFamily="18" charset="0"/>
                <a:cs typeface="Times New Roman" panose="02020603050405020304" pitchFamily="18" charset="0"/>
              </a:rPr>
              <a:t>Four agents score it independently: Tech Lead, Culture, Fair Auditor and Seniority.</a:t>
            </a:r>
          </a:p>
          <a:p>
            <a:pPr marL="101600" marR="101600" indent="0">
              <a:lnSpc>
                <a:spcPct val="150000"/>
              </a:lnSpc>
              <a:spcBef>
                <a:spcPts val="800"/>
              </a:spcBef>
              <a:buNone/>
            </a:pPr>
            <a:r>
              <a:rPr lang="en-US" sz="1800" dirty="0">
                <a:solidFill>
                  <a:srgbClr val="003300"/>
                </a:solidFill>
                <a:latin typeface="Times New Roman" panose="02020603050405020304" pitchFamily="18" charset="0"/>
                <a:cs typeface="Times New Roman" panose="02020603050405020304" pitchFamily="18" charset="0"/>
              </a:rPr>
              <a:t>The agents debate and cross-examine each other's findings.</a:t>
            </a:r>
          </a:p>
          <a:p>
            <a:pPr marL="101600" marR="101600" indent="0">
              <a:lnSpc>
                <a:spcPct val="150000"/>
              </a:lnSpc>
              <a:spcBef>
                <a:spcPts val="800"/>
              </a:spcBef>
              <a:buNone/>
            </a:pPr>
            <a:r>
              <a:rPr lang="en-US" sz="1800" dirty="0">
                <a:solidFill>
                  <a:srgbClr val="003300"/>
                </a:solidFill>
                <a:latin typeface="Times New Roman" panose="02020603050405020304" pitchFamily="18" charset="0"/>
                <a:cs typeface="Times New Roman" panose="02020603050405020304" pitchFamily="18" charset="0"/>
              </a:rPr>
              <a:t>A consensus score and a confidence value are calculated.</a:t>
            </a:r>
          </a:p>
          <a:p>
            <a:pPr marL="101600" marR="101600" indent="0">
              <a:lnSpc>
                <a:spcPct val="150000"/>
              </a:lnSpc>
              <a:spcBef>
                <a:spcPts val="800"/>
              </a:spcBef>
              <a:buNone/>
            </a:pPr>
            <a:r>
              <a:rPr lang="en-US" sz="1800" dirty="0">
                <a:solidFill>
                  <a:srgbClr val="003300"/>
                </a:solidFill>
                <a:latin typeface="Times New Roman" panose="02020603050405020304" pitchFamily="18" charset="0"/>
                <a:cs typeface="Times New Roman" panose="02020603050405020304" pitchFamily="18" charset="0"/>
              </a:rPr>
              <a:t>The verdict (Strong Hire, Lean Hire or Reject) is issued with red flags and a rationale.</a:t>
            </a:r>
          </a:p>
          <a:p>
            <a:pPr marL="101600" marR="101600" indent="0">
              <a:lnSpc>
                <a:spcPct val="150000"/>
              </a:lnSpc>
              <a:spcBef>
                <a:spcPts val="800"/>
              </a:spcBef>
              <a:buNone/>
            </a:pPr>
            <a:r>
              <a:rPr lang="en-US" sz="1800" dirty="0">
                <a:solidFill>
                  <a:srgbClr val="003300"/>
                </a:solidFill>
                <a:latin typeface="Times New Roman" panose="02020603050405020304" pitchFamily="18" charset="0"/>
                <a:cs typeface="Times New Roman" panose="02020603050405020304" pitchFamily="18" charset="0"/>
              </a:rPr>
              <a:t>Low-confidence cases are marked for human review.</a:t>
            </a:r>
          </a:p>
        </p:txBody>
      </p:sp>
      <p:sp>
        <p:nvSpPr>
          <p:cNvPr id="31" name="Rounded Rectangle 30"/>
          <p:cNvSpPr/>
          <p:nvPr/>
        </p:nvSpPr>
        <p:spPr>
          <a:xfrm>
            <a:off x="7500000" y="1100000"/>
            <a:ext cx="4300000" cy="520000"/>
          </a:xfrm>
          <a:prstGeom prst="roundRect">
            <a:avLst>
              <a:gd name="adj" fmla="val 12000"/>
            </a:avLst>
          </a:prstGeom>
          <a:solidFill>
            <a:srgbClr val="1F3864"/>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400" b="1">
                <a:solidFill>
                  <a:srgbClr val="FFFFFF"/>
                </a:solidFill>
                <a:latin typeface="Times New Roman"/>
              </a:rPr>
              <a:t>Scored candidate profile</a:t>
            </a:r>
          </a:p>
        </p:txBody>
      </p:sp>
      <p:sp>
        <p:nvSpPr>
          <p:cNvPr id="32" name="Rounded Rectangle 31"/>
          <p:cNvSpPr/>
          <p:nvPr/>
        </p:nvSpPr>
        <p:spPr>
          <a:xfrm>
            <a:off x="7500000" y="1900000"/>
            <a:ext cx="2075000" cy="480000"/>
          </a:xfrm>
          <a:prstGeom prst="roundRect">
            <a:avLst>
              <a:gd name="adj" fmla="val 12000"/>
            </a:avLst>
          </a:prstGeom>
          <a:solidFill>
            <a:srgbClr val="D9E2F3"/>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400" b="1">
                <a:solidFill>
                  <a:srgbClr val="1F3864"/>
                </a:solidFill>
                <a:latin typeface="Times New Roman"/>
              </a:rPr>
              <a:t>Tech Lead</a:t>
            </a:r>
          </a:p>
        </p:txBody>
      </p:sp>
      <p:sp>
        <p:nvSpPr>
          <p:cNvPr id="33" name="Rounded Rectangle 32"/>
          <p:cNvSpPr/>
          <p:nvPr/>
        </p:nvSpPr>
        <p:spPr>
          <a:xfrm>
            <a:off x="9725000" y="1900000"/>
            <a:ext cx="2075000" cy="480000"/>
          </a:xfrm>
          <a:prstGeom prst="roundRect">
            <a:avLst>
              <a:gd name="adj" fmla="val 12000"/>
            </a:avLst>
          </a:prstGeom>
          <a:solidFill>
            <a:srgbClr val="D9E2F3"/>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400" b="1">
                <a:solidFill>
                  <a:srgbClr val="1F3864"/>
                </a:solidFill>
                <a:latin typeface="Times New Roman"/>
              </a:rPr>
              <a:t>Culture</a:t>
            </a:r>
          </a:p>
        </p:txBody>
      </p:sp>
      <p:sp>
        <p:nvSpPr>
          <p:cNvPr id="34" name="Rounded Rectangle 33"/>
          <p:cNvSpPr/>
          <p:nvPr/>
        </p:nvSpPr>
        <p:spPr>
          <a:xfrm>
            <a:off x="7500000" y="2520000"/>
            <a:ext cx="2075000" cy="480000"/>
          </a:xfrm>
          <a:prstGeom prst="roundRect">
            <a:avLst>
              <a:gd name="adj" fmla="val 12000"/>
            </a:avLst>
          </a:prstGeom>
          <a:solidFill>
            <a:srgbClr val="D9E2F3"/>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400" b="1">
                <a:solidFill>
                  <a:srgbClr val="1F3864"/>
                </a:solidFill>
                <a:latin typeface="Times New Roman"/>
              </a:rPr>
              <a:t>Fair Auditor</a:t>
            </a:r>
          </a:p>
        </p:txBody>
      </p:sp>
      <p:sp>
        <p:nvSpPr>
          <p:cNvPr id="35" name="Rounded Rectangle 34"/>
          <p:cNvSpPr/>
          <p:nvPr/>
        </p:nvSpPr>
        <p:spPr>
          <a:xfrm>
            <a:off x="9725000" y="2520000"/>
            <a:ext cx="2075000" cy="480000"/>
          </a:xfrm>
          <a:prstGeom prst="roundRect">
            <a:avLst>
              <a:gd name="adj" fmla="val 12000"/>
            </a:avLst>
          </a:prstGeom>
          <a:solidFill>
            <a:srgbClr val="D9E2F3"/>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400" b="1">
                <a:solidFill>
                  <a:srgbClr val="1F3864"/>
                </a:solidFill>
                <a:latin typeface="Times New Roman"/>
              </a:rPr>
              <a:t>Seniority</a:t>
            </a:r>
          </a:p>
        </p:txBody>
      </p:sp>
      <p:sp>
        <p:nvSpPr>
          <p:cNvPr id="36" name="Rounded Rectangle 35"/>
          <p:cNvSpPr/>
          <p:nvPr/>
        </p:nvSpPr>
        <p:spPr>
          <a:xfrm>
            <a:off x="7500000" y="3300000"/>
            <a:ext cx="4300000" cy="480000"/>
          </a:xfrm>
          <a:prstGeom prst="roundRect">
            <a:avLst>
              <a:gd name="adj" fmla="val 12000"/>
            </a:avLst>
          </a:prstGeom>
          <a:solidFill>
            <a:srgbClr val="D9E2F3"/>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400" b="1">
                <a:solidFill>
                  <a:srgbClr val="1F3864"/>
                </a:solidFill>
                <a:latin typeface="Times New Roman"/>
              </a:rPr>
              <a:t>Debate and cross-examination</a:t>
            </a:r>
          </a:p>
        </p:txBody>
      </p:sp>
      <p:sp>
        <p:nvSpPr>
          <p:cNvPr id="37" name="Rounded Rectangle 36"/>
          <p:cNvSpPr/>
          <p:nvPr/>
        </p:nvSpPr>
        <p:spPr>
          <a:xfrm>
            <a:off x="7500000" y="4000000"/>
            <a:ext cx="4300000" cy="480000"/>
          </a:xfrm>
          <a:prstGeom prst="roundRect">
            <a:avLst>
              <a:gd name="adj" fmla="val 12000"/>
            </a:avLst>
          </a:prstGeom>
          <a:solidFill>
            <a:srgbClr val="D9E2F3"/>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400" b="1">
                <a:solidFill>
                  <a:srgbClr val="1F3864"/>
                </a:solidFill>
                <a:latin typeface="Times New Roman"/>
              </a:rPr>
              <a:t>Consensus score + confidence</a:t>
            </a:r>
          </a:p>
        </p:txBody>
      </p:sp>
      <p:sp>
        <p:nvSpPr>
          <p:cNvPr id="38" name="Rounded Rectangle 37"/>
          <p:cNvSpPr/>
          <p:nvPr/>
        </p:nvSpPr>
        <p:spPr>
          <a:xfrm>
            <a:off x="7500000" y="4700000"/>
            <a:ext cx="4300000" cy="480000"/>
          </a:xfrm>
          <a:prstGeom prst="roundRect">
            <a:avLst>
              <a:gd name="adj" fmla="val 12000"/>
            </a:avLst>
          </a:prstGeom>
          <a:solidFill>
            <a:srgbClr val="1F3864"/>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400" b="1">
                <a:solidFill>
                  <a:srgbClr val="FFFFFF"/>
                </a:solidFill>
                <a:latin typeface="Times New Roman"/>
              </a:rPr>
              <a:t>Verdict + red flags</a:t>
            </a:r>
          </a:p>
        </p:txBody>
      </p:sp>
      <p:sp>
        <p:nvSpPr>
          <p:cNvPr id="39" name="Rounded Rectangle 38"/>
          <p:cNvSpPr/>
          <p:nvPr/>
        </p:nvSpPr>
        <p:spPr>
          <a:xfrm>
            <a:off x="7500000" y="5450000"/>
            <a:ext cx="4300000" cy="480000"/>
          </a:xfrm>
          <a:prstGeom prst="roundRect">
            <a:avLst>
              <a:gd name="adj" fmla="val 12000"/>
            </a:avLst>
          </a:prstGeom>
          <a:solidFill>
            <a:srgbClr val="FFF2CC"/>
          </a:solidFill>
          <a:ln w="15875">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400" b="1">
                <a:solidFill>
                  <a:srgbClr val="1F3864"/>
                </a:solidFill>
                <a:latin typeface="Times New Roman"/>
              </a:rPr>
              <a:t>Low confidence: human review</a:t>
            </a:r>
          </a:p>
        </p:txBody>
      </p:sp>
      <p:cxnSp>
        <p:nvCxnSpPr>
          <p:cNvPr id="40" name="Connector 39"/>
          <p:cNvCxnSpPr/>
          <p:nvPr/>
        </p:nvCxnSpPr>
        <p:spPr>
          <a:xfrm>
            <a:off x="9650000" y="1620000"/>
            <a:ext cx="0" cy="280000"/>
          </a:xfrm>
          <a:prstGeom prst="line">
            <a:avLst/>
          </a:prstGeom>
          <a:ln w="25400">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650000" y="3000000"/>
            <a:ext cx="0" cy="300000"/>
          </a:xfrm>
          <a:prstGeom prst="line">
            <a:avLst/>
          </a:prstGeom>
          <a:ln w="25400">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650000" y="3780000"/>
            <a:ext cx="0" cy="220000"/>
          </a:xfrm>
          <a:prstGeom prst="line">
            <a:avLst/>
          </a:prstGeom>
          <a:ln w="25400">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9650000" y="4480000"/>
            <a:ext cx="0" cy="220000"/>
          </a:xfrm>
          <a:prstGeom prst="line">
            <a:avLst/>
          </a:prstGeom>
          <a:ln w="25400">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9650000" y="5180000"/>
            <a:ext cx="0" cy="270000"/>
          </a:xfrm>
          <a:prstGeom prst="line">
            <a:avLst/>
          </a:prstGeom>
          <a:ln w="25400">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518935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8D899-0514-CE61-D3A8-18150FA2AA2A}"/>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E7ED12DC-4C0B-4390-DCEF-273E43F6A866}"/>
              </a:ext>
            </a:extLst>
          </p:cNvPr>
          <p:cNvGrpSpPr/>
          <p:nvPr/>
        </p:nvGrpSpPr>
        <p:grpSpPr>
          <a:xfrm>
            <a:off x="0" y="6392367"/>
            <a:ext cx="12192000" cy="546100"/>
            <a:chOff x="0" y="0"/>
            <a:chExt cx="6186311" cy="277095"/>
          </a:xfrm>
          <a:solidFill>
            <a:srgbClr val="FFC000"/>
          </a:solidFill>
        </p:grpSpPr>
        <p:sp>
          <p:nvSpPr>
            <p:cNvPr id="20" name="Freeform 3">
              <a:extLst>
                <a:ext uri="{FF2B5EF4-FFF2-40B4-BE49-F238E27FC236}">
                  <a16:creationId xmlns:a16="http://schemas.microsoft.com/office/drawing/2014/main" id="{BBDDE4A4-ABB0-BE74-47A6-E12FBBCE4B36}"/>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4859D228-018C-349F-F972-15E65BB2645A}"/>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2579B7FE-2812-5D80-3E88-277679430D90}"/>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0D93571D-8BF9-8FCE-52AE-59018436410B}"/>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BFC5F84B-8BE1-C8D0-C890-D9A392D6BA93}"/>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85FB1261-F60C-86A2-0797-EF3C3BDE87D4}"/>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6841FF8F-5A0A-154B-F8EA-4EA47B5230C2}"/>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1" name="Picture 10">
            <a:extLst>
              <a:ext uri="{FF2B5EF4-FFF2-40B4-BE49-F238E27FC236}">
                <a16:creationId xmlns:a16="http://schemas.microsoft.com/office/drawing/2014/main" id="{D6821ADA-C110-6757-9AA9-B44B4BE0F410}"/>
              </a:ext>
            </a:extLst>
          </p:cNvPr>
          <p:cNvPicPr>
            <a:picLocks noChangeAspect="1"/>
          </p:cNvPicPr>
          <p:nvPr/>
        </p:nvPicPr>
        <p:blipFill rotWithShape="1">
          <a:blip r:embed="rId11">
            <a:extLst>
              <a:ext uri="{28A0092B-C50C-407E-A947-70E740481C1C}">
                <a14:useLocalDpi xmlns:a14="http://schemas.microsoft.com/office/drawing/2010/main" val="0"/>
              </a:ext>
            </a:extLst>
          </a:blip>
          <a:srcRect l="1258" t="6458" r="666" b="6557"/>
          <a:stretch/>
        </p:blipFill>
        <p:spPr>
          <a:xfrm>
            <a:off x="0" y="-15722"/>
            <a:ext cx="11257935" cy="955522"/>
          </a:xfrm>
          <a:prstGeom prst="rect">
            <a:avLst/>
          </a:prstGeom>
        </p:spPr>
      </p:pic>
      <p:sp>
        <p:nvSpPr>
          <p:cNvPr id="14" name="Content Placeholder 3">
            <a:extLst>
              <a:ext uri="{FF2B5EF4-FFF2-40B4-BE49-F238E27FC236}">
                <a16:creationId xmlns:a16="http://schemas.microsoft.com/office/drawing/2014/main" id="{874B0BD2-4145-59BE-4B99-EC7E5098D870}"/>
              </a:ext>
            </a:extLst>
          </p:cNvPr>
          <p:cNvSpPr txBox="1">
            <a:spLocks/>
          </p:cNvSpPr>
          <p:nvPr/>
        </p:nvSpPr>
        <p:spPr>
          <a:xfrm>
            <a:off x="123825" y="1026160"/>
            <a:ext cx="11383645" cy="504444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F43803A4-4570-A6EF-5E16-8C312C2D2B5D}"/>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
        <p:nvSpPr>
          <p:cNvPr id="4" name="Rectangle 3">
            <a:extLst>
              <a:ext uri="{FF2B5EF4-FFF2-40B4-BE49-F238E27FC236}">
                <a16:creationId xmlns:a16="http://schemas.microsoft.com/office/drawing/2014/main" id="{F4977EA2-374A-A141-AB1D-AACAF3BD84AF}"/>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B835D229-9A93-D767-654F-99961D3AAE3D}"/>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1311383" y="58917"/>
            <a:ext cx="720000" cy="720000"/>
          </a:xfrm>
          <a:prstGeom prst="rect">
            <a:avLst/>
          </a:prstGeom>
        </p:spPr>
      </p:pic>
      <p:sp>
        <p:nvSpPr>
          <p:cNvPr id="5" name="TextBox 4">
            <a:extLst>
              <a:ext uri="{FF2B5EF4-FFF2-40B4-BE49-F238E27FC236}">
                <a16:creationId xmlns:a16="http://schemas.microsoft.com/office/drawing/2014/main" id="{E425DED6-684F-A823-941E-382E9950BDBD}"/>
              </a:ext>
            </a:extLst>
          </p:cNvPr>
          <p:cNvSpPr txBox="1"/>
          <p:nvPr/>
        </p:nvSpPr>
        <p:spPr>
          <a:xfrm>
            <a:off x="264816" y="1100683"/>
            <a:ext cx="6145160"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INTERFACE DESIGN</a:t>
            </a:r>
            <a:endParaRPr lang="en-IN" sz="2800" b="1" dirty="0"/>
          </a:p>
        </p:txBody>
      </p:sp>
      <p:pic>
        <p:nvPicPr>
          <p:cNvPr id="31" name="Picture 30" descr="img_signin_crop.jpg"/>
          <p:cNvPicPr>
            <a:picLocks noChangeAspect="1"/>
          </p:cNvPicPr>
          <p:nvPr/>
        </p:nvPicPr>
        <p:blipFill>
          <a:blip r:embed="rId14"/>
          <a:stretch>
            <a:fillRect/>
          </a:stretch>
        </p:blipFill>
        <p:spPr>
          <a:xfrm>
            <a:off x="280000" y="1550000"/>
            <a:ext cx="3801242" cy="4250000"/>
          </a:xfrm>
          <a:prstGeom prst="rect">
            <a:avLst/>
          </a:prstGeom>
          <a:ln w="9525">
            <a:solidFill>
              <a:srgbClr val="BFBFBF"/>
            </a:solidFill>
          </a:ln>
        </p:spPr>
      </p:pic>
      <p:pic>
        <p:nvPicPr>
          <p:cNvPr id="32" name="Picture 31" descr="img_interview.jpg"/>
          <p:cNvPicPr>
            <a:picLocks noChangeAspect="1"/>
          </p:cNvPicPr>
          <p:nvPr/>
        </p:nvPicPr>
        <p:blipFill>
          <a:blip r:embed="rId15"/>
          <a:stretch>
            <a:fillRect/>
          </a:stretch>
        </p:blipFill>
        <p:spPr>
          <a:xfrm>
            <a:off x="4281242" y="1550000"/>
            <a:ext cx="6265356" cy="4250000"/>
          </a:xfrm>
          <a:prstGeom prst="rect">
            <a:avLst/>
          </a:prstGeom>
          <a:ln w="9525">
            <a:solidFill>
              <a:srgbClr val="BFBFBF"/>
            </a:solidFill>
          </a:ln>
        </p:spPr>
      </p:pic>
      <p:sp>
        <p:nvSpPr>
          <p:cNvPr id="33" name="TextBox 32"/>
          <p:cNvSpPr txBox="1"/>
          <p:nvPr/>
        </p:nvSpPr>
        <p:spPr>
          <a:xfrm>
            <a:off x="280000" y="5850000"/>
            <a:ext cx="3801242" cy="330000"/>
          </a:xfrm>
          <a:prstGeom prst="rect">
            <a:avLst/>
          </a:prstGeom>
          <a:noFill/>
        </p:spPr>
        <p:txBody>
          <a:bodyPr wrap="square" anchor="t" lIns="60000" rIns="60000" tIns="30000" bIns="30000">
            <a:spAutoFit/>
          </a:bodyPr>
          <a:lstStyle/>
          <a:p>
            <a:pPr algn="ctr">
              <a:lnSpc>
                <a:spcPct val="115000"/>
              </a:lnSpc>
              <a:spcAft>
                <a:spcPts val="600"/>
              </a:spcAft>
            </a:pPr>
            <a:r>
              <a:rPr sz="1400" b="0">
                <a:solidFill>
                  <a:srgbClr val="595959"/>
                </a:solidFill>
                <a:latin typeface="Times New Roman"/>
              </a:rPr>
              <a:t>Sign-in (live site)</a:t>
            </a:r>
          </a:p>
        </p:txBody>
      </p:sp>
      <p:sp>
        <p:nvSpPr>
          <p:cNvPr id="34" name="TextBox 33"/>
          <p:cNvSpPr txBox="1"/>
          <p:nvPr/>
        </p:nvSpPr>
        <p:spPr>
          <a:xfrm>
            <a:off x="4281242" y="5850000"/>
            <a:ext cx="6265356" cy="330000"/>
          </a:xfrm>
          <a:prstGeom prst="rect">
            <a:avLst/>
          </a:prstGeom>
          <a:noFill/>
        </p:spPr>
        <p:txBody>
          <a:bodyPr wrap="square" anchor="t" lIns="60000" rIns="60000" tIns="30000" bIns="30000">
            <a:spAutoFit/>
          </a:bodyPr>
          <a:lstStyle/>
          <a:p>
            <a:pPr algn="ctr">
              <a:lnSpc>
                <a:spcPct val="115000"/>
              </a:lnSpc>
              <a:spcAft>
                <a:spcPts val="600"/>
              </a:spcAft>
            </a:pPr>
            <a:r>
              <a:rPr sz="1400" b="0">
                <a:solidFill>
                  <a:srgbClr val="595959"/>
                </a:solidFill>
                <a:latin typeface="Times New Roman"/>
              </a:rPr>
              <a:t>Interview assistant: tailored question kit</a:t>
            </a:r>
          </a:p>
        </p:txBody>
      </p:sp>
    </p:spTree>
    <p:extLst>
      <p:ext uri="{BB962C8B-B14F-4D97-AF65-F5344CB8AC3E}">
        <p14:creationId xmlns:p14="http://schemas.microsoft.com/office/powerpoint/2010/main" val="9791814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9D285-798E-8104-528C-E5668AFCFD8A}"/>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48CB5381-9FD1-C4DF-B656-C8292085B585}"/>
              </a:ext>
            </a:extLst>
          </p:cNvPr>
          <p:cNvGrpSpPr/>
          <p:nvPr/>
        </p:nvGrpSpPr>
        <p:grpSpPr>
          <a:xfrm>
            <a:off x="0" y="6392367"/>
            <a:ext cx="12192000" cy="546100"/>
            <a:chOff x="0" y="0"/>
            <a:chExt cx="6186311" cy="277095"/>
          </a:xfrm>
          <a:solidFill>
            <a:srgbClr val="FFC000"/>
          </a:solidFill>
        </p:grpSpPr>
        <p:sp>
          <p:nvSpPr>
            <p:cNvPr id="20" name="Freeform 3">
              <a:extLst>
                <a:ext uri="{FF2B5EF4-FFF2-40B4-BE49-F238E27FC236}">
                  <a16:creationId xmlns:a16="http://schemas.microsoft.com/office/drawing/2014/main" id="{0B8F925F-11FB-EFF6-4960-9B0BA07BA68C}"/>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F0F9DA9A-5A8B-A2A8-A0DB-CE4B28BEA715}"/>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0F071E4F-3FD6-A176-52CA-9FA2D3F16263}"/>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79788337-2BED-84C0-3E86-B35B791DFF34}"/>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CD42C9A5-6E6C-112D-E850-E4079D29FAB1}"/>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209C8E3D-8225-BAA7-0C28-6E167F67F86E}"/>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1FEB6311-712E-4402-E008-E3AC6E29D860}"/>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1" name="Picture 10">
            <a:extLst>
              <a:ext uri="{FF2B5EF4-FFF2-40B4-BE49-F238E27FC236}">
                <a16:creationId xmlns:a16="http://schemas.microsoft.com/office/drawing/2014/main" id="{60AA83D1-4743-C373-91AF-AE8273F03D6E}"/>
              </a:ext>
            </a:extLst>
          </p:cNvPr>
          <p:cNvPicPr>
            <a:picLocks noChangeAspect="1"/>
          </p:cNvPicPr>
          <p:nvPr/>
        </p:nvPicPr>
        <p:blipFill rotWithShape="1">
          <a:blip r:embed="rId11">
            <a:extLst>
              <a:ext uri="{28A0092B-C50C-407E-A947-70E740481C1C}">
                <a14:useLocalDpi xmlns:a14="http://schemas.microsoft.com/office/drawing/2010/main" val="0"/>
              </a:ext>
            </a:extLst>
          </a:blip>
          <a:srcRect l="1258" t="6458" r="666" b="6557"/>
          <a:stretch/>
        </p:blipFill>
        <p:spPr>
          <a:xfrm>
            <a:off x="0" y="-15722"/>
            <a:ext cx="11257935" cy="955522"/>
          </a:xfrm>
          <a:prstGeom prst="rect">
            <a:avLst/>
          </a:prstGeom>
        </p:spPr>
      </p:pic>
      <p:sp>
        <p:nvSpPr>
          <p:cNvPr id="14" name="Content Placeholder 3">
            <a:extLst>
              <a:ext uri="{FF2B5EF4-FFF2-40B4-BE49-F238E27FC236}">
                <a16:creationId xmlns:a16="http://schemas.microsoft.com/office/drawing/2014/main" id="{B000574D-CA1D-FA51-564A-12F3557DDA87}"/>
              </a:ext>
            </a:extLst>
          </p:cNvPr>
          <p:cNvSpPr txBox="1">
            <a:spLocks/>
          </p:cNvSpPr>
          <p:nvPr/>
        </p:nvSpPr>
        <p:spPr>
          <a:xfrm>
            <a:off x="123825" y="1026160"/>
            <a:ext cx="11383645" cy="504444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9373E52F-59E8-CBB1-F75A-CE7D3B93C217}"/>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
        <p:nvSpPr>
          <p:cNvPr id="4" name="Rectangle 3">
            <a:extLst>
              <a:ext uri="{FF2B5EF4-FFF2-40B4-BE49-F238E27FC236}">
                <a16:creationId xmlns:a16="http://schemas.microsoft.com/office/drawing/2014/main" id="{12AF24BB-1249-0D8A-7587-2844CF631679}"/>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6B8E28D7-CD89-E10A-967C-1560DA9D904B}"/>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1311383" y="58917"/>
            <a:ext cx="720000" cy="720000"/>
          </a:xfrm>
          <a:prstGeom prst="rect">
            <a:avLst/>
          </a:prstGeom>
        </p:spPr>
      </p:pic>
      <p:sp>
        <p:nvSpPr>
          <p:cNvPr id="5" name="TextBox 4">
            <a:extLst>
              <a:ext uri="{FF2B5EF4-FFF2-40B4-BE49-F238E27FC236}">
                <a16:creationId xmlns:a16="http://schemas.microsoft.com/office/drawing/2014/main" id="{4F63C572-271A-E280-4DD6-64C1ADB72556}"/>
              </a:ext>
            </a:extLst>
          </p:cNvPr>
          <p:cNvSpPr txBox="1"/>
          <p:nvPr/>
        </p:nvSpPr>
        <p:spPr>
          <a:xfrm>
            <a:off x="264816" y="995858"/>
            <a:ext cx="6145160"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sym typeface="+mn-ea"/>
              </a:rPr>
              <a:t>TEST CASES WITH RESULTS</a:t>
            </a:r>
            <a:endParaRPr lang="en-IN" sz="2800" b="1" dirty="0"/>
          </a:p>
        </p:txBody>
      </p:sp>
      <p:graphicFrame>
        <p:nvGraphicFramePr>
          <p:cNvPr id="31" name="Table 30"/>
          <p:cNvGraphicFramePr>
            <a:graphicFrameLocks noGrp="1"/>
          </p:cNvGraphicFramePr>
          <p:nvPr/>
        </p:nvGraphicFramePr>
        <p:xfrm>
          <a:off x="330000" y="1500000"/>
          <a:ext cx="11500000" cy="3800000"/>
        </p:xfrm>
        <a:graphic>
          <a:graphicData uri="http://schemas.openxmlformats.org/drawingml/2006/table">
            <a:tbl>
              <a:tblPr firstRow="1" bandRow="1">
                <a:tableStyleId>{5C22544A-7EE6-4342-B048-85BDC9FD1C3A}</a:tableStyleId>
              </a:tblPr>
              <a:tblGrid>
                <a:gridCol w="1725000"/>
                <a:gridCol w="2530000"/>
                <a:gridCol w="2760000"/>
                <a:gridCol w="3565000"/>
                <a:gridCol w="920000"/>
              </a:tblGrid>
              <a:tr h="760000">
                <a:tc>
                  <a:txBody>
                    <a:bodyPr wrap="square"/>
                    <a:lstStyle/>
                    <a:p>
                      <a:pPr algn="ctr"/>
                      <a:r>
                        <a:rPr sz="1400" b="1">
                          <a:solidFill>
                            <a:srgbClr val="FFFFFF"/>
                          </a:solidFill>
                          <a:latin typeface="Times New Roman"/>
                        </a:rPr>
                        <a:t>Test resume</a:t>
                      </a:r>
                    </a:p>
                  </a:txBody>
                  <a:tcPr anchor="ctr" marL="70000" marR="70000"/>
                </a:tc>
                <a:tc>
                  <a:txBody>
                    <a:bodyPr wrap="square"/>
                    <a:lstStyle/>
                    <a:p>
                      <a:pPr algn="ctr"/>
                      <a:r>
                        <a:rPr sz="1400" b="1">
                          <a:solidFill>
                            <a:srgbClr val="FFFFFF"/>
                          </a:solidFill>
                          <a:latin typeface="Times New Roman"/>
                        </a:rPr>
                        <a:t>Scenario</a:t>
                      </a:r>
                    </a:p>
                  </a:txBody>
                  <a:tcPr anchor="ctr" marL="70000" marR="70000"/>
                </a:tc>
                <a:tc>
                  <a:txBody>
                    <a:bodyPr wrap="square"/>
                    <a:lstStyle/>
                    <a:p>
                      <a:pPr algn="ctr"/>
                      <a:r>
                        <a:rPr sz="1400" b="1">
                          <a:solidFill>
                            <a:srgbClr val="FFFFFF"/>
                          </a:solidFill>
                          <a:latin typeface="Times New Roman"/>
                        </a:rPr>
                        <a:t>Expected result</a:t>
                      </a:r>
                    </a:p>
                  </a:txBody>
                  <a:tcPr anchor="ctr" marL="70000" marR="70000"/>
                </a:tc>
                <a:tc>
                  <a:txBody>
                    <a:bodyPr wrap="square"/>
                    <a:lstStyle/>
                    <a:p>
                      <a:pPr algn="ctr"/>
                      <a:r>
                        <a:rPr sz="1400" b="1">
                          <a:solidFill>
                            <a:srgbClr val="FFFFFF"/>
                          </a:solidFill>
                          <a:latin typeface="Times New Roman"/>
                        </a:rPr>
                        <a:t>Actual result</a:t>
                      </a:r>
                    </a:p>
                  </a:txBody>
                  <a:tcPr anchor="ctr" marL="70000" marR="70000"/>
                </a:tc>
                <a:tc>
                  <a:txBody>
                    <a:bodyPr wrap="square"/>
                    <a:lstStyle/>
                    <a:p>
                      <a:pPr algn="ctr"/>
                      <a:r>
                        <a:rPr sz="1400" b="1">
                          <a:solidFill>
                            <a:srgbClr val="FFFFFF"/>
                          </a:solidFill>
                          <a:latin typeface="Times New Roman"/>
                        </a:rPr>
                        <a:t>Result</a:t>
                      </a:r>
                    </a:p>
                  </a:txBody>
                  <a:tcPr anchor="ctr" marL="70000" marR="70000"/>
                </a:tc>
              </a:tr>
              <a:tr h="760000">
                <a:tc>
                  <a:txBody>
                    <a:bodyPr wrap="square"/>
                    <a:lstStyle/>
                    <a:p>
                      <a:pPr algn="l"/>
                      <a:r>
                        <a:rPr sz="1200" b="0">
                          <a:solidFill>
                            <a:srgbClr val="000000"/>
                          </a:solidFill>
                          <a:latin typeface="Times New Roman"/>
                        </a:rPr>
                        <a:t>Gold Standard</a:t>
                      </a:r>
                    </a:p>
                  </a:txBody>
                  <a:tcPr anchor="ctr" marL="70000" marR="70000"/>
                </a:tc>
                <a:tc>
                  <a:txBody>
                    <a:bodyPr wrap="square"/>
                    <a:lstStyle/>
                    <a:p>
                      <a:pPr algn="l"/>
                      <a:r>
                        <a:rPr sz="1200" b="0">
                          <a:solidFill>
                            <a:srgbClr val="000000"/>
                          </a:solidFill>
                          <a:latin typeface="Times New Roman"/>
                        </a:rPr>
                        <a:t>Strong ML engineer with evidence of results</a:t>
                      </a:r>
                    </a:p>
                  </a:txBody>
                  <a:tcPr anchor="ctr" marL="70000" marR="70000"/>
                </a:tc>
                <a:tc>
                  <a:txBody>
                    <a:bodyPr wrap="square"/>
                    <a:lstStyle/>
                    <a:p>
                      <a:pPr algn="l"/>
                      <a:r>
                        <a:rPr sz="1200" b="0">
                          <a:solidFill>
                            <a:srgbClr val="000000"/>
                          </a:solidFill>
                          <a:latin typeface="Times New Roman"/>
                        </a:rPr>
                        <a:t>Rank 1, match at least 85%, STRONG HIRE, no red flags</a:t>
                      </a:r>
                    </a:p>
                  </a:txBody>
                  <a:tcPr anchor="ctr" marL="70000" marR="70000"/>
                </a:tc>
                <a:tc>
                  <a:txBody>
                    <a:bodyPr wrap="square"/>
                    <a:lstStyle/>
                    <a:p>
                      <a:pPr algn="l"/>
                      <a:r>
                        <a:rPr sz="1200" b="0">
                          <a:solidFill>
                            <a:srgbClr val="000000"/>
                          </a:solidFill>
                          <a:latin typeface="Times New Roman"/>
                        </a:rPr>
                        <a:t>Rank 1, match 88.1%, ATS 100, STRONG HIRE; flags: none</a:t>
                      </a:r>
                    </a:p>
                  </a:txBody>
                  <a:tcPr anchor="ctr" marL="70000" marR="70000"/>
                </a:tc>
                <a:tc>
                  <a:txBody>
                    <a:bodyPr wrap="square"/>
                    <a:lstStyle/>
                    <a:p>
                      <a:pPr algn="ctr"/>
                      <a:r>
                        <a:rPr sz="1400" b="1">
                          <a:solidFill>
                            <a:srgbClr val="006100"/>
                          </a:solidFill>
                          <a:latin typeface="Times New Roman"/>
                        </a:rPr>
                        <a:t>PASS</a:t>
                      </a:r>
                    </a:p>
                  </a:txBody>
                  <a:tcPr anchor="ctr" marL="70000" marR="70000">
                    <a:solidFill>
                      <a:srgbClr val="C6EFCE"/>
                    </a:solidFill>
                  </a:tcPr>
                </a:tc>
              </a:tr>
              <a:tr h="760000">
                <a:tc>
                  <a:txBody>
                    <a:bodyPr wrap="square"/>
                    <a:lstStyle/>
                    <a:p>
                      <a:pPr algn="l"/>
                      <a:r>
                        <a:rPr sz="1200" b="0">
                          <a:solidFill>
                            <a:srgbClr val="000000"/>
                          </a:solidFill>
                          <a:latin typeface="Times New Roman"/>
                        </a:rPr>
                        <a:t>Buzzword Exaggeration</a:t>
                      </a:r>
                    </a:p>
                  </a:txBody>
                  <a:tcPr anchor="ctr" marL="70000" marR="70000"/>
                </a:tc>
                <a:tc>
                  <a:txBody>
                    <a:bodyPr wrap="square"/>
                    <a:lstStyle/>
                    <a:p>
                      <a:pPr algn="l"/>
                      <a:r>
                        <a:rPr sz="1200" b="0">
                          <a:solidFill>
                            <a:srgbClr val="000000"/>
                          </a:solidFill>
                          <a:latin typeface="Times New Roman"/>
                        </a:rPr>
                        <a:t>35 listed skills, 4 months of experience, no metrics</a:t>
                      </a:r>
                    </a:p>
                  </a:txBody>
                  <a:tcPr anchor="ctr" marL="70000" marR="70000"/>
                </a:tc>
                <a:tc>
                  <a:txBody>
                    <a:bodyPr wrap="square"/>
                    <a:lstStyle/>
                    <a:p>
                      <a:pPr algn="l"/>
                      <a:r>
                        <a:rPr sz="1200" b="0">
                          <a:solidFill>
                            <a:srgbClr val="000000"/>
                          </a:solidFill>
                          <a:latin typeface="Times New Roman"/>
                        </a:rPr>
                        <a:t>Match below 45%, REJECT, unverified-claims and experience flags</a:t>
                      </a:r>
                    </a:p>
                  </a:txBody>
                  <a:tcPr anchor="ctr" marL="70000" marR="70000"/>
                </a:tc>
                <a:tc>
                  <a:txBody>
                    <a:bodyPr wrap="square"/>
                    <a:lstStyle/>
                    <a:p>
                      <a:pPr algn="l"/>
                      <a:r>
                        <a:rPr sz="1200" b="0">
                          <a:solidFill>
                            <a:srgbClr val="000000"/>
                          </a:solidFill>
                          <a:latin typeface="Times New Roman"/>
                        </a:rPr>
                        <a:t>Rank 10, match 41.6%, ATS 56, REJECT; flags: Experience Deficit, Unverified Skill Claims, Skill Stuffing</a:t>
                      </a:r>
                    </a:p>
                  </a:txBody>
                  <a:tcPr anchor="ctr" marL="70000" marR="70000"/>
                </a:tc>
                <a:tc>
                  <a:txBody>
                    <a:bodyPr wrap="square"/>
                    <a:lstStyle/>
                    <a:p>
                      <a:pPr algn="ctr"/>
                      <a:r>
                        <a:rPr sz="1400" b="1">
                          <a:solidFill>
                            <a:srgbClr val="006100"/>
                          </a:solidFill>
                          <a:latin typeface="Times New Roman"/>
                        </a:rPr>
                        <a:t>PASS</a:t>
                      </a:r>
                    </a:p>
                  </a:txBody>
                  <a:tcPr anchor="ctr" marL="70000" marR="70000">
                    <a:solidFill>
                      <a:srgbClr val="C6EFCE"/>
                    </a:solidFill>
                  </a:tcPr>
                </a:tc>
              </a:tr>
              <a:tr h="760000">
                <a:tc>
                  <a:txBody>
                    <a:bodyPr wrap="square"/>
                    <a:lstStyle/>
                    <a:p>
                      <a:pPr algn="l"/>
                      <a:r>
                        <a:rPr sz="1200" b="0">
                          <a:solidFill>
                            <a:srgbClr val="000000"/>
                          </a:solidFill>
                          <a:latin typeface="Times New Roman"/>
                        </a:rPr>
                        <a:t>Lateral Partial Match</a:t>
                      </a:r>
                    </a:p>
                  </a:txBody>
                  <a:tcPr anchor="ctr" marL="70000" marR="70000"/>
                </a:tc>
                <a:tc>
                  <a:txBody>
                    <a:bodyPr wrap="square"/>
                    <a:lstStyle/>
                    <a:p>
                      <a:pPr algn="l"/>
                      <a:r>
                        <a:rPr sz="1200" b="0">
                          <a:solidFill>
                            <a:srgbClr val="000000"/>
                          </a:solidFill>
                          <a:latin typeface="Times New Roman"/>
                        </a:rPr>
                        <a:t>Flask developer; FastAPI credited through Flask</a:t>
                      </a:r>
                    </a:p>
                  </a:txBody>
                  <a:tcPr anchor="ctr" marL="70000" marR="70000"/>
                </a:tc>
                <a:tc>
                  <a:txBody>
                    <a:bodyPr wrap="square"/>
                    <a:lstStyle/>
                    <a:p>
                      <a:pPr algn="l"/>
                      <a:r>
                        <a:rPr sz="1200" b="0">
                          <a:solidFill>
                            <a:srgbClr val="000000"/>
                          </a:solidFill>
                          <a:latin typeface="Times New Roman"/>
                        </a:rPr>
                        <a:t>LEAN HIRE; FastAPI partial match; PyTorch missing</a:t>
                      </a:r>
                    </a:p>
                  </a:txBody>
                  <a:tcPr anchor="ctr" marL="70000" marR="70000"/>
                </a:tc>
                <a:tc>
                  <a:txBody>
                    <a:bodyPr wrap="square"/>
                    <a:lstStyle/>
                    <a:p>
                      <a:pPr algn="l"/>
                      <a:r>
                        <a:rPr sz="1200" b="0">
                          <a:solidFill>
                            <a:srgbClr val="000000"/>
                          </a:solidFill>
                          <a:latin typeface="Times New Roman"/>
                        </a:rPr>
                        <a:t>Rank 3, match 61.3%, ATS 92, LEAN HIRE; flags: Required Skills Missing</a:t>
                      </a:r>
                    </a:p>
                  </a:txBody>
                  <a:tcPr anchor="ctr" marL="70000" marR="70000"/>
                </a:tc>
                <a:tc>
                  <a:txBody>
                    <a:bodyPr wrap="square"/>
                    <a:lstStyle/>
                    <a:p>
                      <a:pPr algn="ctr"/>
                      <a:r>
                        <a:rPr sz="1400" b="1">
                          <a:solidFill>
                            <a:srgbClr val="006100"/>
                          </a:solidFill>
                          <a:latin typeface="Times New Roman"/>
                        </a:rPr>
                        <a:t>PASS</a:t>
                      </a:r>
                    </a:p>
                  </a:txBody>
                  <a:tcPr anchor="ctr" marL="70000" marR="70000">
                    <a:solidFill>
                      <a:srgbClr val="C6EFCE"/>
                    </a:solidFill>
                  </a:tcPr>
                </a:tc>
              </a:tr>
              <a:tr h="760000">
                <a:tc>
                  <a:txBody>
                    <a:bodyPr wrap="square"/>
                    <a:lstStyle/>
                    <a:p>
                      <a:pPr algn="l"/>
                      <a:r>
                        <a:rPr sz="1200" b="0">
                          <a:solidFill>
                            <a:srgbClr val="000000"/>
                          </a:solidFill>
                          <a:latin typeface="Times New Roman"/>
                        </a:rPr>
                        <a:t>Corrupt ATS Format</a:t>
                      </a:r>
                    </a:p>
                  </a:txBody>
                  <a:tcPr anchor="ctr" marL="70000" marR="70000"/>
                </a:tc>
                <a:tc>
                  <a:txBody>
                    <a:bodyPr wrap="square"/>
                    <a:lstStyle/>
                    <a:p>
                      <a:pPr algn="l"/>
                      <a:r>
                        <a:rPr sz="1200" b="0">
                          <a:solidFill>
                            <a:srgbClr val="000000"/>
                          </a:solidFill>
                          <a:latin typeface="Times New Roman"/>
                        </a:rPr>
                        <a:t>Damaged layout and inconsistent dates</a:t>
                      </a:r>
                    </a:p>
                  </a:txBody>
                  <a:tcPr anchor="ctr" marL="70000" marR="70000"/>
                </a:tc>
                <a:tc>
                  <a:txBody>
                    <a:bodyPr wrap="square"/>
                    <a:lstStyle/>
                    <a:p>
                      <a:pPr algn="l"/>
                      <a:r>
                        <a:rPr sz="1200" b="0">
                          <a:solidFill>
                            <a:srgbClr val="000000"/>
                          </a:solidFill>
                          <a:latin typeface="Times New Roman"/>
                        </a:rPr>
                        <a:t>ATS score below 35 and a date-inconsistency flag</a:t>
                      </a:r>
                    </a:p>
                  </a:txBody>
                  <a:tcPr anchor="ctr" marL="70000" marR="70000"/>
                </a:tc>
                <a:tc>
                  <a:txBody>
                    <a:bodyPr wrap="square"/>
                    <a:lstStyle/>
                    <a:p>
                      <a:pPr algn="l"/>
                      <a:r>
                        <a:rPr sz="1200" b="0">
                          <a:solidFill>
                            <a:srgbClr val="000000"/>
                          </a:solidFill>
                          <a:latin typeface="Times New Roman"/>
                        </a:rPr>
                        <a:t>Rank 11, match 34.0%, ATS 23, REJECT; flags: No Quantified Impact, Date Inconsistency</a:t>
                      </a:r>
                    </a:p>
                  </a:txBody>
                  <a:tcPr anchor="ctr" marL="70000" marR="70000"/>
                </a:tc>
                <a:tc>
                  <a:txBody>
                    <a:bodyPr wrap="square"/>
                    <a:lstStyle/>
                    <a:p>
                      <a:pPr algn="ctr"/>
                      <a:r>
                        <a:rPr sz="1400" b="1">
                          <a:solidFill>
                            <a:srgbClr val="006100"/>
                          </a:solidFill>
                          <a:latin typeface="Times New Roman"/>
                        </a:rPr>
                        <a:t>PASS</a:t>
                      </a:r>
                    </a:p>
                  </a:txBody>
                  <a:tcPr anchor="ctr" marL="70000" marR="70000">
                    <a:solidFill>
                      <a:srgbClr val="C6EFCE"/>
                    </a:solidFill>
                  </a:tcPr>
                </a:tc>
              </a:tr>
            </a:tbl>
          </a:graphicData>
        </a:graphic>
      </p:graphicFrame>
      <p:sp>
        <p:nvSpPr>
          <p:cNvPr id="32" name="TextBox 31"/>
          <p:cNvSpPr txBox="1"/>
          <p:nvPr/>
        </p:nvSpPr>
        <p:spPr>
          <a:xfrm>
            <a:off x="330000" y="5500000"/>
            <a:ext cx="11500000" cy="800000"/>
          </a:xfrm>
          <a:prstGeom prst="rect">
            <a:avLst/>
          </a:prstGeom>
          <a:noFill/>
        </p:spPr>
        <p:txBody>
          <a:bodyPr wrap="square" anchor="t" lIns="60000" rIns="60000" tIns="30000" bIns="30000">
            <a:spAutoFit/>
          </a:bodyPr>
          <a:lstStyle/>
          <a:p>
            <a:pPr algn="l">
              <a:lnSpc>
                <a:spcPct val="115000"/>
              </a:lnSpc>
              <a:spcAft>
                <a:spcPts val="600"/>
              </a:spcAft>
            </a:pPr>
            <a:r>
              <a:rPr sz="1600" b="0">
                <a:solidFill>
                  <a:srgbClr val="595959"/>
                </a:solidFill>
                <a:latin typeface="Times New Roman"/>
              </a:rPr>
              <a:t>4 of 4 test resumes passed on the real pipeline (no mock data). These four are part of the automated suite: 78 tests in total (49 Python and 29 JavaScript), all passing.</a:t>
            </a:r>
          </a:p>
        </p:txBody>
      </p:sp>
    </p:spTree>
    <p:extLst>
      <p:ext uri="{BB962C8B-B14F-4D97-AF65-F5344CB8AC3E}">
        <p14:creationId xmlns:p14="http://schemas.microsoft.com/office/powerpoint/2010/main" val="10661319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48352-7F16-A538-CA34-9E93AC13B3DD}"/>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9802A688-D420-4932-8380-3B5255A67BAD}"/>
              </a:ext>
            </a:extLst>
          </p:cNvPr>
          <p:cNvGrpSpPr/>
          <p:nvPr/>
        </p:nvGrpSpPr>
        <p:grpSpPr>
          <a:xfrm>
            <a:off x="0" y="6392367"/>
            <a:ext cx="12192000" cy="546100"/>
            <a:chOff x="0" y="0"/>
            <a:chExt cx="6186311" cy="277095"/>
          </a:xfrm>
          <a:solidFill>
            <a:srgbClr val="FFC000"/>
          </a:solidFill>
        </p:grpSpPr>
        <p:sp>
          <p:nvSpPr>
            <p:cNvPr id="20" name="Freeform 3">
              <a:extLst>
                <a:ext uri="{FF2B5EF4-FFF2-40B4-BE49-F238E27FC236}">
                  <a16:creationId xmlns:a16="http://schemas.microsoft.com/office/drawing/2014/main" id="{AD249F90-DF57-CFB9-8031-FB0FE46C84F0}"/>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048337FC-8029-24EF-AF99-039771DDA80E}"/>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24793638-8632-4B8E-94FF-1CAEDA9F08B5}"/>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9925BD08-5B89-AD75-6AA2-7E132CEC6426}"/>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E27A2365-103C-BD3F-1E85-314646CDF77B}"/>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7582A286-6481-D5C4-E65A-F2786B26926A}"/>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A1F54987-D522-5EA4-0073-0BD4A1BF4D15}"/>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1" name="Picture 10">
            <a:extLst>
              <a:ext uri="{FF2B5EF4-FFF2-40B4-BE49-F238E27FC236}">
                <a16:creationId xmlns:a16="http://schemas.microsoft.com/office/drawing/2014/main" id="{3D37A14E-283C-A4CE-84B2-9402609A4428}"/>
              </a:ext>
            </a:extLst>
          </p:cNvPr>
          <p:cNvPicPr>
            <a:picLocks noChangeAspect="1"/>
          </p:cNvPicPr>
          <p:nvPr/>
        </p:nvPicPr>
        <p:blipFill rotWithShape="1">
          <a:blip r:embed="rId11">
            <a:extLst>
              <a:ext uri="{28A0092B-C50C-407E-A947-70E740481C1C}">
                <a14:useLocalDpi xmlns:a14="http://schemas.microsoft.com/office/drawing/2010/main" val="0"/>
              </a:ext>
            </a:extLst>
          </a:blip>
          <a:srcRect l="1258" t="6458" r="666" b="6557"/>
          <a:stretch/>
        </p:blipFill>
        <p:spPr>
          <a:xfrm>
            <a:off x="0" y="-15722"/>
            <a:ext cx="11257935" cy="955522"/>
          </a:xfrm>
          <a:prstGeom prst="rect">
            <a:avLst/>
          </a:prstGeom>
        </p:spPr>
      </p:pic>
      <p:sp>
        <p:nvSpPr>
          <p:cNvPr id="14" name="Content Placeholder 3">
            <a:extLst>
              <a:ext uri="{FF2B5EF4-FFF2-40B4-BE49-F238E27FC236}">
                <a16:creationId xmlns:a16="http://schemas.microsoft.com/office/drawing/2014/main" id="{38DFAB8A-014F-5692-FEAC-C37364912AEE}"/>
              </a:ext>
            </a:extLst>
          </p:cNvPr>
          <p:cNvSpPr txBox="1">
            <a:spLocks/>
          </p:cNvSpPr>
          <p:nvPr/>
        </p:nvSpPr>
        <p:spPr>
          <a:xfrm>
            <a:off x="123825" y="1026160"/>
            <a:ext cx="11383645" cy="504444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97B7262D-24F3-9233-556A-AFA30334F2FD}"/>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
        <p:nvSpPr>
          <p:cNvPr id="4" name="Rectangle 3">
            <a:extLst>
              <a:ext uri="{FF2B5EF4-FFF2-40B4-BE49-F238E27FC236}">
                <a16:creationId xmlns:a16="http://schemas.microsoft.com/office/drawing/2014/main" id="{9A09DF37-958D-3747-C9BF-D1E41152B368}"/>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1499695E-AA4D-C975-8113-6E05048A224D}"/>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1311383" y="58917"/>
            <a:ext cx="720000" cy="720000"/>
          </a:xfrm>
          <a:prstGeom prst="rect">
            <a:avLst/>
          </a:prstGeom>
        </p:spPr>
      </p:pic>
      <p:sp>
        <p:nvSpPr>
          <p:cNvPr id="31" name="Title"/>
          <p:cNvSpPr txBox="1"/>
          <p:nvPr/>
        </p:nvSpPr>
        <p:spPr>
          <a:xfrm>
            <a:off x="264816" y="1025101"/>
            <a:ext cx="9000000" cy="523220"/>
          </a:xfrm>
          <a:prstGeom prst="rect">
            <a:avLst/>
          </a:prstGeom>
          <a:noFill/>
        </p:spPr>
        <p:txBody>
          <a:bodyPr wrap="square" anchor="t" lIns="60000" rIns="60000" tIns="30000" bIns="30000">
            <a:spAutoFit/>
          </a:bodyPr>
          <a:lstStyle/>
          <a:p>
            <a:pPr algn="l">
              <a:lnSpc>
                <a:spcPct val="115000"/>
              </a:lnSpc>
              <a:spcAft>
                <a:spcPts val="600"/>
              </a:spcAft>
            </a:pPr>
            <a:r>
              <a:rPr sz="2800" b="1">
                <a:solidFill>
                  <a:srgbClr val="000000"/>
                </a:solidFill>
                <a:latin typeface="Times New Roman"/>
              </a:rPr>
              <a:t>TEST CASES WITH RESULTS (CONTD.)</a:t>
            </a:r>
          </a:p>
        </p:txBody>
      </p:sp>
      <p:graphicFrame>
        <p:nvGraphicFramePr>
          <p:cNvPr id="32" name="Table 31"/>
          <p:cNvGraphicFramePr>
            <a:graphicFrameLocks noGrp="1"/>
          </p:cNvGraphicFramePr>
          <p:nvPr/>
        </p:nvGraphicFramePr>
        <p:xfrm>
          <a:off x="330000" y="1600000"/>
          <a:ext cx="11500000" cy="3100000"/>
        </p:xfrm>
        <a:graphic>
          <a:graphicData uri="http://schemas.openxmlformats.org/drawingml/2006/table">
            <a:tbl>
              <a:tblPr firstRow="1" bandRow="1">
                <a:tableStyleId>{5C22544A-7EE6-4342-B048-85BDC9FD1C3A}</a:tableStyleId>
              </a:tblPr>
              <a:tblGrid>
                <a:gridCol w="2300000"/>
                <a:gridCol w="4140000"/>
                <a:gridCol w="1840000"/>
                <a:gridCol w="1840000"/>
                <a:gridCol w="1380000"/>
              </a:tblGrid>
              <a:tr h="620000">
                <a:tc>
                  <a:txBody>
                    <a:bodyPr wrap="square"/>
                    <a:lstStyle/>
                    <a:p>
                      <a:pPr algn="ctr"/>
                      <a:r>
                        <a:rPr sz="1500" b="1">
                          <a:solidFill>
                            <a:srgbClr val="FFFFFF"/>
                          </a:solidFill>
                          <a:latin typeface="Times New Roman"/>
                        </a:rPr>
                        <a:t>Test resume</a:t>
                      </a:r>
                    </a:p>
                  </a:txBody>
                  <a:tcPr anchor="ctr" marL="70000" marR="70000"/>
                </a:tc>
                <a:tc>
                  <a:txBody>
                    <a:bodyPr wrap="square"/>
                    <a:lstStyle/>
                    <a:p>
                      <a:pPr algn="ctr"/>
                      <a:r>
                        <a:rPr sz="1500" b="1">
                          <a:solidFill>
                            <a:srgbClr val="FFFFFF"/>
                          </a:solidFill>
                          <a:latin typeface="Times New Roman"/>
                        </a:rPr>
                        <a:t>What it checks</a:t>
                      </a:r>
                    </a:p>
                  </a:txBody>
                  <a:tcPr anchor="ctr" marL="70000" marR="70000"/>
                </a:tc>
                <a:tc>
                  <a:txBody>
                    <a:bodyPr wrap="square"/>
                    <a:lstStyle/>
                    <a:p>
                      <a:pPr algn="ctr"/>
                      <a:r>
                        <a:rPr sz="1500" b="1">
                          <a:solidFill>
                            <a:srgbClr val="FFFFFF"/>
                          </a:solidFill>
                          <a:latin typeface="Times New Roman"/>
                        </a:rPr>
                        <a:t>Phase 1 keyword score</a:t>
                      </a:r>
                    </a:p>
                  </a:txBody>
                  <a:tcPr anchor="ctr" marL="70000" marR="70000"/>
                </a:tc>
                <a:tc>
                  <a:txBody>
                    <a:bodyPr wrap="square"/>
                    <a:lstStyle/>
                    <a:p>
                      <a:pPr algn="ctr"/>
                      <a:r>
                        <a:rPr sz="1500" b="1">
                          <a:solidFill>
                            <a:srgbClr val="FFFFFF"/>
                          </a:solidFill>
                          <a:latin typeface="Times New Roman"/>
                        </a:rPr>
                        <a:t>Phase 2 hybrid score</a:t>
                      </a:r>
                    </a:p>
                  </a:txBody>
                  <a:tcPr anchor="ctr" marL="70000" marR="70000"/>
                </a:tc>
                <a:tc>
                  <a:txBody>
                    <a:bodyPr wrap="square"/>
                    <a:lstStyle/>
                    <a:p>
                      <a:pPr algn="ctr"/>
                      <a:r>
                        <a:rPr sz="1500" b="1">
                          <a:solidFill>
                            <a:srgbClr val="FFFFFF"/>
                          </a:solidFill>
                          <a:latin typeface="Times New Roman"/>
                        </a:rPr>
                        <a:t>Council score</a:t>
                      </a:r>
                    </a:p>
                  </a:txBody>
                  <a:tcPr anchor="ctr" marL="70000" marR="70000"/>
                </a:tc>
              </a:tr>
              <a:tr h="620000">
                <a:tc>
                  <a:txBody>
                    <a:bodyPr wrap="square"/>
                    <a:lstStyle/>
                    <a:p>
                      <a:pPr algn="l"/>
                      <a:r>
                        <a:rPr sz="1400" b="0">
                          <a:solidFill>
                            <a:srgbClr val="000000"/>
                          </a:solidFill>
                          <a:latin typeface="Times New Roman"/>
                        </a:rPr>
                        <a:t>Gold Standard</a:t>
                      </a:r>
                    </a:p>
                  </a:txBody>
                  <a:tcPr anchor="ctr" marL="70000" marR="70000"/>
                </a:tc>
                <a:tc>
                  <a:txBody>
                    <a:bodyPr wrap="square"/>
                    <a:lstStyle/>
                    <a:p>
                      <a:pPr algn="l"/>
                      <a:r>
                        <a:rPr sz="1400" b="0">
                          <a:solidFill>
                            <a:srgbClr val="000000"/>
                          </a:solidFill>
                          <a:latin typeface="Times New Roman"/>
                        </a:rPr>
                        <a:t>No inflated perfect score for a strong candidate</a:t>
                      </a:r>
                    </a:p>
                  </a:txBody>
                  <a:tcPr anchor="ctr" marL="70000" marR="70000"/>
                </a:tc>
                <a:tc>
                  <a:txBody>
                    <a:bodyPr wrap="square"/>
                    <a:lstStyle/>
                    <a:p>
                      <a:pPr algn="ctr"/>
                      <a:r>
                        <a:rPr sz="1400" b="0">
                          <a:solidFill>
                            <a:srgbClr val="000000"/>
                          </a:solidFill>
                          <a:latin typeface="Times New Roman"/>
                        </a:rPr>
                        <a:t>100.0</a:t>
                      </a:r>
                    </a:p>
                  </a:txBody>
                  <a:tcPr anchor="ctr" marL="70000" marR="70000"/>
                </a:tc>
                <a:tc>
                  <a:txBody>
                    <a:bodyPr wrap="square"/>
                    <a:lstStyle/>
                    <a:p>
                      <a:pPr algn="ctr"/>
                      <a:r>
                        <a:rPr sz="1400" b="0">
                          <a:solidFill>
                            <a:srgbClr val="000000"/>
                          </a:solidFill>
                          <a:latin typeface="Times New Roman"/>
                        </a:rPr>
                        <a:t>88.1</a:t>
                      </a:r>
                    </a:p>
                  </a:txBody>
                  <a:tcPr anchor="ctr" marL="70000" marR="70000"/>
                </a:tc>
                <a:tc>
                  <a:txBody>
                    <a:bodyPr wrap="square"/>
                    <a:lstStyle/>
                    <a:p>
                      <a:pPr algn="l"/>
                      <a:r>
                        <a:rPr sz="1400" b="0">
                          <a:solidFill>
                            <a:srgbClr val="000000"/>
                          </a:solidFill>
                          <a:latin typeface="Times New Roman"/>
                        </a:rPr>
                        <a:t>91.4</a:t>
                      </a:r>
                    </a:p>
                  </a:txBody>
                  <a:tcPr anchor="ctr" marL="70000" marR="70000"/>
                </a:tc>
              </a:tr>
              <a:tr h="620000">
                <a:tc>
                  <a:txBody>
                    <a:bodyPr wrap="square"/>
                    <a:lstStyle/>
                    <a:p>
                      <a:pPr algn="l"/>
                      <a:r>
                        <a:rPr sz="1400" b="0">
                          <a:solidFill>
                            <a:srgbClr val="000000"/>
                          </a:solidFill>
                          <a:latin typeface="Times New Roman"/>
                        </a:rPr>
                        <a:t>Buzzword Exaggeration</a:t>
                      </a:r>
                    </a:p>
                  </a:txBody>
                  <a:tcPr anchor="ctr" marL="70000" marR="70000"/>
                </a:tc>
                <a:tc>
                  <a:txBody>
                    <a:bodyPr wrap="square"/>
                    <a:lstStyle/>
                    <a:p>
                      <a:pPr algn="l"/>
                      <a:r>
                        <a:rPr sz="1400" b="0">
                          <a:solidFill>
                            <a:srgbClr val="000000"/>
                          </a:solidFill>
                          <a:latin typeface="Times New Roman"/>
                        </a:rPr>
                        <a:t>Stuffed skills are not rewarded</a:t>
                      </a:r>
                    </a:p>
                  </a:txBody>
                  <a:tcPr anchor="ctr" marL="70000" marR="70000"/>
                </a:tc>
                <a:tc>
                  <a:txBody>
                    <a:bodyPr wrap="square"/>
                    <a:lstStyle/>
                    <a:p>
                      <a:pPr algn="ctr"/>
                      <a:r>
                        <a:rPr sz="1400" b="0">
                          <a:solidFill>
                            <a:srgbClr val="000000"/>
                          </a:solidFill>
                          <a:latin typeface="Times New Roman"/>
                        </a:rPr>
                        <a:t>47.1</a:t>
                      </a:r>
                    </a:p>
                  </a:txBody>
                  <a:tcPr anchor="ctr" marL="70000" marR="70000"/>
                </a:tc>
                <a:tc>
                  <a:txBody>
                    <a:bodyPr wrap="square"/>
                    <a:lstStyle/>
                    <a:p>
                      <a:pPr algn="ctr"/>
                      <a:r>
                        <a:rPr sz="1400" b="0">
                          <a:solidFill>
                            <a:srgbClr val="000000"/>
                          </a:solidFill>
                          <a:latin typeface="Times New Roman"/>
                        </a:rPr>
                        <a:t>41.6</a:t>
                      </a:r>
                    </a:p>
                  </a:txBody>
                  <a:tcPr anchor="ctr" marL="70000" marR="70000"/>
                </a:tc>
                <a:tc>
                  <a:txBody>
                    <a:bodyPr wrap="square"/>
                    <a:lstStyle/>
                    <a:p>
                      <a:pPr algn="l"/>
                      <a:r>
                        <a:rPr sz="1400" b="0">
                          <a:solidFill>
                            <a:srgbClr val="000000"/>
                          </a:solidFill>
                          <a:latin typeface="Times New Roman"/>
                        </a:rPr>
                        <a:t>50.3</a:t>
                      </a:r>
                    </a:p>
                  </a:txBody>
                  <a:tcPr anchor="ctr" marL="70000" marR="70000"/>
                </a:tc>
              </a:tr>
              <a:tr h="620000">
                <a:tc>
                  <a:txBody>
                    <a:bodyPr wrap="square"/>
                    <a:lstStyle/>
                    <a:p>
                      <a:pPr algn="l"/>
                      <a:r>
                        <a:rPr sz="1400" b="0">
                          <a:solidFill>
                            <a:srgbClr val="000000"/>
                          </a:solidFill>
                          <a:latin typeface="Times New Roman"/>
                        </a:rPr>
                        <a:t>Lateral Partial Match</a:t>
                      </a:r>
                    </a:p>
                  </a:txBody>
                  <a:tcPr anchor="ctr" marL="70000" marR="70000"/>
                </a:tc>
                <a:tc>
                  <a:txBody>
                    <a:bodyPr wrap="square"/>
                    <a:lstStyle/>
                    <a:p>
                      <a:pPr algn="l"/>
                      <a:r>
                        <a:rPr sz="1400" b="0">
                          <a:solidFill>
                            <a:srgbClr val="000000"/>
                          </a:solidFill>
                          <a:latin typeface="Times New Roman"/>
                        </a:rPr>
                        <a:t>Related skills earn partial credit</a:t>
                      </a:r>
                    </a:p>
                  </a:txBody>
                  <a:tcPr anchor="ctr" marL="70000" marR="70000"/>
                </a:tc>
                <a:tc>
                  <a:txBody>
                    <a:bodyPr wrap="square"/>
                    <a:lstStyle/>
                    <a:p>
                      <a:pPr algn="ctr"/>
                      <a:r>
                        <a:rPr sz="1400" b="0">
                          <a:solidFill>
                            <a:srgbClr val="000000"/>
                          </a:solidFill>
                          <a:latin typeface="Times New Roman"/>
                        </a:rPr>
                        <a:t>47.1</a:t>
                      </a:r>
                    </a:p>
                  </a:txBody>
                  <a:tcPr anchor="ctr" marL="70000" marR="70000"/>
                </a:tc>
                <a:tc>
                  <a:txBody>
                    <a:bodyPr wrap="square"/>
                    <a:lstStyle/>
                    <a:p>
                      <a:pPr algn="ctr"/>
                      <a:r>
                        <a:rPr sz="1400" b="0">
                          <a:solidFill>
                            <a:srgbClr val="000000"/>
                          </a:solidFill>
                          <a:latin typeface="Times New Roman"/>
                        </a:rPr>
                        <a:t>61.3</a:t>
                      </a:r>
                    </a:p>
                  </a:txBody>
                  <a:tcPr anchor="ctr" marL="70000" marR="70000"/>
                </a:tc>
                <a:tc>
                  <a:txBody>
                    <a:bodyPr wrap="square"/>
                    <a:lstStyle/>
                    <a:p>
                      <a:pPr algn="l"/>
                      <a:r>
                        <a:rPr sz="1400" b="0">
                          <a:solidFill>
                            <a:srgbClr val="000000"/>
                          </a:solidFill>
                          <a:latin typeface="Times New Roman"/>
                        </a:rPr>
                        <a:t>76.0</a:t>
                      </a:r>
                    </a:p>
                  </a:txBody>
                  <a:tcPr anchor="ctr" marL="70000" marR="70000"/>
                </a:tc>
              </a:tr>
              <a:tr h="620000">
                <a:tc>
                  <a:txBody>
                    <a:bodyPr wrap="square"/>
                    <a:lstStyle/>
                    <a:p>
                      <a:pPr algn="l"/>
                      <a:r>
                        <a:rPr sz="1400" b="0">
                          <a:solidFill>
                            <a:srgbClr val="000000"/>
                          </a:solidFill>
                          <a:latin typeface="Times New Roman"/>
                        </a:rPr>
                        <a:t>Corrupt ATS Format</a:t>
                      </a:r>
                    </a:p>
                  </a:txBody>
                  <a:tcPr anchor="ctr" marL="70000" marR="70000"/>
                </a:tc>
                <a:tc>
                  <a:txBody>
                    <a:bodyPr wrap="square"/>
                    <a:lstStyle/>
                    <a:p>
                      <a:pPr algn="l"/>
                      <a:r>
                        <a:rPr sz="1400" b="0">
                          <a:solidFill>
                            <a:srgbClr val="000000"/>
                          </a:solidFill>
                          <a:latin typeface="Times New Roman"/>
                        </a:rPr>
                        <a:t>Damaged resume is still scored and flagged</a:t>
                      </a:r>
                    </a:p>
                  </a:txBody>
                  <a:tcPr anchor="ctr" marL="70000" marR="70000"/>
                </a:tc>
                <a:tc>
                  <a:txBody>
                    <a:bodyPr wrap="square"/>
                    <a:lstStyle/>
                    <a:p>
                      <a:pPr algn="ctr"/>
                      <a:r>
                        <a:rPr sz="1400" b="0">
                          <a:solidFill>
                            <a:srgbClr val="000000"/>
                          </a:solidFill>
                          <a:latin typeface="Times New Roman"/>
                        </a:rPr>
                        <a:t>0.0</a:t>
                      </a:r>
                    </a:p>
                  </a:txBody>
                  <a:tcPr anchor="ctr" marL="70000" marR="70000"/>
                </a:tc>
                <a:tc>
                  <a:txBody>
                    <a:bodyPr wrap="square"/>
                    <a:lstStyle/>
                    <a:p>
                      <a:pPr algn="ctr"/>
                      <a:r>
                        <a:rPr sz="1400" b="0">
                          <a:solidFill>
                            <a:srgbClr val="000000"/>
                          </a:solidFill>
                          <a:latin typeface="Times New Roman"/>
                        </a:rPr>
                        <a:t>34.0</a:t>
                      </a:r>
                    </a:p>
                  </a:txBody>
                  <a:tcPr anchor="ctr" marL="70000" marR="70000"/>
                </a:tc>
                <a:tc>
                  <a:txBody>
                    <a:bodyPr wrap="square"/>
                    <a:lstStyle/>
                    <a:p>
                      <a:pPr algn="l"/>
                      <a:r>
                        <a:rPr sz="1400" b="0">
                          <a:solidFill>
                            <a:srgbClr val="000000"/>
                          </a:solidFill>
                          <a:latin typeface="Times New Roman"/>
                        </a:rPr>
                        <a:t>38.5</a:t>
                      </a:r>
                    </a:p>
                  </a:txBody>
                  <a:tcPr anchor="ctr" marL="70000" marR="70000"/>
                </a:tc>
              </a:tr>
            </a:tbl>
          </a:graphicData>
        </a:graphic>
      </p:graphicFrame>
      <p:sp>
        <p:nvSpPr>
          <p:cNvPr id="33" name="TextBox 32"/>
          <p:cNvSpPr txBox="1"/>
          <p:nvPr/>
        </p:nvSpPr>
        <p:spPr>
          <a:xfrm>
            <a:off x="330000" y="4900000"/>
            <a:ext cx="11500000" cy="1300000"/>
          </a:xfrm>
          <a:prstGeom prst="rect">
            <a:avLst/>
          </a:prstGeom>
          <a:noFill/>
        </p:spPr>
        <p:txBody>
          <a:bodyPr wrap="square" anchor="t" lIns="60000" rIns="60000" tIns="30000" bIns="30000">
            <a:spAutoFit/>
          </a:bodyPr>
          <a:lstStyle/>
          <a:p>
            <a:pPr algn="l" marL="285750" indent="-285750">
              <a:lnSpc>
                <a:spcPct val="115000"/>
              </a:lnSpc>
              <a:spcAft>
                <a:spcPts val="600"/>
              </a:spcAft>
              <a:buFont typeface="Arial"/>
              <a:buChar char="•"/>
            </a:pPr>
            <a:r>
              <a:rPr sz="1600" b="1">
                <a:solidFill>
                  <a:srgbClr val="000000"/>
                </a:solidFill>
                <a:latin typeface="Times New Roman"/>
              </a:rPr>
              <a:t>Fairness test: </a:t>
            </a:r>
            <a:r>
              <a:rPr sz="1600" b="0">
                <a:solidFill>
                  <a:srgbClr val="000000"/>
                </a:solidFill>
                <a:latin typeface="Times New Roman"/>
              </a:rPr>
              <a:t>swapping a candidate's name changed no score (maximum change 0.0) in plain or blind mode.</a:t>
            </a:r>
          </a:p>
          <a:p>
            <a:pPr algn="l" marL="285750" indent="-285750">
              <a:lnSpc>
                <a:spcPct val="115000"/>
              </a:lnSpc>
              <a:spcAft>
                <a:spcPts val="600"/>
              </a:spcAft>
              <a:buFont typeface="Arial"/>
              <a:buChar char="•"/>
            </a:pPr>
            <a:r>
              <a:rPr sz="1600" b="1">
                <a:solidFill>
                  <a:srgbClr val="000000"/>
                </a:solidFill>
                <a:latin typeface="Times New Roman"/>
              </a:rPr>
              <a:t>Ablation: </a:t>
            </a:r>
            <a:r>
              <a:rPr sz="1600" b="0">
                <a:solidFill>
                  <a:srgbClr val="000000"/>
                </a:solidFill>
                <a:latin typeface="Times New Roman"/>
              </a:rPr>
              <a:t>without evidence weighting, two REJECT verdicts would have become LEAN HIRE.</a:t>
            </a:r>
          </a:p>
        </p:txBody>
      </p:sp>
    </p:spTree>
    <p:extLst>
      <p:ext uri="{BB962C8B-B14F-4D97-AF65-F5344CB8AC3E}">
        <p14:creationId xmlns:p14="http://schemas.microsoft.com/office/powerpoint/2010/main" val="15949426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6B111-BC7B-7F2A-588F-E280986D1217}"/>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2D9961AF-7D53-923F-217C-D19E6B5010B0}"/>
              </a:ext>
            </a:extLst>
          </p:cNvPr>
          <p:cNvGrpSpPr/>
          <p:nvPr/>
        </p:nvGrpSpPr>
        <p:grpSpPr>
          <a:xfrm>
            <a:off x="0" y="6392367"/>
            <a:ext cx="12192000" cy="546100"/>
            <a:chOff x="0" y="0"/>
            <a:chExt cx="6186311" cy="277095"/>
          </a:xfrm>
          <a:solidFill>
            <a:srgbClr val="FFC000"/>
          </a:solidFill>
        </p:grpSpPr>
        <p:sp>
          <p:nvSpPr>
            <p:cNvPr id="20" name="Freeform 3">
              <a:extLst>
                <a:ext uri="{FF2B5EF4-FFF2-40B4-BE49-F238E27FC236}">
                  <a16:creationId xmlns:a16="http://schemas.microsoft.com/office/drawing/2014/main" id="{0CE7B8C3-040C-3B54-CC4C-B7CD56DA8953}"/>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8495767A-E2B2-F385-88DB-47867D16846D}"/>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2A787FAF-4842-34F4-A528-83198AF8BCB6}"/>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86D23041-21CB-6814-688A-619CDC5F4A4F}"/>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872886AF-2BF2-EA2C-FEAF-95FE5AC8D823}"/>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8B3252EB-E211-B979-D415-898DE92C21CC}"/>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A1073450-BA57-D248-DB48-26D7FD3CD5B5}"/>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1" name="Picture 10">
            <a:extLst>
              <a:ext uri="{FF2B5EF4-FFF2-40B4-BE49-F238E27FC236}">
                <a16:creationId xmlns:a16="http://schemas.microsoft.com/office/drawing/2014/main" id="{2D5D1932-5051-5AD0-31A3-3E343A9C1C88}"/>
              </a:ext>
            </a:extLst>
          </p:cNvPr>
          <p:cNvPicPr>
            <a:picLocks noChangeAspect="1"/>
          </p:cNvPicPr>
          <p:nvPr/>
        </p:nvPicPr>
        <p:blipFill rotWithShape="1">
          <a:blip r:embed="rId11">
            <a:extLst>
              <a:ext uri="{28A0092B-C50C-407E-A947-70E740481C1C}">
                <a14:useLocalDpi xmlns:a14="http://schemas.microsoft.com/office/drawing/2010/main" val="0"/>
              </a:ext>
            </a:extLst>
          </a:blip>
          <a:srcRect l="1258" t="6458" r="666" b="6557"/>
          <a:stretch/>
        </p:blipFill>
        <p:spPr>
          <a:xfrm>
            <a:off x="0" y="-15722"/>
            <a:ext cx="11257935" cy="955522"/>
          </a:xfrm>
          <a:prstGeom prst="rect">
            <a:avLst/>
          </a:prstGeom>
        </p:spPr>
      </p:pic>
      <p:sp>
        <p:nvSpPr>
          <p:cNvPr id="14" name="Content Placeholder 3">
            <a:extLst>
              <a:ext uri="{FF2B5EF4-FFF2-40B4-BE49-F238E27FC236}">
                <a16:creationId xmlns:a16="http://schemas.microsoft.com/office/drawing/2014/main" id="{36FFFF63-644C-1A91-B512-D93D19CC5009}"/>
              </a:ext>
            </a:extLst>
          </p:cNvPr>
          <p:cNvSpPr txBox="1">
            <a:spLocks/>
          </p:cNvSpPr>
          <p:nvPr/>
        </p:nvSpPr>
        <p:spPr>
          <a:xfrm>
            <a:off x="123825" y="1026160"/>
            <a:ext cx="11383645" cy="504444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C301DD91-2F63-9F0B-066F-49FFAA74FFA1}"/>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
        <p:nvSpPr>
          <p:cNvPr id="4" name="Rectangle 3">
            <a:extLst>
              <a:ext uri="{FF2B5EF4-FFF2-40B4-BE49-F238E27FC236}">
                <a16:creationId xmlns:a16="http://schemas.microsoft.com/office/drawing/2014/main" id="{587D805B-D341-6125-EF04-1AAB51C69306}"/>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0D864881-029B-2FFB-519D-DCAB775D9EE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1311383" y="58917"/>
            <a:ext cx="720000" cy="720000"/>
          </a:xfrm>
          <a:prstGeom prst="rect">
            <a:avLst/>
          </a:prstGeom>
        </p:spPr>
      </p:pic>
      <p:sp>
        <p:nvSpPr>
          <p:cNvPr id="3" name="TextBox 2">
            <a:extLst>
              <a:ext uri="{FF2B5EF4-FFF2-40B4-BE49-F238E27FC236}">
                <a16:creationId xmlns:a16="http://schemas.microsoft.com/office/drawing/2014/main" id="{E49C30F2-F0D9-0B70-4342-66B7938AD9D2}"/>
              </a:ext>
            </a:extLst>
          </p:cNvPr>
          <p:cNvSpPr txBox="1"/>
          <p:nvPr/>
        </p:nvSpPr>
        <p:spPr>
          <a:xfrm>
            <a:off x="373625" y="995858"/>
            <a:ext cx="1788375" cy="523220"/>
          </a:xfrm>
          <a:prstGeom prst="rect">
            <a:avLst/>
          </a:prstGeom>
          <a:noFill/>
        </p:spPr>
        <p:txBody>
          <a:bodyPr wrap="none" rtlCol="0">
            <a:spAutoFit/>
          </a:bodyPr>
          <a:lstStyle/>
          <a:p>
            <a:r>
              <a:rPr lang="en-IN" sz="2800" b="1" dirty="0">
                <a:latin typeface="Times New Roman" panose="02020603050405020304" pitchFamily="18" charset="0"/>
                <a:cs typeface="Times New Roman" panose="02020603050405020304" pitchFamily="18" charset="0"/>
              </a:rPr>
              <a:t>RESULTS</a:t>
            </a:r>
          </a:p>
        </p:txBody>
      </p:sp>
      <p:graphicFrame>
        <p:nvGraphicFramePr>
          <p:cNvPr id="31" name="Chart 30"/>
          <p:cNvGraphicFramePr>
            <a:graphicFrameLocks noGrp="1"/>
          </p:cNvGraphicFramePr>
          <p:nvPr/>
        </p:nvGraphicFramePr>
        <p:xfrm>
          <a:off x="260000" y="1450000"/>
          <a:ext cx="7000000" cy="4800000"/>
        </p:xfrm>
        <a:graphic>
          <a:graphicData uri="http://schemas.openxmlformats.org/drawingml/2006/chart">
            <c:chart xmlns:c="http://schemas.openxmlformats.org/drawingml/2006/chart" r:id="rId15"/>
          </a:graphicData>
        </a:graphic>
      </p:graphicFrame>
      <p:sp>
        <p:nvSpPr>
          <p:cNvPr id="32" name="Rounded Rectangle 31"/>
          <p:cNvSpPr/>
          <p:nvPr/>
        </p:nvSpPr>
        <p:spPr>
          <a:xfrm>
            <a:off x="7500000" y="1550000"/>
            <a:ext cx="2150000" cy="2150000"/>
          </a:xfrm>
          <a:prstGeom prst="roundRect">
            <a:avLst>
              <a:gd name="adj" fmla="val 12000"/>
            </a:avLst>
          </a:prstGeom>
          <a:solidFill>
            <a:srgbClr val="D9E2F3"/>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3000" b="1">
                <a:solidFill>
                  <a:srgbClr val="1F3864"/>
                </a:solidFill>
                <a:latin typeface="Times New Roman"/>
              </a:rPr>
              <a:t>88.1%</a:t>
            </a:r>
          </a:p>
          <a:p>
            <a:pPr algn="ctr"/>
            <a:r>
              <a:rPr sz="1300" b="0">
                <a:solidFill>
                  <a:srgbClr val="1F3864"/>
                </a:solidFill>
                <a:latin typeface="Times New Roman"/>
              </a:rPr>
              <a:t>top match score, gold-standard resume (rank 1 of 12)</a:t>
            </a:r>
          </a:p>
        </p:txBody>
      </p:sp>
      <p:sp>
        <p:nvSpPr>
          <p:cNvPr id="33" name="Rounded Rectangle 32"/>
          <p:cNvSpPr/>
          <p:nvPr/>
        </p:nvSpPr>
        <p:spPr>
          <a:xfrm>
            <a:off x="9750000" y="1550000"/>
            <a:ext cx="2150000" cy="2150000"/>
          </a:xfrm>
          <a:prstGeom prst="roundRect">
            <a:avLst>
              <a:gd name="adj" fmla="val 12000"/>
            </a:avLst>
          </a:prstGeom>
          <a:solidFill>
            <a:srgbClr val="D9E2F3"/>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3000" b="1">
                <a:solidFill>
                  <a:srgbClr val="1F3864"/>
                </a:solidFill>
                <a:latin typeface="Times New Roman"/>
              </a:rPr>
              <a:t>29.6 ms</a:t>
            </a:r>
          </a:p>
          <a:p>
            <a:pPr algn="ctr"/>
            <a:r>
              <a:rPr sz="1300" b="0">
                <a:solidFill>
                  <a:srgbClr val="1F3864"/>
                </a:solidFill>
                <a:latin typeface="Times New Roman"/>
              </a:rPr>
              <a:t>total time per resume: parse 18.0, rank 3.8, council 7.8</a:t>
            </a:r>
          </a:p>
        </p:txBody>
      </p:sp>
      <p:sp>
        <p:nvSpPr>
          <p:cNvPr id="34" name="Rounded Rectangle 33"/>
          <p:cNvSpPr/>
          <p:nvPr/>
        </p:nvSpPr>
        <p:spPr>
          <a:xfrm>
            <a:off x="7500000" y="3850000"/>
            <a:ext cx="2150000" cy="2150000"/>
          </a:xfrm>
          <a:prstGeom prst="roundRect">
            <a:avLst>
              <a:gd name="adj" fmla="val 12000"/>
            </a:avLst>
          </a:prstGeom>
          <a:solidFill>
            <a:srgbClr val="D9E2F3"/>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3000" b="1">
                <a:solidFill>
                  <a:srgbClr val="1F3864"/>
                </a:solidFill>
                <a:latin typeface="Times New Roman"/>
              </a:rPr>
              <a:t>0.0</a:t>
            </a:r>
          </a:p>
          <a:p>
            <a:pPr algn="ctr"/>
            <a:r>
              <a:rPr sz="1300" b="0">
                <a:solidFill>
                  <a:srgbClr val="1F3864"/>
                </a:solidFill>
                <a:latin typeface="Times New Roman"/>
              </a:rPr>
              <a:t>score change when a candidate's name is swapped</a:t>
            </a:r>
          </a:p>
        </p:txBody>
      </p:sp>
      <p:sp>
        <p:nvSpPr>
          <p:cNvPr id="35" name="Rounded Rectangle 34"/>
          <p:cNvSpPr/>
          <p:nvPr/>
        </p:nvSpPr>
        <p:spPr>
          <a:xfrm>
            <a:off x="9750000" y="3850000"/>
            <a:ext cx="2150000" cy="2150000"/>
          </a:xfrm>
          <a:prstGeom prst="roundRect">
            <a:avLst>
              <a:gd name="adj" fmla="val 12000"/>
            </a:avLst>
          </a:prstGeom>
          <a:solidFill>
            <a:srgbClr val="D9E2F3"/>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3000" b="1">
                <a:solidFill>
                  <a:srgbClr val="1F3864"/>
                </a:solidFill>
                <a:latin typeface="Times New Roman"/>
              </a:rPr>
              <a:t>0.97</a:t>
            </a:r>
          </a:p>
          <a:p>
            <a:pPr algn="ctr"/>
            <a:r>
              <a:rPr sz="1300" b="0">
                <a:solidFill>
                  <a:srgbClr val="1F3864"/>
                </a:solidFill>
                <a:latin typeface="Times New Roman"/>
              </a:rPr>
              <a:t>average rank correlation over 200 random weight changes</a:t>
            </a:r>
          </a:p>
        </p:txBody>
      </p:sp>
    </p:spTree>
    <p:extLst>
      <p:ext uri="{BB962C8B-B14F-4D97-AF65-F5344CB8AC3E}">
        <p14:creationId xmlns:p14="http://schemas.microsoft.com/office/powerpoint/2010/main" val="27202180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1F1B3-16F9-33A6-7BC1-3D66BE776A18}"/>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DCFBD738-DE7B-E1D1-D54F-E8A4AF92979D}"/>
              </a:ext>
            </a:extLst>
          </p:cNvPr>
          <p:cNvGrpSpPr/>
          <p:nvPr/>
        </p:nvGrpSpPr>
        <p:grpSpPr>
          <a:xfrm>
            <a:off x="0" y="6392367"/>
            <a:ext cx="12192000" cy="546100"/>
            <a:chOff x="0" y="0"/>
            <a:chExt cx="6186311" cy="277095"/>
          </a:xfrm>
          <a:solidFill>
            <a:srgbClr val="FFC000"/>
          </a:solidFill>
        </p:grpSpPr>
        <p:sp>
          <p:nvSpPr>
            <p:cNvPr id="20" name="Freeform 3">
              <a:extLst>
                <a:ext uri="{FF2B5EF4-FFF2-40B4-BE49-F238E27FC236}">
                  <a16:creationId xmlns:a16="http://schemas.microsoft.com/office/drawing/2014/main" id="{39222298-D899-8163-FB51-B55E9790DDCF}"/>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31C53A6C-B4D7-4975-DDF2-5C1D445DC574}"/>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B4547B33-6F1D-3E0E-7246-FA0446CF05EC}"/>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E1ED0F8B-76B3-B89C-1ADD-B4E1E9CBBDED}"/>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1CC6AD5D-6026-C162-97E2-4F656A18BA20}"/>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54FC0884-8289-421F-B607-AB6A03EC1B08}"/>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C5074D3C-D288-2AA3-3A50-CC4F90102368}"/>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1" name="Picture 10">
            <a:extLst>
              <a:ext uri="{FF2B5EF4-FFF2-40B4-BE49-F238E27FC236}">
                <a16:creationId xmlns:a16="http://schemas.microsoft.com/office/drawing/2014/main" id="{98DB0D12-C9D0-86A4-23C0-96658FC5A8E3}"/>
              </a:ext>
            </a:extLst>
          </p:cNvPr>
          <p:cNvPicPr>
            <a:picLocks noChangeAspect="1"/>
          </p:cNvPicPr>
          <p:nvPr/>
        </p:nvPicPr>
        <p:blipFill rotWithShape="1">
          <a:blip r:embed="rId11">
            <a:extLst>
              <a:ext uri="{28A0092B-C50C-407E-A947-70E740481C1C}">
                <a14:useLocalDpi xmlns:a14="http://schemas.microsoft.com/office/drawing/2010/main" val="0"/>
              </a:ext>
            </a:extLst>
          </a:blip>
          <a:srcRect l="1258" t="6458" r="666" b="6557"/>
          <a:stretch/>
        </p:blipFill>
        <p:spPr>
          <a:xfrm>
            <a:off x="0" y="-15722"/>
            <a:ext cx="11257935" cy="955522"/>
          </a:xfrm>
          <a:prstGeom prst="rect">
            <a:avLst/>
          </a:prstGeom>
        </p:spPr>
      </p:pic>
      <p:sp>
        <p:nvSpPr>
          <p:cNvPr id="14" name="Content Placeholder 3">
            <a:extLst>
              <a:ext uri="{FF2B5EF4-FFF2-40B4-BE49-F238E27FC236}">
                <a16:creationId xmlns:a16="http://schemas.microsoft.com/office/drawing/2014/main" id="{D6251A4B-FD3B-9795-F27F-B73710F121C6}"/>
              </a:ext>
            </a:extLst>
          </p:cNvPr>
          <p:cNvSpPr txBox="1">
            <a:spLocks/>
          </p:cNvSpPr>
          <p:nvPr/>
        </p:nvSpPr>
        <p:spPr>
          <a:xfrm>
            <a:off x="123825" y="1026160"/>
            <a:ext cx="11383645" cy="504444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9AC217B8-3E78-9C7F-00B1-D498E196D81D}"/>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
        <p:nvSpPr>
          <p:cNvPr id="4" name="Rectangle 3">
            <a:extLst>
              <a:ext uri="{FF2B5EF4-FFF2-40B4-BE49-F238E27FC236}">
                <a16:creationId xmlns:a16="http://schemas.microsoft.com/office/drawing/2014/main" id="{A344EAD2-0402-4E17-26A2-D09C467C0966}"/>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72D27B62-1100-EB26-59EF-B4C6E5F9A81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1311383" y="58917"/>
            <a:ext cx="720000" cy="720000"/>
          </a:xfrm>
          <a:prstGeom prst="rect">
            <a:avLst/>
          </a:prstGeom>
        </p:spPr>
      </p:pic>
      <p:sp>
        <p:nvSpPr>
          <p:cNvPr id="31" name="Title"/>
          <p:cNvSpPr txBox="1"/>
          <p:nvPr/>
        </p:nvSpPr>
        <p:spPr>
          <a:xfrm>
            <a:off x="264816" y="1000000"/>
            <a:ext cx="9000000" cy="523220"/>
          </a:xfrm>
          <a:prstGeom prst="rect">
            <a:avLst/>
          </a:prstGeom>
          <a:noFill/>
        </p:spPr>
        <p:txBody>
          <a:bodyPr wrap="square" anchor="t" lIns="60000" rIns="60000" tIns="30000" bIns="30000">
            <a:spAutoFit/>
          </a:bodyPr>
          <a:lstStyle/>
          <a:p>
            <a:pPr algn="l">
              <a:lnSpc>
                <a:spcPct val="115000"/>
              </a:lnSpc>
              <a:spcAft>
                <a:spcPts val="600"/>
              </a:spcAft>
            </a:pPr>
            <a:r>
              <a:rPr sz="2800" b="1">
                <a:solidFill>
                  <a:srgbClr val="000000"/>
                </a:solidFill>
                <a:latin typeface="Times New Roman"/>
              </a:rPr>
              <a:t>RESULTS (CONTD.)</a:t>
            </a:r>
          </a:p>
        </p:txBody>
      </p:sp>
      <p:pic>
        <p:nvPicPr>
          <p:cNvPr id="32" name="Picture 31" descr="img_fig_leaderboard.jpg"/>
          <p:cNvPicPr>
            <a:picLocks noChangeAspect="1"/>
          </p:cNvPicPr>
          <p:nvPr/>
        </p:nvPicPr>
        <p:blipFill>
          <a:blip r:embed="rId15"/>
          <a:stretch>
            <a:fillRect/>
          </a:stretch>
        </p:blipFill>
        <p:spPr>
          <a:xfrm>
            <a:off x="700000" y="1500000"/>
            <a:ext cx="4338565" cy="4300000"/>
          </a:xfrm>
          <a:prstGeom prst="rect">
            <a:avLst/>
          </a:prstGeom>
          <a:ln w="9525">
            <a:solidFill>
              <a:srgbClr val="BFBFBF"/>
            </a:solidFill>
          </a:ln>
        </p:spPr>
      </p:pic>
      <p:pic>
        <p:nvPicPr>
          <p:cNvPr id="33" name="Picture 32" descr="img_fig_blind_screening.jpg"/>
          <p:cNvPicPr>
            <a:picLocks noChangeAspect="1"/>
          </p:cNvPicPr>
          <p:nvPr/>
        </p:nvPicPr>
        <p:blipFill>
          <a:blip r:embed="rId16"/>
          <a:stretch>
            <a:fillRect/>
          </a:stretch>
        </p:blipFill>
        <p:spPr>
          <a:xfrm>
            <a:off x="5438565" y="1500000"/>
            <a:ext cx="3325571" cy="4300000"/>
          </a:xfrm>
          <a:prstGeom prst="rect">
            <a:avLst/>
          </a:prstGeom>
          <a:ln w="9525">
            <a:solidFill>
              <a:srgbClr val="BFBFBF"/>
            </a:solidFill>
          </a:ln>
        </p:spPr>
      </p:pic>
      <p:sp>
        <p:nvSpPr>
          <p:cNvPr id="34" name="TextBox 33"/>
          <p:cNvSpPr txBox="1"/>
          <p:nvPr/>
        </p:nvSpPr>
        <p:spPr>
          <a:xfrm>
            <a:off x="700000" y="5850000"/>
            <a:ext cx="4338565" cy="330000"/>
          </a:xfrm>
          <a:prstGeom prst="rect">
            <a:avLst/>
          </a:prstGeom>
          <a:noFill/>
        </p:spPr>
        <p:txBody>
          <a:bodyPr wrap="square" anchor="t" lIns="60000" rIns="60000" tIns="30000" bIns="30000">
            <a:spAutoFit/>
          </a:bodyPr>
          <a:lstStyle/>
          <a:p>
            <a:pPr algn="ctr">
              <a:lnSpc>
                <a:spcPct val="115000"/>
              </a:lnSpc>
              <a:spcAft>
                <a:spcPts val="600"/>
              </a:spcAft>
            </a:pPr>
            <a:r>
              <a:rPr sz="1400" b="0">
                <a:solidFill>
                  <a:srgbClr val="595959"/>
                </a:solidFill>
                <a:latin typeface="Times New Roman"/>
              </a:rPr>
              <a:t>(a) Leaderboard with verified evidence</a:t>
            </a:r>
          </a:p>
        </p:txBody>
      </p:sp>
      <p:sp>
        <p:nvSpPr>
          <p:cNvPr id="35" name="TextBox 34"/>
          <p:cNvSpPr txBox="1"/>
          <p:nvPr/>
        </p:nvSpPr>
        <p:spPr>
          <a:xfrm>
            <a:off x="5438565" y="5850000"/>
            <a:ext cx="3325571" cy="330000"/>
          </a:xfrm>
          <a:prstGeom prst="rect">
            <a:avLst/>
          </a:prstGeom>
          <a:noFill/>
        </p:spPr>
        <p:txBody>
          <a:bodyPr wrap="square" anchor="t" lIns="60000" rIns="60000" tIns="30000" bIns="30000">
            <a:spAutoFit/>
          </a:bodyPr>
          <a:lstStyle/>
          <a:p>
            <a:pPr algn="ctr">
              <a:lnSpc>
                <a:spcPct val="115000"/>
              </a:lnSpc>
              <a:spcAft>
                <a:spcPts val="600"/>
              </a:spcAft>
            </a:pPr>
            <a:r>
              <a:rPr sz="1400" b="0">
                <a:solidFill>
                  <a:srgbClr val="595959"/>
                </a:solidFill>
                <a:latin typeface="Times New Roman"/>
              </a:rPr>
              <a:t>(b) Blind screening on: identities hidden</a:t>
            </a:r>
          </a:p>
        </p:txBody>
      </p:sp>
    </p:spTree>
    <p:extLst>
      <p:ext uri="{BB962C8B-B14F-4D97-AF65-F5344CB8AC3E}">
        <p14:creationId xmlns:p14="http://schemas.microsoft.com/office/powerpoint/2010/main" val="29154705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DA74F-E32B-3897-E07B-78BE28246F49}"/>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F98D7D66-A49B-2F96-518C-F83A485A8AB5}"/>
              </a:ext>
            </a:extLst>
          </p:cNvPr>
          <p:cNvGrpSpPr/>
          <p:nvPr/>
        </p:nvGrpSpPr>
        <p:grpSpPr>
          <a:xfrm>
            <a:off x="0" y="6392367"/>
            <a:ext cx="12192000" cy="546100"/>
            <a:chOff x="0" y="0"/>
            <a:chExt cx="6186311" cy="277095"/>
          </a:xfrm>
          <a:solidFill>
            <a:srgbClr val="FFC000"/>
          </a:solidFill>
        </p:grpSpPr>
        <p:sp>
          <p:nvSpPr>
            <p:cNvPr id="20" name="Freeform 3">
              <a:extLst>
                <a:ext uri="{FF2B5EF4-FFF2-40B4-BE49-F238E27FC236}">
                  <a16:creationId xmlns:a16="http://schemas.microsoft.com/office/drawing/2014/main" id="{2FA13F83-FB3C-0185-FA1D-C7C9CC055B32}"/>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3DC15FB3-F13A-08DF-8E44-5AF5DCBA04F8}"/>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32A618E5-A7C8-8936-0C64-C004DB9D0603}"/>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28E53DAF-8619-21F6-A4C0-4054848C4E5C}"/>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0C51AD4B-B822-95A3-9AD4-1C386A96A6E9}"/>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CBC64D64-46EF-1C46-6137-E70B9422B492}"/>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E43080DD-B5E5-EDDA-64BA-DBC2FB0FCEAD}"/>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1" name="Picture 10">
            <a:extLst>
              <a:ext uri="{FF2B5EF4-FFF2-40B4-BE49-F238E27FC236}">
                <a16:creationId xmlns:a16="http://schemas.microsoft.com/office/drawing/2014/main" id="{5CAF1612-4A33-BF6B-8305-495A13DB5777}"/>
              </a:ext>
            </a:extLst>
          </p:cNvPr>
          <p:cNvPicPr>
            <a:picLocks noChangeAspect="1"/>
          </p:cNvPicPr>
          <p:nvPr/>
        </p:nvPicPr>
        <p:blipFill rotWithShape="1">
          <a:blip r:embed="rId11">
            <a:extLst>
              <a:ext uri="{28A0092B-C50C-407E-A947-70E740481C1C}">
                <a14:useLocalDpi xmlns:a14="http://schemas.microsoft.com/office/drawing/2010/main" val="0"/>
              </a:ext>
            </a:extLst>
          </a:blip>
          <a:srcRect l="1258" t="6458" r="666" b="6557"/>
          <a:stretch/>
        </p:blipFill>
        <p:spPr>
          <a:xfrm>
            <a:off x="0" y="-15722"/>
            <a:ext cx="11257935" cy="955522"/>
          </a:xfrm>
          <a:prstGeom prst="rect">
            <a:avLst/>
          </a:prstGeom>
        </p:spPr>
      </p:pic>
      <p:sp>
        <p:nvSpPr>
          <p:cNvPr id="14" name="Content Placeholder 3">
            <a:extLst>
              <a:ext uri="{FF2B5EF4-FFF2-40B4-BE49-F238E27FC236}">
                <a16:creationId xmlns:a16="http://schemas.microsoft.com/office/drawing/2014/main" id="{ECD96C2D-2D74-E46F-774A-E81393E9D5EC}"/>
              </a:ext>
            </a:extLst>
          </p:cNvPr>
          <p:cNvSpPr txBox="1">
            <a:spLocks/>
          </p:cNvSpPr>
          <p:nvPr/>
        </p:nvSpPr>
        <p:spPr>
          <a:xfrm>
            <a:off x="123825" y="1026160"/>
            <a:ext cx="11383645" cy="504444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5DA42C77-A6CB-A07F-E212-482D0090B29E}"/>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
        <p:nvSpPr>
          <p:cNvPr id="4" name="Rectangle 3">
            <a:extLst>
              <a:ext uri="{FF2B5EF4-FFF2-40B4-BE49-F238E27FC236}">
                <a16:creationId xmlns:a16="http://schemas.microsoft.com/office/drawing/2014/main" id="{0813E838-DE8F-28F2-A5FD-98D362E2C593}"/>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3908080F-2F90-654E-309C-886043A6622F}"/>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1311383" y="58917"/>
            <a:ext cx="720000" cy="720000"/>
          </a:xfrm>
          <a:prstGeom prst="rect">
            <a:avLst/>
          </a:prstGeom>
        </p:spPr>
      </p:pic>
      <p:sp>
        <p:nvSpPr>
          <p:cNvPr id="31" name="Title"/>
          <p:cNvSpPr txBox="1"/>
          <p:nvPr/>
        </p:nvSpPr>
        <p:spPr>
          <a:xfrm>
            <a:off x="264816" y="1000000"/>
            <a:ext cx="9000000" cy="523220"/>
          </a:xfrm>
          <a:prstGeom prst="rect">
            <a:avLst/>
          </a:prstGeom>
          <a:noFill/>
        </p:spPr>
        <p:txBody>
          <a:bodyPr wrap="square" anchor="t" lIns="60000" rIns="60000" tIns="30000" bIns="30000">
            <a:spAutoFit/>
          </a:bodyPr>
          <a:lstStyle/>
          <a:p>
            <a:pPr algn="l">
              <a:lnSpc>
                <a:spcPct val="115000"/>
              </a:lnSpc>
              <a:spcAft>
                <a:spcPts val="600"/>
              </a:spcAft>
            </a:pPr>
            <a:r>
              <a:rPr sz="2800" b="1">
                <a:solidFill>
                  <a:srgbClr val="000000"/>
                </a:solidFill>
                <a:latin typeface="Times New Roman"/>
              </a:rPr>
              <a:t>RECRUITER COPILOT</a:t>
            </a:r>
          </a:p>
        </p:txBody>
      </p:sp>
      <p:pic>
        <p:nvPicPr>
          <p:cNvPr id="32" name="Picture 31" descr="img_chat_flags.jpg"/>
          <p:cNvPicPr>
            <a:picLocks noChangeAspect="1"/>
          </p:cNvPicPr>
          <p:nvPr/>
        </p:nvPicPr>
        <p:blipFill>
          <a:blip r:embed="rId15"/>
          <a:stretch>
            <a:fillRect/>
          </a:stretch>
        </p:blipFill>
        <p:spPr>
          <a:xfrm>
            <a:off x="246615" y="1500000"/>
            <a:ext cx="5749385" cy="3900000"/>
          </a:xfrm>
          <a:prstGeom prst="rect">
            <a:avLst/>
          </a:prstGeom>
          <a:ln w="9525">
            <a:solidFill>
              <a:srgbClr val="BFBFBF"/>
            </a:solidFill>
          </a:ln>
        </p:spPr>
      </p:pic>
      <p:pic>
        <p:nvPicPr>
          <p:cNvPr id="33" name="Picture 32" descr="img_chat_followup.jpg"/>
          <p:cNvPicPr>
            <a:picLocks noChangeAspect="1"/>
          </p:cNvPicPr>
          <p:nvPr/>
        </p:nvPicPr>
        <p:blipFill>
          <a:blip r:embed="rId16"/>
          <a:stretch>
            <a:fillRect/>
          </a:stretch>
        </p:blipFill>
        <p:spPr>
          <a:xfrm>
            <a:off x="6196000" y="1500000"/>
            <a:ext cx="5749385" cy="3900000"/>
          </a:xfrm>
          <a:prstGeom prst="rect">
            <a:avLst/>
          </a:prstGeom>
          <a:ln w="9525">
            <a:solidFill>
              <a:srgbClr val="BFBFBF"/>
            </a:solidFill>
          </a:ln>
        </p:spPr>
      </p:pic>
      <p:sp>
        <p:nvSpPr>
          <p:cNvPr id="34" name="TextBox 33"/>
          <p:cNvSpPr txBox="1"/>
          <p:nvPr/>
        </p:nvSpPr>
        <p:spPr>
          <a:xfrm>
            <a:off x="300000" y="5460000"/>
            <a:ext cx="11600000" cy="330000"/>
          </a:xfrm>
          <a:prstGeom prst="rect">
            <a:avLst/>
          </a:prstGeom>
          <a:noFill/>
        </p:spPr>
        <p:txBody>
          <a:bodyPr wrap="square" anchor="t" lIns="60000" rIns="60000" tIns="30000" bIns="30000">
            <a:spAutoFit/>
          </a:bodyPr>
          <a:lstStyle/>
          <a:p>
            <a:pPr algn="ctr">
              <a:lnSpc>
                <a:spcPct val="115000"/>
              </a:lnSpc>
              <a:spcAft>
                <a:spcPts val="600"/>
              </a:spcAft>
            </a:pPr>
            <a:r>
              <a:rPr sz="1400" b="0">
                <a:solidFill>
                  <a:srgbClr val="595959"/>
                </a:solidFill>
                <a:latin typeface="Times New Roman"/>
              </a:rPr>
              <a:t>(a) Red-flag audit of the screened pool    (b) Follow-up questions with clickable suggestions</a:t>
            </a:r>
          </a:p>
        </p:txBody>
      </p:sp>
    </p:spTree>
    <p:extLst>
      <p:ext uri="{BB962C8B-B14F-4D97-AF65-F5344CB8AC3E}">
        <p14:creationId xmlns:p14="http://schemas.microsoft.com/office/powerpoint/2010/main" val="17183485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F93FE-A991-9996-FF51-6FC7F96DA21C}"/>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E091BC32-79A1-63D4-FAE2-52A04B5B0732}"/>
              </a:ext>
            </a:extLst>
          </p:cNvPr>
          <p:cNvGrpSpPr/>
          <p:nvPr/>
        </p:nvGrpSpPr>
        <p:grpSpPr>
          <a:xfrm>
            <a:off x="0" y="6392367"/>
            <a:ext cx="12192000" cy="546100"/>
            <a:chOff x="0" y="0"/>
            <a:chExt cx="6186311" cy="277095"/>
          </a:xfrm>
          <a:solidFill>
            <a:srgbClr val="FFC000"/>
          </a:solidFill>
        </p:grpSpPr>
        <p:sp>
          <p:nvSpPr>
            <p:cNvPr id="20" name="Freeform 3">
              <a:extLst>
                <a:ext uri="{FF2B5EF4-FFF2-40B4-BE49-F238E27FC236}">
                  <a16:creationId xmlns:a16="http://schemas.microsoft.com/office/drawing/2014/main" id="{CF331E95-14C5-56C3-A7F6-1AFCF5FDC1F5}"/>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EAE5F194-0274-1359-C3D0-F328F3667BB8}"/>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29875687-E241-F91E-0C36-71143ABC304E}"/>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A8381E14-9F70-A228-4ADB-9D2E320BB9E2}"/>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0D0DBA03-2026-2254-D5AE-3013EA1D0B4B}"/>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1AB4AA4C-6535-B5CF-C596-079D9BD8B8EE}"/>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8C5F4DFE-7C6D-2931-B1D0-770E4BF1E51F}"/>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1" name="Picture 10">
            <a:extLst>
              <a:ext uri="{FF2B5EF4-FFF2-40B4-BE49-F238E27FC236}">
                <a16:creationId xmlns:a16="http://schemas.microsoft.com/office/drawing/2014/main" id="{D3061978-8899-DE27-A50F-0A5204407ECE}"/>
              </a:ext>
            </a:extLst>
          </p:cNvPr>
          <p:cNvPicPr>
            <a:picLocks noChangeAspect="1"/>
          </p:cNvPicPr>
          <p:nvPr/>
        </p:nvPicPr>
        <p:blipFill rotWithShape="1">
          <a:blip r:embed="rId11">
            <a:extLst>
              <a:ext uri="{28A0092B-C50C-407E-A947-70E740481C1C}">
                <a14:useLocalDpi xmlns:a14="http://schemas.microsoft.com/office/drawing/2010/main" val="0"/>
              </a:ext>
            </a:extLst>
          </a:blip>
          <a:srcRect l="1258" t="6458" r="666" b="6557"/>
          <a:stretch/>
        </p:blipFill>
        <p:spPr>
          <a:xfrm>
            <a:off x="0" y="-15722"/>
            <a:ext cx="11257935" cy="955522"/>
          </a:xfrm>
          <a:prstGeom prst="rect">
            <a:avLst/>
          </a:prstGeom>
        </p:spPr>
      </p:pic>
      <p:sp>
        <p:nvSpPr>
          <p:cNvPr id="14" name="Content Placeholder 3">
            <a:extLst>
              <a:ext uri="{FF2B5EF4-FFF2-40B4-BE49-F238E27FC236}">
                <a16:creationId xmlns:a16="http://schemas.microsoft.com/office/drawing/2014/main" id="{A80D1916-45B5-50F8-4E2F-E5BB07271706}"/>
              </a:ext>
            </a:extLst>
          </p:cNvPr>
          <p:cNvSpPr txBox="1">
            <a:spLocks/>
          </p:cNvSpPr>
          <p:nvPr/>
        </p:nvSpPr>
        <p:spPr>
          <a:xfrm>
            <a:off x="123825" y="1026160"/>
            <a:ext cx="11383645" cy="504444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6ABF0A97-E0F1-9D97-539C-EF6BA3BD3EFB}"/>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
        <p:nvSpPr>
          <p:cNvPr id="4" name="Rectangle 3">
            <a:extLst>
              <a:ext uri="{FF2B5EF4-FFF2-40B4-BE49-F238E27FC236}">
                <a16:creationId xmlns:a16="http://schemas.microsoft.com/office/drawing/2014/main" id="{A44B33CF-BB11-36DA-91CA-0D544FC0DA35}"/>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AA4D5192-B1B0-4510-C082-1BD9BD6783B1}"/>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1311383" y="58917"/>
            <a:ext cx="720000" cy="720000"/>
          </a:xfrm>
          <a:prstGeom prst="rect">
            <a:avLst/>
          </a:prstGeom>
        </p:spPr>
      </p:pic>
      <p:sp>
        <p:nvSpPr>
          <p:cNvPr id="31" name="Title"/>
          <p:cNvSpPr txBox="1"/>
          <p:nvPr/>
        </p:nvSpPr>
        <p:spPr>
          <a:xfrm>
            <a:off x="264816" y="1000000"/>
            <a:ext cx="9000000" cy="523220"/>
          </a:xfrm>
          <a:prstGeom prst="rect">
            <a:avLst/>
          </a:prstGeom>
          <a:noFill/>
        </p:spPr>
        <p:txBody>
          <a:bodyPr wrap="square" anchor="t" lIns="60000" rIns="60000" tIns="30000" bIns="30000">
            <a:spAutoFit/>
          </a:bodyPr>
          <a:lstStyle/>
          <a:p>
            <a:pPr algn="l">
              <a:lnSpc>
                <a:spcPct val="115000"/>
              </a:lnSpc>
              <a:spcAft>
                <a:spcPts val="600"/>
              </a:spcAft>
            </a:pPr>
            <a:r>
              <a:rPr sz="2800" b="1">
                <a:solidFill>
                  <a:srgbClr val="000000"/>
                </a:solidFill>
                <a:latin typeface="Times New Roman"/>
              </a:rPr>
              <a:t>SPEED AND ROBUSTNESS</a:t>
            </a:r>
          </a:p>
        </p:txBody>
      </p:sp>
      <p:graphicFrame>
        <p:nvGraphicFramePr>
          <p:cNvPr id="32" name="Chart 31"/>
          <p:cNvGraphicFramePr>
            <a:graphicFrameLocks noGrp="1"/>
          </p:cNvGraphicFramePr>
          <p:nvPr/>
        </p:nvGraphicFramePr>
        <p:xfrm>
          <a:off x="260000" y="1600000"/>
          <a:ext cx="5600000" cy="4600000"/>
        </p:xfrm>
        <a:graphic>
          <a:graphicData uri="http://schemas.openxmlformats.org/drawingml/2006/chart">
            <c:chart xmlns:c="http://schemas.openxmlformats.org/drawingml/2006/chart" r:id="rId15"/>
          </a:graphicData>
        </a:graphic>
      </p:graphicFrame>
      <p:sp>
        <p:nvSpPr>
          <p:cNvPr id="33" name="TextBox 32"/>
          <p:cNvSpPr txBox="1"/>
          <p:nvPr/>
        </p:nvSpPr>
        <p:spPr>
          <a:xfrm>
            <a:off x="6100000" y="1650000"/>
            <a:ext cx="5800000" cy="4600000"/>
          </a:xfrm>
          <a:prstGeom prst="rect">
            <a:avLst/>
          </a:prstGeom>
          <a:noFill/>
        </p:spPr>
        <p:txBody>
          <a:bodyPr wrap="square" anchor="t" lIns="60000" rIns="60000" tIns="30000" bIns="30000">
            <a:spAutoFit/>
          </a:bodyPr>
          <a:lstStyle/>
          <a:p>
            <a:pPr algn="l" marL="285750" indent="-285750">
              <a:lnSpc>
                <a:spcPct val="115000"/>
              </a:lnSpc>
              <a:spcAft>
                <a:spcPts val="700"/>
              </a:spcAft>
              <a:buFont typeface="Arial"/>
              <a:buChar char="•"/>
            </a:pPr>
            <a:r>
              <a:rPr sz="1500" b="1">
                <a:solidFill>
                  <a:srgbClr val="000000"/>
                </a:solidFill>
                <a:latin typeface="Times New Roman"/>
              </a:rPr>
              <a:t>Fast: </a:t>
            </a:r>
            <a:r>
              <a:rPr sz="1500" b="0">
                <a:solidFill>
                  <a:srgbClr val="000000"/>
                </a:solidFill>
                <a:latin typeface="Times New Roman"/>
              </a:rPr>
              <a:t>about 30 ms per resume end to end, fully offline.</a:t>
            </a:r>
          </a:p>
          <a:p>
            <a:pPr algn="l" marL="285750" indent="-285750">
              <a:lnSpc>
                <a:spcPct val="115000"/>
              </a:lnSpc>
              <a:spcAft>
                <a:spcPts val="700"/>
              </a:spcAft>
              <a:buFont typeface="Arial"/>
              <a:buChar char="•"/>
            </a:pPr>
            <a:r>
              <a:rPr sz="1500" b="1">
                <a:solidFill>
                  <a:srgbClr val="000000"/>
                </a:solidFill>
                <a:latin typeface="Times New Roman"/>
              </a:rPr>
              <a:t>Stable: </a:t>
            </a:r>
            <a:r>
              <a:rPr sz="1500" b="0">
                <a:solidFill>
                  <a:srgbClr val="000000"/>
                </a:solidFill>
                <a:latin typeface="Times New Roman"/>
              </a:rPr>
              <a:t>over 200 random changes to the scoring weights, the top candidate stayed first in every run and the average rank correlation was 0.97.</a:t>
            </a:r>
          </a:p>
          <a:p>
            <a:pPr algn="l" marL="285750" indent="-285750">
              <a:lnSpc>
                <a:spcPct val="115000"/>
              </a:lnSpc>
              <a:spcAft>
                <a:spcPts val="700"/>
              </a:spcAft>
              <a:buFont typeface="Arial"/>
              <a:buChar char="•"/>
            </a:pPr>
            <a:r>
              <a:rPr sz="1500" b="1">
                <a:solidFill>
                  <a:srgbClr val="000000"/>
                </a:solidFill>
                <a:latin typeface="Times New Roman"/>
              </a:rPr>
              <a:t>Fair: </a:t>
            </a:r>
            <a:r>
              <a:rPr sz="1500" b="0">
                <a:solidFill>
                  <a:srgbClr val="000000"/>
                </a:solidFill>
                <a:latin typeface="Times New Roman"/>
              </a:rPr>
              <a:t>swapping names changed no score, in plain or blind mode.</a:t>
            </a:r>
          </a:p>
          <a:p>
            <a:pPr algn="l" marL="285750" indent="-285750">
              <a:lnSpc>
                <a:spcPct val="115000"/>
              </a:lnSpc>
              <a:spcAft>
                <a:spcPts val="700"/>
              </a:spcAft>
              <a:buFont typeface="Arial"/>
              <a:buChar char="•"/>
            </a:pPr>
            <a:r>
              <a:rPr sz="1500" b="1">
                <a:solidFill>
                  <a:srgbClr val="000000"/>
                </a:solidFill>
                <a:latin typeface="Times New Roman"/>
              </a:rPr>
              <a:t>Evidence matters: </a:t>
            </a:r>
            <a:r>
              <a:rPr sz="1500" b="0">
                <a:solidFill>
                  <a:srgbClr val="000000"/>
                </a:solidFill>
                <a:latin typeface="Times New Roman"/>
              </a:rPr>
              <a:t>removing evidence weighting turned two REJECT verdicts into LEAN HIRE.</a:t>
            </a:r>
          </a:p>
          <a:p>
            <a:pPr algn="l" marL="285750" indent="-285750">
              <a:lnSpc>
                <a:spcPct val="115000"/>
              </a:lnSpc>
              <a:spcAft>
                <a:spcPts val="700"/>
              </a:spcAft>
              <a:buFont typeface="Arial"/>
              <a:buChar char="•"/>
            </a:pPr>
            <a:r>
              <a:rPr sz="1500" b="1">
                <a:solidFill>
                  <a:srgbClr val="000000"/>
                </a:solidFill>
                <a:latin typeface="Times New Roman"/>
              </a:rPr>
              <a:t>Different from Phase 1: </a:t>
            </a:r>
            <a:r>
              <a:rPr sz="1500" b="0">
                <a:solidFill>
                  <a:srgbClr val="000000"/>
                </a:solidFill>
                <a:latin typeface="Times New Roman"/>
              </a:rPr>
              <a:t>rank correlation with the keyword baseline is only 0.67, so the ranking really changed.</a:t>
            </a:r>
          </a:p>
        </p:txBody>
      </p:sp>
    </p:spTree>
    <p:extLst>
      <p:ext uri="{BB962C8B-B14F-4D97-AF65-F5344CB8AC3E}">
        <p14:creationId xmlns:p14="http://schemas.microsoft.com/office/powerpoint/2010/main" val="40648652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6CB06-0710-787F-4F3A-46B40910DEE7}"/>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A8E9D660-D508-CF8A-74F2-F8B47AEC1D89}"/>
              </a:ext>
            </a:extLst>
          </p:cNvPr>
          <p:cNvGrpSpPr/>
          <p:nvPr/>
        </p:nvGrpSpPr>
        <p:grpSpPr>
          <a:xfrm>
            <a:off x="0" y="6392367"/>
            <a:ext cx="12192000" cy="546100"/>
            <a:chOff x="0" y="0"/>
            <a:chExt cx="6186311" cy="277095"/>
          </a:xfrm>
          <a:solidFill>
            <a:srgbClr val="FFC000"/>
          </a:solidFill>
        </p:grpSpPr>
        <p:sp>
          <p:nvSpPr>
            <p:cNvPr id="20" name="Freeform 3">
              <a:extLst>
                <a:ext uri="{FF2B5EF4-FFF2-40B4-BE49-F238E27FC236}">
                  <a16:creationId xmlns:a16="http://schemas.microsoft.com/office/drawing/2014/main" id="{FE6C9229-1402-046E-0747-093949CF72FD}"/>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B36C343C-39B3-AB8E-C361-563468F2AB1D}"/>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B5ABA894-BD1A-4D70-F7E7-49123BDD77E8}"/>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DA8B9397-82EF-5936-4AD7-DF32A70BD806}"/>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3EB9322A-2757-57B9-8B54-AAC37E0B61EF}"/>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7F1F9598-8EE8-03B2-186C-374D7ED7E455}"/>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10D52280-9C3D-653D-A351-88EDA8784D31}"/>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1" name="Picture 10">
            <a:extLst>
              <a:ext uri="{FF2B5EF4-FFF2-40B4-BE49-F238E27FC236}">
                <a16:creationId xmlns:a16="http://schemas.microsoft.com/office/drawing/2014/main" id="{3285AAF2-BF74-9885-2635-FF38ABAAC503}"/>
              </a:ext>
            </a:extLst>
          </p:cNvPr>
          <p:cNvPicPr>
            <a:picLocks noChangeAspect="1"/>
          </p:cNvPicPr>
          <p:nvPr/>
        </p:nvPicPr>
        <p:blipFill rotWithShape="1">
          <a:blip r:embed="rId11">
            <a:extLst>
              <a:ext uri="{28A0092B-C50C-407E-A947-70E740481C1C}">
                <a14:useLocalDpi xmlns:a14="http://schemas.microsoft.com/office/drawing/2010/main" val="0"/>
              </a:ext>
            </a:extLst>
          </a:blip>
          <a:srcRect l="1258" t="6458" r="666" b="6557"/>
          <a:stretch/>
        </p:blipFill>
        <p:spPr>
          <a:xfrm>
            <a:off x="0" y="-15722"/>
            <a:ext cx="11257935" cy="955522"/>
          </a:xfrm>
          <a:prstGeom prst="rect">
            <a:avLst/>
          </a:prstGeom>
        </p:spPr>
      </p:pic>
      <p:sp>
        <p:nvSpPr>
          <p:cNvPr id="14" name="Content Placeholder 3">
            <a:extLst>
              <a:ext uri="{FF2B5EF4-FFF2-40B4-BE49-F238E27FC236}">
                <a16:creationId xmlns:a16="http://schemas.microsoft.com/office/drawing/2014/main" id="{3F0E2EA6-485A-279B-D9F5-C04D2AB06045}"/>
              </a:ext>
            </a:extLst>
          </p:cNvPr>
          <p:cNvSpPr txBox="1">
            <a:spLocks/>
          </p:cNvSpPr>
          <p:nvPr/>
        </p:nvSpPr>
        <p:spPr>
          <a:xfrm>
            <a:off x="123825" y="1026160"/>
            <a:ext cx="11383645" cy="504444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87EFF9B7-0FFF-6AE1-DE9E-6B211544A746}"/>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
        <p:nvSpPr>
          <p:cNvPr id="4" name="Rectangle 3">
            <a:extLst>
              <a:ext uri="{FF2B5EF4-FFF2-40B4-BE49-F238E27FC236}">
                <a16:creationId xmlns:a16="http://schemas.microsoft.com/office/drawing/2014/main" id="{2D55065C-EF6C-4508-B602-92A0188A1A4D}"/>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1484CB72-AC30-C9B1-F7F2-E8F8A81CB9DD}"/>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1311383" y="58917"/>
            <a:ext cx="720000" cy="720000"/>
          </a:xfrm>
          <a:prstGeom prst="rect">
            <a:avLst/>
          </a:prstGeom>
        </p:spPr>
      </p:pic>
      <p:sp>
        <p:nvSpPr>
          <p:cNvPr id="31" name="Title"/>
          <p:cNvSpPr txBox="1"/>
          <p:nvPr/>
        </p:nvSpPr>
        <p:spPr>
          <a:xfrm>
            <a:off x="264816" y="1000000"/>
            <a:ext cx="9000000" cy="523220"/>
          </a:xfrm>
          <a:prstGeom prst="rect">
            <a:avLst/>
          </a:prstGeom>
          <a:noFill/>
        </p:spPr>
        <p:txBody>
          <a:bodyPr wrap="square" anchor="t" lIns="60000" rIns="60000" tIns="30000" bIns="30000">
            <a:spAutoFit/>
          </a:bodyPr>
          <a:lstStyle/>
          <a:p>
            <a:pPr algn="l">
              <a:lnSpc>
                <a:spcPct val="115000"/>
              </a:lnSpc>
              <a:spcAft>
                <a:spcPts val="600"/>
              </a:spcAft>
            </a:pPr>
            <a:r>
              <a:rPr sz="2800" b="1">
                <a:solidFill>
                  <a:srgbClr val="000000"/>
                </a:solidFill>
                <a:latin typeface="Times New Roman"/>
              </a:rPr>
              <a:t>BENCHMARK POOL OF 50 RESUMES</a:t>
            </a:r>
          </a:p>
        </p:txBody>
      </p:sp>
      <p:graphicFrame>
        <p:nvGraphicFramePr>
          <p:cNvPr id="32" name="Chart 31"/>
          <p:cNvGraphicFramePr>
            <a:graphicFrameLocks noGrp="1"/>
          </p:cNvGraphicFramePr>
          <p:nvPr/>
        </p:nvGraphicFramePr>
        <p:xfrm>
          <a:off x="260000" y="1600000"/>
          <a:ext cx="5600000" cy="4600000"/>
        </p:xfrm>
        <a:graphic>
          <a:graphicData uri="http://schemas.openxmlformats.org/drawingml/2006/chart">
            <c:chart xmlns:c="http://schemas.openxmlformats.org/drawingml/2006/chart" r:id="rId15"/>
          </a:graphicData>
        </a:graphic>
      </p:graphicFrame>
      <p:sp>
        <p:nvSpPr>
          <p:cNvPr id="33" name="TextBox 32"/>
          <p:cNvSpPr txBox="1"/>
          <p:nvPr/>
        </p:nvSpPr>
        <p:spPr>
          <a:xfrm>
            <a:off x="6100000" y="1650000"/>
            <a:ext cx="5800000" cy="4600000"/>
          </a:xfrm>
          <a:prstGeom prst="rect">
            <a:avLst/>
          </a:prstGeom>
          <a:noFill/>
        </p:spPr>
        <p:txBody>
          <a:bodyPr wrap="square" anchor="t" lIns="60000" rIns="60000" tIns="30000" bIns="30000">
            <a:spAutoFit/>
          </a:bodyPr>
          <a:lstStyle/>
          <a:p>
            <a:pPr algn="l" marL="285750" indent="-285750">
              <a:lnSpc>
                <a:spcPct val="115000"/>
              </a:lnSpc>
              <a:spcAft>
                <a:spcPts val="800"/>
              </a:spcAft>
              <a:buFont typeface="Arial"/>
              <a:buChar char="•"/>
            </a:pPr>
            <a:r>
              <a:rPr sz="1600" b="1">
                <a:solidFill>
                  <a:srgbClr val="000000"/>
                </a:solidFill>
                <a:latin typeface="Times New Roman"/>
              </a:rPr>
              <a:t>50 </a:t>
            </a:r>
            <a:r>
              <a:rPr sz="1600" b="0">
                <a:solidFill>
                  <a:srgbClr val="000000"/>
                </a:solidFill>
                <a:latin typeface="Times New Roman"/>
              </a:rPr>
              <a:t>synthetic resumes of different types were screened for the Senior Machine Learning Engineer role.</a:t>
            </a:r>
          </a:p>
          <a:p>
            <a:pPr algn="l" marL="285750" indent="-285750">
              <a:lnSpc>
                <a:spcPct val="115000"/>
              </a:lnSpc>
              <a:spcAft>
                <a:spcPts val="800"/>
              </a:spcAft>
              <a:buFont typeface="Arial"/>
              <a:buChar char="•"/>
            </a:pPr>
            <a:r>
              <a:rPr sz="1600" b="1">
                <a:solidFill>
                  <a:srgbClr val="000000"/>
                </a:solidFill>
                <a:latin typeface="Times New Roman"/>
              </a:rPr>
              <a:t>Top match: </a:t>
            </a:r>
            <a:r>
              <a:rPr sz="1600" b="0">
                <a:solidFill>
                  <a:srgbClr val="000000"/>
                </a:solidFill>
                <a:latin typeface="Times New Roman"/>
              </a:rPr>
              <a:t>93.2%, the gold-standard Data Platform Engineer with zero red flags.</a:t>
            </a:r>
          </a:p>
          <a:p>
            <a:pPr algn="l" marL="285750" indent="-285750">
              <a:lnSpc>
                <a:spcPct val="115000"/>
              </a:lnSpc>
              <a:spcAft>
                <a:spcPts val="800"/>
              </a:spcAft>
              <a:buFont typeface="Arial"/>
              <a:buChar char="•"/>
            </a:pPr>
            <a:r>
              <a:rPr sz="1600" b="1">
                <a:solidFill>
                  <a:srgbClr val="000000"/>
                </a:solidFill>
                <a:latin typeface="Times New Roman"/>
              </a:rPr>
              <a:t>Average match: </a:t>
            </a:r>
            <a:r>
              <a:rPr sz="1600" b="0">
                <a:solidFill>
                  <a:srgbClr val="000000"/>
                </a:solidFill>
                <a:latin typeface="Times New Roman"/>
              </a:rPr>
              <a:t>56.9% across the pool.</a:t>
            </a:r>
          </a:p>
          <a:p>
            <a:pPr algn="l" marL="285750" indent="-285750">
              <a:lnSpc>
                <a:spcPct val="115000"/>
              </a:lnSpc>
              <a:spcAft>
                <a:spcPts val="800"/>
              </a:spcAft>
              <a:buFont typeface="Arial"/>
              <a:buChar char="•"/>
            </a:pPr>
            <a:r>
              <a:rPr sz="1600" b="1">
                <a:solidFill>
                  <a:srgbClr val="000000"/>
                </a:solidFill>
                <a:latin typeface="Times New Roman"/>
              </a:rPr>
              <a:t>Verdicts: </a:t>
            </a:r>
            <a:r>
              <a:rPr sz="1600" b="0">
                <a:solidFill>
                  <a:srgbClr val="000000"/>
                </a:solidFill>
                <a:latin typeface="Times New Roman"/>
              </a:rPr>
              <a:t>10 Strong Hire, 10 Lean Hire and 30 Reject; 30 resumes carried at least one red flag.</a:t>
            </a:r>
          </a:p>
        </p:txBody>
      </p:sp>
    </p:spTree>
    <p:extLst>
      <p:ext uri="{BB962C8B-B14F-4D97-AF65-F5344CB8AC3E}">
        <p14:creationId xmlns:p14="http://schemas.microsoft.com/office/powerpoint/2010/main" val="23151444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829BF-2D4C-1A0C-BD3A-FEC2E4BB58FD}"/>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B1A764E5-D911-C5EC-3424-DCDD731E14AA}"/>
              </a:ext>
            </a:extLst>
          </p:cNvPr>
          <p:cNvGrpSpPr/>
          <p:nvPr/>
        </p:nvGrpSpPr>
        <p:grpSpPr>
          <a:xfrm>
            <a:off x="0" y="6392367"/>
            <a:ext cx="12192000" cy="546100"/>
            <a:chOff x="0" y="0"/>
            <a:chExt cx="6186311" cy="277095"/>
          </a:xfrm>
          <a:solidFill>
            <a:srgbClr val="FFC000"/>
          </a:solidFill>
        </p:grpSpPr>
        <p:sp>
          <p:nvSpPr>
            <p:cNvPr id="20" name="Freeform 3">
              <a:extLst>
                <a:ext uri="{FF2B5EF4-FFF2-40B4-BE49-F238E27FC236}">
                  <a16:creationId xmlns:a16="http://schemas.microsoft.com/office/drawing/2014/main" id="{2C852B47-E7A6-5EF6-2190-BB284BF36DA7}"/>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2BC104DD-3136-956C-5B10-CCD0B4880CDC}"/>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6BDCB159-B3A8-C6E4-3018-137A13C76A4A}"/>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11D28F93-F1B8-DF33-8D6F-AE7296753455}"/>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8A882D77-E8B8-F1FF-54C1-C55B06E02AB9}"/>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374FF4A1-ACEB-E716-04AA-A01689628609}"/>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03B7C64F-7DE1-F701-46F5-BA5EFABD8382}"/>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1" name="Picture 10">
            <a:extLst>
              <a:ext uri="{FF2B5EF4-FFF2-40B4-BE49-F238E27FC236}">
                <a16:creationId xmlns:a16="http://schemas.microsoft.com/office/drawing/2014/main" id="{740941C7-94FD-BAF3-0D44-B643A6DF0CE4}"/>
              </a:ext>
            </a:extLst>
          </p:cNvPr>
          <p:cNvPicPr>
            <a:picLocks noChangeAspect="1"/>
          </p:cNvPicPr>
          <p:nvPr/>
        </p:nvPicPr>
        <p:blipFill rotWithShape="1">
          <a:blip r:embed="rId11">
            <a:extLst>
              <a:ext uri="{28A0092B-C50C-407E-A947-70E740481C1C}">
                <a14:useLocalDpi xmlns:a14="http://schemas.microsoft.com/office/drawing/2010/main" val="0"/>
              </a:ext>
            </a:extLst>
          </a:blip>
          <a:srcRect l="1258" t="6458" r="666" b="6557"/>
          <a:stretch/>
        </p:blipFill>
        <p:spPr>
          <a:xfrm>
            <a:off x="0" y="-15722"/>
            <a:ext cx="11257935" cy="955522"/>
          </a:xfrm>
          <a:prstGeom prst="rect">
            <a:avLst/>
          </a:prstGeom>
        </p:spPr>
      </p:pic>
      <p:sp>
        <p:nvSpPr>
          <p:cNvPr id="14" name="Content Placeholder 3">
            <a:extLst>
              <a:ext uri="{FF2B5EF4-FFF2-40B4-BE49-F238E27FC236}">
                <a16:creationId xmlns:a16="http://schemas.microsoft.com/office/drawing/2014/main" id="{1CC5029B-0EDC-1924-F590-921C16587A93}"/>
              </a:ext>
            </a:extLst>
          </p:cNvPr>
          <p:cNvSpPr txBox="1">
            <a:spLocks/>
          </p:cNvSpPr>
          <p:nvPr/>
        </p:nvSpPr>
        <p:spPr>
          <a:xfrm>
            <a:off x="123825" y="1026160"/>
            <a:ext cx="11383645" cy="504444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481BA97B-66DF-ACCE-E0B9-64B7EE14CC1F}"/>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
        <p:nvSpPr>
          <p:cNvPr id="4" name="Rectangle 3">
            <a:extLst>
              <a:ext uri="{FF2B5EF4-FFF2-40B4-BE49-F238E27FC236}">
                <a16:creationId xmlns:a16="http://schemas.microsoft.com/office/drawing/2014/main" id="{DB18614C-068D-8342-08F7-80A2072773AD}"/>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19136AE5-99BC-E91C-5A70-FEFBCFC07AE3}"/>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1311383" y="58917"/>
            <a:ext cx="720000" cy="720000"/>
          </a:xfrm>
          <a:prstGeom prst="rect">
            <a:avLst/>
          </a:prstGeom>
        </p:spPr>
      </p:pic>
      <p:sp>
        <p:nvSpPr>
          <p:cNvPr id="5" name="TextBox 4">
            <a:extLst>
              <a:ext uri="{FF2B5EF4-FFF2-40B4-BE49-F238E27FC236}">
                <a16:creationId xmlns:a16="http://schemas.microsoft.com/office/drawing/2014/main" id="{CA8BDB92-CCFF-0900-5818-A4077CF725B1}"/>
              </a:ext>
            </a:extLst>
          </p:cNvPr>
          <p:cNvSpPr txBox="1"/>
          <p:nvPr/>
        </p:nvSpPr>
        <p:spPr>
          <a:xfrm>
            <a:off x="132408" y="988982"/>
            <a:ext cx="11119030" cy="5162054"/>
          </a:xfrm>
          <a:prstGeom prst="rect">
            <a:avLst/>
          </a:prstGeom>
          <a:noFill/>
        </p:spPr>
        <p:txBody>
          <a:bodyPr wrap="square">
            <a:spAutoFit/>
          </a:bodyPr>
          <a:lstStyle/>
          <a:p>
            <a:pPr marL="270510" marR="250190" algn="just">
              <a:lnSpc>
                <a:spcPct val="150000"/>
              </a:lnSpc>
              <a:spcBef>
                <a:spcPts val="1190"/>
              </a:spcBef>
              <a:buNone/>
            </a:pPr>
            <a:r>
              <a:rPr lang="en-US" sz="2800" b="1" dirty="0">
                <a:effectLst/>
                <a:latin typeface="Times New Roman" panose="02020603050405020304" pitchFamily="18" charset="0"/>
                <a:ea typeface="Times New Roman" panose="02020603050405020304" pitchFamily="18" charset="0"/>
              </a:rPr>
              <a:t>CONCLUSION</a:t>
            </a:r>
          </a:p>
          <a:p>
            <a:pPr marL="270510" marR="250190" algn="just">
              <a:lnSpc>
                <a:spcPct val="150000"/>
              </a:lnSpc>
              <a:spcBef>
                <a:spcPts val="1190"/>
              </a:spcBef>
              <a:buNone/>
            </a:pPr>
            <a:r>
              <a:rPr lang="en-US" sz="1600" dirty="0">
                <a:effectLst/>
                <a:latin typeface="Times New Roman" panose="02020603050405020304" pitchFamily="18" charset="0"/>
                <a:ea typeface="Times New Roman" panose="02020603050405020304" pitchFamily="18" charset="0"/>
              </a:rPr>
              <a:t>The AI-Powered Intelligent Recruitment System shows that resume screening can be fast, explainable and fair at the same time. It ranks candidates on seven weighted signals instead of simple keyword counts, understands related skills through a skill ontology, and hides identity details through blind screening before anyone is scored.</a:t>
            </a:r>
            <a:endParaRPr lang="en-IN" sz="1700" dirty="0">
              <a:effectLst/>
              <a:latin typeface="Times New Roman" panose="02020603050405020304" pitchFamily="18" charset="0"/>
              <a:ea typeface="Times New Roman" panose="02020603050405020304" pitchFamily="18" charset="0"/>
            </a:endParaRPr>
          </a:p>
          <a:p>
            <a:pPr marL="270510" marR="250190" algn="just">
              <a:lnSpc>
                <a:spcPct val="150000"/>
              </a:lnSpc>
              <a:spcBef>
                <a:spcPts val="1190"/>
              </a:spcBef>
              <a:buNone/>
            </a:pPr>
            <a:r>
              <a:rPr lang="en-US" sz="1600" dirty="0">
                <a:effectLst/>
                <a:latin typeface="Times New Roman" panose="02020603050405020304" pitchFamily="18" charset="0"/>
                <a:ea typeface="Times New Roman" panose="02020603050405020304" pitchFamily="18" charset="0"/>
              </a:rPr>
              <a:t>Every decision comes with a verdict, red flags and a reason, so recruiters can justify it. In testing, the system placed the strong candidate first and rejected resumes with inflated or badly formatted content, while processing each resume in about 30 milliseconds. Changing a candidate's name did not change any score. The system is also deployed as a multi-user web service with server-side authentication and a managed database.</a:t>
            </a:r>
            <a:endParaRPr lang="en-IN" sz="1700" dirty="0">
              <a:effectLst/>
              <a:latin typeface="Times New Roman" panose="02020603050405020304" pitchFamily="18" charset="0"/>
              <a:ea typeface="Times New Roman" panose="02020603050405020304" pitchFamily="18" charset="0"/>
            </a:endParaRPr>
          </a:p>
          <a:p>
            <a:pPr marL="270510" marR="250190" algn="just">
              <a:lnSpc>
                <a:spcPct val="150000"/>
              </a:lnSpc>
              <a:spcBef>
                <a:spcPts val="1190"/>
              </a:spcBef>
              <a:buNone/>
            </a:pPr>
            <a:r>
              <a:rPr lang="en-US" sz="1600" dirty="0">
                <a:effectLst/>
                <a:latin typeface="Times New Roman" panose="02020603050405020304" pitchFamily="18" charset="0"/>
                <a:ea typeface="Times New Roman" panose="02020603050405020304" pitchFamily="18" charset="0"/>
              </a:rPr>
              <a:t>Overall, the project shows that explainable AI can make hiring more transparent, consistent and trustworthy.</a:t>
            </a:r>
            <a:endParaRPr lang="en-IN" sz="17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7553069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2">
            <a:extLst>
              <a:ext uri="{FF2B5EF4-FFF2-40B4-BE49-F238E27FC236}">
                <a16:creationId xmlns:a16="http://schemas.microsoft.com/office/drawing/2014/main" id="{C2A77CD9-6D01-A8DB-C66D-BF03B69941D6}"/>
              </a:ext>
            </a:extLst>
          </p:cNvPr>
          <p:cNvGrpSpPr/>
          <p:nvPr/>
        </p:nvGrpSpPr>
        <p:grpSpPr>
          <a:xfrm>
            <a:off x="0" y="6311900"/>
            <a:ext cx="12192000" cy="546100"/>
            <a:chOff x="0" y="0"/>
            <a:chExt cx="6186311" cy="277095"/>
          </a:xfrm>
          <a:solidFill>
            <a:srgbClr val="FFC000"/>
          </a:solidFill>
        </p:grpSpPr>
        <p:sp>
          <p:nvSpPr>
            <p:cNvPr id="20" name="Freeform 3">
              <a:extLst>
                <a:ext uri="{FF2B5EF4-FFF2-40B4-BE49-F238E27FC236}">
                  <a16:creationId xmlns:a16="http://schemas.microsoft.com/office/drawing/2014/main" id="{78297845-B487-3D71-6C3A-180D740BEF2A}"/>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95BF16DE-C2ED-E5FA-FED5-20411081BC54}"/>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A38916BD-2F6C-8C5C-69F1-20EF826FFCFF}"/>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C0CB9FD8-D8C9-4709-8349-C8C9267E8324}"/>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DB4FE3B4-BB90-79D8-EB65-C10A428A39D1}"/>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6BEDBDB7-0B57-60B5-B67A-1FA0861D1DA9}"/>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BDC56BF2-92F3-3F12-F910-2816DF452EE8}"/>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1" name="Picture 10">
            <a:extLst>
              <a:ext uri="{FF2B5EF4-FFF2-40B4-BE49-F238E27FC236}">
                <a16:creationId xmlns:a16="http://schemas.microsoft.com/office/drawing/2014/main" id="{67C11B58-EB3F-0722-64C6-6988DC42213F}"/>
              </a:ext>
            </a:extLst>
          </p:cNvPr>
          <p:cNvPicPr>
            <a:picLocks noChangeAspect="1"/>
          </p:cNvPicPr>
          <p:nvPr/>
        </p:nvPicPr>
        <p:blipFill rotWithShape="1">
          <a:blip r:embed="rId11">
            <a:extLst>
              <a:ext uri="{28A0092B-C50C-407E-A947-70E740481C1C}">
                <a14:useLocalDpi xmlns:a14="http://schemas.microsoft.com/office/drawing/2010/main" val="0"/>
              </a:ext>
            </a:extLst>
          </a:blip>
          <a:srcRect l="1258" t="6458" r="666" b="6557"/>
          <a:stretch/>
        </p:blipFill>
        <p:spPr>
          <a:xfrm>
            <a:off x="0" y="-15722"/>
            <a:ext cx="12192000" cy="955522"/>
          </a:xfrm>
          <a:prstGeom prst="rect">
            <a:avLst/>
          </a:prstGeom>
        </p:spPr>
      </p:pic>
      <p:sp>
        <p:nvSpPr>
          <p:cNvPr id="14" name="TextBox 13">
            <a:extLst>
              <a:ext uri="{FF2B5EF4-FFF2-40B4-BE49-F238E27FC236}">
                <a16:creationId xmlns:a16="http://schemas.microsoft.com/office/drawing/2014/main" id="{97A57BB6-31D4-6EC3-CD80-CEB556713C89}"/>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
        <p:nvSpPr>
          <p:cNvPr id="3" name="TextBox 2">
            <a:extLst>
              <a:ext uri="{FF2B5EF4-FFF2-40B4-BE49-F238E27FC236}">
                <a16:creationId xmlns:a16="http://schemas.microsoft.com/office/drawing/2014/main" id="{3847C03B-FD70-AFE8-D9B6-B824A377C534}"/>
              </a:ext>
            </a:extLst>
          </p:cNvPr>
          <p:cNvSpPr txBox="1"/>
          <p:nvPr/>
        </p:nvSpPr>
        <p:spPr>
          <a:xfrm>
            <a:off x="256032" y="1162521"/>
            <a:ext cx="6145160"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FUTURE SCOPE</a:t>
            </a:r>
            <a:endParaRPr lang="en-IN" sz="2800" b="1" dirty="0"/>
          </a:p>
        </p:txBody>
      </p:sp>
      <p:sp>
        <p:nvSpPr>
          <p:cNvPr id="4" name="TextBox 3">
            <a:extLst>
              <a:ext uri="{FF2B5EF4-FFF2-40B4-BE49-F238E27FC236}">
                <a16:creationId xmlns:a16="http://schemas.microsoft.com/office/drawing/2014/main" id="{8DE737A7-8AF8-09F2-83FD-0D15C6274BF2}"/>
              </a:ext>
            </a:extLst>
          </p:cNvPr>
          <p:cNvSpPr txBox="1"/>
          <p:nvPr/>
        </p:nvSpPr>
        <p:spPr>
          <a:xfrm>
            <a:off x="612568" y="1822266"/>
            <a:ext cx="10800000" cy="2671309"/>
          </a:xfrm>
          <a:prstGeom prst="rect">
            <a:avLst/>
          </a:prstGeom>
          <a:noFill/>
        </p:spPr>
        <p:txBody>
          <a:bodyPr wrap="square" rtlCol="0">
            <a:spAutoFit/>
          </a:bodyPr>
          <a:lstStyle/>
          <a:p>
            <a:pPr marL="457200" indent="-457200" algn="just">
              <a:lnSpc>
                <a:spcPct val="150000"/>
              </a:lnSpc>
              <a:buFont typeface="+mj-lt"/>
              <a:buAutoNum type="arabicPeriod"/>
            </a:pPr>
            <a:r>
              <a:rPr lang="en-IN" sz="2200" dirty="0">
                <a:latin typeface="Times New Roman" panose="02020603050405020304" pitchFamily="18" charset="0"/>
                <a:cs typeface="Times New Roman" panose="02020603050405020304" pitchFamily="18" charset="0"/>
              </a:rPr>
              <a:t>The deployed system can be extended with role-based access, candidate consent and data-retention controls, and a stored screening history for each account.</a:t>
            </a:r>
          </a:p>
          <a:p>
            <a:pPr marL="457200" indent="-457200" algn="just">
              <a:lnSpc>
                <a:spcPct val="150000"/>
              </a:lnSpc>
              <a:buFont typeface="+mj-lt"/>
              <a:buAutoNum type="arabicPeriod"/>
            </a:pPr>
            <a:r>
              <a:rPr lang="en-IN" sz="2200" dirty="0">
                <a:latin typeface="Times New Roman" panose="02020603050405020304" pitchFamily="18" charset="0"/>
                <a:cs typeface="Times New Roman" panose="02020603050405020304" pitchFamily="18" charset="0"/>
              </a:rPr>
              <a:t>A larger set of labelled real hiring data can be used to validate and tune the scoring weights, and the evidence checks can be extended to LinkedIn, portfolios and resumes in more languages.</a:t>
            </a:r>
          </a:p>
          <a:p>
            <a:pPr marL="457200" indent="-457200" algn="just">
              <a:lnSpc>
                <a:spcPct val="150000"/>
              </a:lnSpc>
              <a:buFont typeface="+mj-lt"/>
              <a:buAutoNum type="arabicPeriod"/>
            </a:pPr>
            <a:r>
              <a:rPr lang="en-IN" sz="2200" dirty="0">
                <a:latin typeface="Times New Roman" panose="02020603050405020304" pitchFamily="18" charset="0"/>
                <a:cs typeface="Times New Roman" panose="02020603050405020304" pitchFamily="18" charset="0"/>
              </a:rPr>
              <a:t>Email and ATS integrations and a load test would prepare it for production use.</a:t>
            </a:r>
          </a:p>
        </p:txBody>
      </p:sp>
    </p:spTree>
    <p:extLst>
      <p:ext uri="{BB962C8B-B14F-4D97-AF65-F5344CB8AC3E}">
        <p14:creationId xmlns:p14="http://schemas.microsoft.com/office/powerpoint/2010/main" val="24995179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91578-F4EE-E0E8-2838-B509A23927B8}"/>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4C57980F-72A3-0451-EC4D-190BD8406AE1}"/>
              </a:ext>
            </a:extLst>
          </p:cNvPr>
          <p:cNvGrpSpPr/>
          <p:nvPr/>
        </p:nvGrpSpPr>
        <p:grpSpPr>
          <a:xfrm>
            <a:off x="0" y="6392367"/>
            <a:ext cx="12192000" cy="546100"/>
            <a:chOff x="0" y="0"/>
            <a:chExt cx="6186311" cy="277095"/>
          </a:xfrm>
          <a:solidFill>
            <a:srgbClr val="FFC000"/>
          </a:solidFill>
        </p:grpSpPr>
        <p:sp>
          <p:nvSpPr>
            <p:cNvPr id="20" name="Freeform 3">
              <a:extLst>
                <a:ext uri="{FF2B5EF4-FFF2-40B4-BE49-F238E27FC236}">
                  <a16:creationId xmlns:a16="http://schemas.microsoft.com/office/drawing/2014/main" id="{2987241D-E4C5-8AD5-55D0-AE4FF473C41E}"/>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6E9E1981-A832-DD94-0CED-55EE03CC4FFC}"/>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C209E90A-8753-E2FD-1B42-D040564EA998}"/>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12533E66-D35A-A9E4-8BBF-20010FA83465}"/>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E612FE27-C03D-4C4C-B5C9-9CC49B6C7B7C}"/>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913E125B-2FC3-BFCE-A532-1012FEEBBE27}"/>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B0ABF794-5E46-C6FB-A6FC-A53AD0832DAC}"/>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1" name="Picture 10">
            <a:extLst>
              <a:ext uri="{FF2B5EF4-FFF2-40B4-BE49-F238E27FC236}">
                <a16:creationId xmlns:a16="http://schemas.microsoft.com/office/drawing/2014/main" id="{A5587D45-E24F-ECAF-2D86-3ADCB4791295}"/>
              </a:ext>
            </a:extLst>
          </p:cNvPr>
          <p:cNvPicPr>
            <a:picLocks noChangeAspect="1"/>
          </p:cNvPicPr>
          <p:nvPr/>
        </p:nvPicPr>
        <p:blipFill rotWithShape="1">
          <a:blip r:embed="rId11">
            <a:extLst>
              <a:ext uri="{28A0092B-C50C-407E-A947-70E740481C1C}">
                <a14:useLocalDpi xmlns:a14="http://schemas.microsoft.com/office/drawing/2010/main" val="0"/>
              </a:ext>
            </a:extLst>
          </a:blip>
          <a:srcRect l="1258" t="6458" r="666" b="6557"/>
          <a:stretch/>
        </p:blipFill>
        <p:spPr>
          <a:xfrm>
            <a:off x="0" y="-15722"/>
            <a:ext cx="11257935" cy="955522"/>
          </a:xfrm>
          <a:prstGeom prst="rect">
            <a:avLst/>
          </a:prstGeom>
        </p:spPr>
      </p:pic>
      <p:sp>
        <p:nvSpPr>
          <p:cNvPr id="14" name="Content Placeholder 3">
            <a:extLst>
              <a:ext uri="{FF2B5EF4-FFF2-40B4-BE49-F238E27FC236}">
                <a16:creationId xmlns:a16="http://schemas.microsoft.com/office/drawing/2014/main" id="{226A7A8A-7C60-2A4A-A780-6DB8B7BB419C}"/>
              </a:ext>
            </a:extLst>
          </p:cNvPr>
          <p:cNvSpPr txBox="1">
            <a:spLocks/>
          </p:cNvSpPr>
          <p:nvPr/>
        </p:nvSpPr>
        <p:spPr>
          <a:xfrm>
            <a:off x="123825" y="1026160"/>
            <a:ext cx="11383645" cy="504444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8D8F4C3E-0557-599B-37FF-F0DD52458AE8}"/>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
        <p:nvSpPr>
          <p:cNvPr id="4" name="Rectangle 3">
            <a:extLst>
              <a:ext uri="{FF2B5EF4-FFF2-40B4-BE49-F238E27FC236}">
                <a16:creationId xmlns:a16="http://schemas.microsoft.com/office/drawing/2014/main" id="{AD5C73FC-39EF-46B1-B3A5-39A4472ABB07}"/>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53666261-A3B3-15D4-787C-141CA865737F}"/>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1311383" y="58917"/>
            <a:ext cx="720000" cy="720000"/>
          </a:xfrm>
          <a:prstGeom prst="rect">
            <a:avLst/>
          </a:prstGeom>
        </p:spPr>
      </p:pic>
      <p:sp>
        <p:nvSpPr>
          <p:cNvPr id="5" name="TextBox 4">
            <a:extLst>
              <a:ext uri="{FF2B5EF4-FFF2-40B4-BE49-F238E27FC236}">
                <a16:creationId xmlns:a16="http://schemas.microsoft.com/office/drawing/2014/main" id="{D998DA60-9349-DB2A-8FCF-E4F843A13974}"/>
              </a:ext>
            </a:extLst>
          </p:cNvPr>
          <p:cNvSpPr txBox="1"/>
          <p:nvPr/>
        </p:nvSpPr>
        <p:spPr>
          <a:xfrm>
            <a:off x="339213" y="999957"/>
            <a:ext cx="6145160"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REFERENCES</a:t>
            </a:r>
            <a:endParaRPr lang="en-IN" sz="2800" b="1" dirty="0"/>
          </a:p>
        </p:txBody>
      </p:sp>
      <p:sp>
        <p:nvSpPr>
          <p:cNvPr id="7" name="TextBox 6">
            <a:extLst>
              <a:ext uri="{FF2B5EF4-FFF2-40B4-BE49-F238E27FC236}">
                <a16:creationId xmlns:a16="http://schemas.microsoft.com/office/drawing/2014/main" id="{0C762C12-DAF2-EA29-62A2-F7F406E68A13}"/>
              </a:ext>
            </a:extLst>
          </p:cNvPr>
          <p:cNvSpPr txBox="1"/>
          <p:nvPr/>
        </p:nvSpPr>
        <p:spPr>
          <a:xfrm>
            <a:off x="500000" y="1400000"/>
            <a:ext cx="11200000" cy="4613058"/>
          </a:xfrm>
          <a:prstGeom prst="rect">
            <a:avLst/>
          </a:prstGeom>
          <a:noFill/>
        </p:spPr>
        <p:txBody>
          <a:bodyPr wrap="square">
            <a:spAutoFit/>
          </a:bodyPr>
          <a:lstStyle/>
          <a:p>
            <a:pPr marL="114300" indent="0">
              <a:lnSpc>
                <a:spcPct val="105000"/>
              </a:lnSpc>
              <a:spcBef>
                <a:spcPts val="5"/>
              </a:spcBef>
              <a:spcAft>
                <a:spcPts val="400"/>
              </a:spcAft>
              <a:buNone/>
            </a:pPr>
            <a:r>
              <a:rPr lang="en-US" sz="1500" dirty="0">
                <a:solidFill>
                  <a:srgbClr val="191611"/>
                </a:solidFill>
                <a:latin typeface="Times New Roman" panose="02020603050405020304" pitchFamily="18" charset="0"/>
                <a:cs typeface="Times New Roman" panose="02020603050405020304" pitchFamily="18" charset="0"/>
              </a:rPr>
              <a:t>[1] C. Qin et al., "Enhancing person-job fit for talent recruitment: An ability-aware neural network approach," ACM SIGIR, 2018.</a:t>
            </a:r>
          </a:p>
          <a:p>
            <a:pPr marL="114300" indent="0">
              <a:lnSpc>
                <a:spcPct val="105000"/>
              </a:lnSpc>
              <a:spcBef>
                <a:spcPts val="5"/>
              </a:spcBef>
              <a:spcAft>
                <a:spcPts val="400"/>
              </a:spcAft>
              <a:buNone/>
            </a:pPr>
            <a:r>
              <a:rPr lang="en-US" sz="1500" dirty="0">
                <a:solidFill>
                  <a:srgbClr val="191611"/>
                </a:solidFill>
                <a:latin typeface="Times New Roman" panose="02020603050405020304" pitchFamily="18" charset="0"/>
                <a:cs typeface="Times New Roman" panose="02020603050405020304" pitchFamily="18" charset="0"/>
              </a:rPr>
              <a:t>[2] V. Bhatia, P. Rawat, A. Kumar, and R. R. Shah, "End-to-end resume parsing and finding candidates for a job description using BERT," arXiv:1910.03089, 2019.</a:t>
            </a:r>
          </a:p>
          <a:p>
            <a:pPr marL="114300" indent="0">
              <a:lnSpc>
                <a:spcPct val="105000"/>
              </a:lnSpc>
              <a:spcBef>
                <a:spcPts val="5"/>
              </a:spcBef>
              <a:spcAft>
                <a:spcPts val="400"/>
              </a:spcAft>
              <a:buNone/>
            </a:pPr>
            <a:r>
              <a:rPr lang="en-US" sz="1500" dirty="0">
                <a:solidFill>
                  <a:srgbClr val="191611"/>
                </a:solidFill>
                <a:latin typeface="Times New Roman" panose="02020603050405020304" pitchFamily="18" charset="0"/>
                <a:cs typeface="Times New Roman" panose="02020603050405020304" pitchFamily="18" charset="0"/>
              </a:rPr>
              <a:t>[3] A. Deshmukh and A. R. Dahake, "Comparing BERT and Sentence-BERT for automated resume screening," IAES Int. J. Artif. Intell., vol. 14, no. 4, 2025.</a:t>
            </a:r>
          </a:p>
          <a:p>
            <a:pPr marL="114300" indent="0">
              <a:lnSpc>
                <a:spcPct val="105000"/>
              </a:lnSpc>
              <a:spcBef>
                <a:spcPts val="5"/>
              </a:spcBef>
              <a:spcAft>
                <a:spcPts val="400"/>
              </a:spcAft>
              <a:buNone/>
            </a:pPr>
            <a:r>
              <a:rPr lang="en-US" sz="1500" dirty="0">
                <a:solidFill>
                  <a:srgbClr val="191611"/>
                </a:solidFill>
                <a:latin typeface="Times New Roman" panose="02020603050405020304" pitchFamily="18" charset="0"/>
                <a:cs typeface="Times New Roman" panose="02020603050405020304" pitchFamily="18" charset="0"/>
              </a:rPr>
              <a:t>[4] N. Reimers and I. Gurevych, "Sentence-BERT: Sentence embeddings using Siamese BERT-networks," EMNLP-IJCNLP, 2019.</a:t>
            </a:r>
          </a:p>
          <a:p>
            <a:pPr marL="114300" indent="0">
              <a:lnSpc>
                <a:spcPct val="105000"/>
              </a:lnSpc>
              <a:spcBef>
                <a:spcPts val="5"/>
              </a:spcBef>
              <a:spcAft>
                <a:spcPts val="400"/>
              </a:spcAft>
              <a:buNone/>
            </a:pPr>
            <a:r>
              <a:rPr lang="en-US" sz="1500" dirty="0">
                <a:solidFill>
                  <a:srgbClr val="191611"/>
                </a:solidFill>
                <a:latin typeface="Times New Roman" panose="02020603050405020304" pitchFamily="18" charset="0"/>
                <a:cs typeface="Times New Roman" panose="02020603050405020304" pitchFamily="18" charset="0"/>
              </a:rPr>
              <a:t>[5] K. Wilson and A. Caliskan, "Gender, race, and intersectional bias in resume screening via language model retrieval," AAAI/ACM AIES, 2024.</a:t>
            </a:r>
          </a:p>
          <a:p>
            <a:pPr marL="114300" indent="0">
              <a:lnSpc>
                <a:spcPct val="105000"/>
              </a:lnSpc>
              <a:spcBef>
                <a:spcPts val="5"/>
              </a:spcBef>
              <a:spcAft>
                <a:spcPts val="400"/>
              </a:spcAft>
              <a:buNone/>
            </a:pPr>
            <a:r>
              <a:rPr lang="en-US" sz="1500" dirty="0">
                <a:solidFill>
                  <a:srgbClr val="191611"/>
                </a:solidFill>
                <a:latin typeface="Times New Roman" panose="02020603050405020304" pitchFamily="18" charset="0"/>
                <a:cs typeface="Times New Roman" panose="02020603050405020304" pitchFamily="18" charset="0"/>
              </a:rPr>
              <a:t>[6] L. Armstrong, A. Liu, S. MacNeil, and D. Metaxa, "The silicon ceiling: Auditing GPT's race and gender biases in hiring," arXiv:2405.04412, 2024.</a:t>
            </a:r>
          </a:p>
          <a:p>
            <a:pPr marL="114300" indent="0">
              <a:lnSpc>
                <a:spcPct val="105000"/>
              </a:lnSpc>
              <a:spcBef>
                <a:spcPts val="5"/>
              </a:spcBef>
              <a:spcAft>
                <a:spcPts val="400"/>
              </a:spcAft>
              <a:buNone/>
            </a:pPr>
            <a:r>
              <a:rPr lang="en-US" sz="1500" dirty="0">
                <a:solidFill>
                  <a:srgbClr val="191611"/>
                </a:solidFill>
                <a:latin typeface="Times New Roman" panose="02020603050405020304" pitchFamily="18" charset="0"/>
                <a:cs typeface="Times New Roman" panose="02020603050405020304" pitchFamily="18" charset="0"/>
              </a:rPr>
              <a:t>[7] M. Raghavan, S. Barocas, J. Kleinberg, and K. Levy, "Mitigating bias in algorithmic hiring: Evaluating claims and practices," ACM FAT*, 2020.</a:t>
            </a:r>
          </a:p>
          <a:p>
            <a:pPr marL="114300" indent="0">
              <a:lnSpc>
                <a:spcPct val="105000"/>
              </a:lnSpc>
              <a:spcBef>
                <a:spcPts val="5"/>
              </a:spcBef>
              <a:spcAft>
                <a:spcPts val="400"/>
              </a:spcAft>
              <a:buNone/>
            </a:pPr>
            <a:r>
              <a:rPr lang="en-US" sz="1500" dirty="0">
                <a:solidFill>
                  <a:srgbClr val="191611"/>
                </a:solidFill>
                <a:latin typeface="Times New Roman" panose="02020603050405020304" pitchFamily="18" charset="0"/>
                <a:cs typeface="Times New Roman" panose="02020603050405020304" pitchFamily="18" charset="0"/>
              </a:rPr>
              <a:t>[8] M. Zehlike et al., "FA*IR: A fair top-k ranking algorithm," ACM CIKM, 2017.</a:t>
            </a:r>
          </a:p>
          <a:p>
            <a:pPr marL="114300" indent="0">
              <a:lnSpc>
                <a:spcPct val="105000"/>
              </a:lnSpc>
              <a:spcBef>
                <a:spcPts val="5"/>
              </a:spcBef>
              <a:spcAft>
                <a:spcPts val="400"/>
              </a:spcAft>
              <a:buNone/>
            </a:pPr>
            <a:r>
              <a:rPr lang="en-US" sz="1500" dirty="0">
                <a:solidFill>
                  <a:srgbClr val="191611"/>
                </a:solidFill>
                <a:latin typeface="Times New Roman" panose="02020603050405020304" pitchFamily="18" charset="0"/>
                <a:cs typeface="Times New Roman" panose="02020603050405020304" pitchFamily="18" charset="0"/>
              </a:rPr>
              <a:t>[9] Y. Du et al., "Improving factuality and reasoning in language models through multiagent debate," ICML, 2024.</a:t>
            </a:r>
          </a:p>
          <a:p>
            <a:pPr marL="114300" indent="0">
              <a:lnSpc>
                <a:spcPct val="105000"/>
              </a:lnSpc>
              <a:spcBef>
                <a:spcPts val="5"/>
              </a:spcBef>
              <a:spcAft>
                <a:spcPts val="400"/>
              </a:spcAft>
              <a:buNone/>
            </a:pPr>
            <a:r>
              <a:rPr lang="en-US" sz="1500" dirty="0">
                <a:solidFill>
                  <a:srgbClr val="191611"/>
                </a:solidFill>
                <a:latin typeface="Times New Roman" panose="02020603050405020304" pitchFamily="18" charset="0"/>
                <a:cs typeface="Times New Roman" panose="02020603050405020304" pitchFamily="18" charset="0"/>
              </a:rPr>
              <a:t>[10] C. Qin et al., "A comprehensive survey of artificial intelligence techniques for talent analytics," arXiv:2307.03195, 2023.</a:t>
            </a:r>
          </a:p>
        </p:txBody>
      </p:sp>
    </p:spTree>
    <p:extLst>
      <p:ext uri="{BB962C8B-B14F-4D97-AF65-F5344CB8AC3E}">
        <p14:creationId xmlns:p14="http://schemas.microsoft.com/office/powerpoint/2010/main" val="38686151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0E2CE-15D5-3B92-75D1-CB3215351698}"/>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0FCE4464-46BE-231D-6474-18C1CD378C69}"/>
              </a:ext>
            </a:extLst>
          </p:cNvPr>
          <p:cNvGrpSpPr/>
          <p:nvPr/>
        </p:nvGrpSpPr>
        <p:grpSpPr>
          <a:xfrm>
            <a:off x="0" y="6311900"/>
            <a:ext cx="12192000" cy="546100"/>
            <a:chOff x="0" y="0"/>
            <a:chExt cx="6186311" cy="277095"/>
          </a:xfrm>
          <a:solidFill>
            <a:srgbClr val="FFC000"/>
          </a:solidFill>
        </p:grpSpPr>
        <p:sp>
          <p:nvSpPr>
            <p:cNvPr id="20" name="Freeform 3">
              <a:extLst>
                <a:ext uri="{FF2B5EF4-FFF2-40B4-BE49-F238E27FC236}">
                  <a16:creationId xmlns:a16="http://schemas.microsoft.com/office/drawing/2014/main" id="{62F8F72C-58C4-7F70-9CE7-52C106F85DFF}"/>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FB2D1C61-F25B-CC0C-AAB6-ACFD7EE4ADD0}"/>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3B093BA2-6F09-2543-F436-4E4D24EEE54F}"/>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48765AA6-4752-0653-56DC-A9AB1171B65B}"/>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563DDE25-17B9-93FC-B36F-89FAC8790AE9}"/>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24C1BD81-64C7-41A4-2789-6A2C82CB49D6}"/>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F8B7A71A-3438-3326-2DB9-C5D067ECE09E}"/>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1" name="Picture 10">
            <a:extLst>
              <a:ext uri="{FF2B5EF4-FFF2-40B4-BE49-F238E27FC236}">
                <a16:creationId xmlns:a16="http://schemas.microsoft.com/office/drawing/2014/main" id="{0AD8867D-32DE-9BE3-ED7A-D20032516E6D}"/>
              </a:ext>
            </a:extLst>
          </p:cNvPr>
          <p:cNvPicPr>
            <a:picLocks noChangeAspect="1"/>
          </p:cNvPicPr>
          <p:nvPr/>
        </p:nvPicPr>
        <p:blipFill rotWithShape="1">
          <a:blip r:embed="rId11">
            <a:extLst>
              <a:ext uri="{28A0092B-C50C-407E-A947-70E740481C1C}">
                <a14:useLocalDpi xmlns:a14="http://schemas.microsoft.com/office/drawing/2010/main" val="0"/>
              </a:ext>
            </a:extLst>
          </a:blip>
          <a:srcRect l="1258" t="6458" r="666" b="6557"/>
          <a:stretch/>
        </p:blipFill>
        <p:spPr>
          <a:xfrm>
            <a:off x="0" y="-15722"/>
            <a:ext cx="12192000" cy="955522"/>
          </a:xfrm>
          <a:prstGeom prst="rect">
            <a:avLst/>
          </a:prstGeom>
        </p:spPr>
      </p:pic>
      <p:sp>
        <p:nvSpPr>
          <p:cNvPr id="12" name="TextBox 11">
            <a:extLst>
              <a:ext uri="{FF2B5EF4-FFF2-40B4-BE49-F238E27FC236}">
                <a16:creationId xmlns:a16="http://schemas.microsoft.com/office/drawing/2014/main" id="{EA6F6BC9-423D-A1E7-35A8-8463D26B5F56}"/>
              </a:ext>
            </a:extLst>
          </p:cNvPr>
          <p:cNvSpPr txBox="1"/>
          <p:nvPr/>
        </p:nvSpPr>
        <p:spPr>
          <a:xfrm>
            <a:off x="3457415" y="2327596"/>
            <a:ext cx="5277170" cy="1938992"/>
          </a:xfrm>
          <a:prstGeom prst="rect">
            <a:avLst/>
          </a:prstGeom>
          <a:noFill/>
        </p:spPr>
        <p:txBody>
          <a:bodyPr wrap="square" rtlCol="0">
            <a:spAutoFit/>
          </a:bodyPr>
          <a:lstStyle/>
          <a:p>
            <a:r>
              <a:rPr lang="en-US" sz="6000" b="1" dirty="0">
                <a:latin typeface="Times New Roman" panose="02020603050405020304" pitchFamily="18" charset="0"/>
                <a:cs typeface="Times New Roman" panose="02020603050405020304" pitchFamily="18" charset="0"/>
              </a:rPr>
              <a:t>THANK      </a:t>
            </a:r>
          </a:p>
          <a:p>
            <a:r>
              <a:rPr lang="en-US" sz="6000" b="1" dirty="0">
                <a:latin typeface="Times New Roman" panose="02020603050405020304" pitchFamily="18" charset="0"/>
                <a:cs typeface="Times New Roman" panose="02020603050405020304" pitchFamily="18" charset="0"/>
              </a:rPr>
              <a:t>                YOU!</a:t>
            </a:r>
            <a:endParaRPr lang="en-IN" sz="6000" b="1"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45957646-547A-C9F6-D1B0-140F8D2A3175}"/>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Tree>
    <p:extLst>
      <p:ext uri="{BB962C8B-B14F-4D97-AF65-F5344CB8AC3E}">
        <p14:creationId xmlns:p14="http://schemas.microsoft.com/office/powerpoint/2010/main" val="21291213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3963</TotalTime>
  <Words>2623</Words>
  <Application>Microsoft Office PowerPoint</Application>
  <PresentationFormat>Widescreen</PresentationFormat>
  <Paragraphs>272</Paragraphs>
  <Slides>28</Slides>
  <Notes>22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Arial</vt:lpstr>
      <vt:lpstr>Calibri</vt:lpstr>
      <vt:lpstr>Calibri Light</vt:lpstr>
      <vt:lpstr>Lato Bold</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Niharika</dc:creator>
  <cp:lastModifiedBy>Niharika P</cp:lastModifiedBy>
  <cp:revision>97</cp:revision>
  <dcterms:created xsi:type="dcterms:W3CDTF">2025-05-12T14:50:28Z</dcterms:created>
  <dcterms:modified xsi:type="dcterms:W3CDTF">2026-01-07T15:37:58Z</dcterms:modified>
</cp:coreProperties>
</file>